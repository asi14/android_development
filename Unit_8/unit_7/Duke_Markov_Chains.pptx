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77" r:id="rId2"/>
    <p:sldId id="283" r:id="rId3"/>
    <p:sldId id="284" r:id="rId4"/>
    <p:sldId id="285" r:id="rId5"/>
    <p:sldId id="286" r:id="rId6"/>
    <p:sldId id="275" r:id="rId7"/>
    <p:sldId id="256" r:id="rId8"/>
    <p:sldId id="257" r:id="rId9"/>
    <p:sldId id="258" r:id="rId10"/>
    <p:sldId id="259" r:id="rId11"/>
    <p:sldId id="260" r:id="rId12"/>
    <p:sldId id="261" r:id="rId13"/>
    <p:sldId id="262" r:id="rId14"/>
    <p:sldId id="274" r:id="rId15"/>
    <p:sldId id="263" r:id="rId16"/>
    <p:sldId id="266" r:id="rId17"/>
    <p:sldId id="278" r:id="rId18"/>
    <p:sldId id="279" r:id="rId19"/>
    <p:sldId id="281" r:id="rId20"/>
    <p:sldId id="280" r:id="rId21"/>
    <p:sldId id="309" r:id="rId22"/>
    <p:sldId id="287" r:id="rId23"/>
    <p:sldId id="288" r:id="rId24"/>
    <p:sldId id="289" r:id="rId25"/>
    <p:sldId id="292" r:id="rId26"/>
    <p:sldId id="293" r:id="rId27"/>
    <p:sldId id="295" r:id="rId28"/>
    <p:sldId id="296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306" r:id="rId37"/>
    <p:sldId id="294" r:id="rId38"/>
    <p:sldId id="282" r:id="rId39"/>
    <p:sldId id="276" r:id="rId40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 autoAdjust="0"/>
    <p:restoredTop sz="94485" autoAdjust="0"/>
  </p:normalViewPr>
  <p:slideViewPr>
    <p:cSldViewPr>
      <p:cViewPr varScale="1">
        <p:scale>
          <a:sx n="67" d="100"/>
          <a:sy n="67" d="100"/>
        </p:scale>
        <p:origin x="-42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8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5" Type="http://schemas.openxmlformats.org/officeDocument/2006/relationships/image" Target="../media/image19.wmf"/><Relationship Id="rId4" Type="http://schemas.openxmlformats.org/officeDocument/2006/relationships/image" Target="../media/image8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image" Target="../media/image23.wmf"/><Relationship Id="rId7" Type="http://schemas.openxmlformats.org/officeDocument/2006/relationships/image" Target="../media/image27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fld id="{7D5A90E5-2711-4CA2-BB05-732748E1CEDD}" type="datetimeFigureOut">
              <a:rPr lang="zh-CN" altLang="en-US"/>
              <a:pPr/>
              <a:t>2018/1/2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fld id="{BEC745C1-0B20-433F-A5BE-5A1669936978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36868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CABDCC93-427D-4CDC-A792-5BEAB5D4C746}" type="slidenum">
              <a:rPr lang="zh-CN" altLang="en-US"/>
              <a:pPr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F49CCB5B-E86F-4EBC-8756-CD073444B7C0}" type="slidenum">
              <a:rPr lang="zh-CN" altLang="en-US"/>
              <a:pPr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574DC771-B139-4253-9D59-BF1C9A5C07B7}" type="slidenum">
              <a:rPr lang="zh-CN" altLang="en-US"/>
              <a:pPr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7CF0399E-A12B-427A-8F80-3418807A1B18}" type="slidenum">
              <a:rPr lang="zh-CN" altLang="en-US"/>
              <a:pPr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40964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AC860AF4-4856-44CF-A097-04F4B7B475C9}" type="slidenum">
              <a:rPr lang="zh-CN" altLang="en-US"/>
              <a:pPr/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B6068C5B-698F-4630-B641-8236EF2E148E}" type="slidenum">
              <a:rPr lang="zh-CN" altLang="en-US"/>
              <a:pPr/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43012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E0C70D45-F37D-4332-9EF2-FF6C57E9A821}" type="slidenum">
              <a:rPr lang="zh-CN" altLang="en-US"/>
              <a:pPr/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44036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88A03CA1-7048-40A8-A1FF-7ABE288474EF}" type="slidenum">
              <a:rPr lang="zh-CN" altLang="en-US"/>
              <a:pPr/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45060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3ED47A98-40E6-4EDC-A28F-C32D727A8CA0}" type="slidenum">
              <a:rPr lang="zh-CN" altLang="en-US"/>
              <a:pPr/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46084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F3EF2E37-0D82-476E-8ACE-112CF7B94205}" type="slidenum">
              <a:rPr lang="zh-CN" altLang="en-US"/>
              <a:pPr/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47108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6580D5AB-EB0D-4177-97F4-359F2F523115}" type="slidenum">
              <a:rPr lang="zh-CN" altLang="en-US"/>
              <a:pPr/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854655F3-C346-4169-9208-8E99BD43025F}" type="slidenum">
              <a:rPr lang="zh-CN" altLang="en-US"/>
              <a:pPr/>
              <a:t>13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11AD1B5E-7BE1-4896-B460-1A067CC302D4}" type="slidenum">
              <a:rPr lang="zh-CN" altLang="en-US"/>
              <a:pPr/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50180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8A2E908D-A206-48BB-B268-BF93B9C32252}" type="slidenum">
              <a:rPr lang="en-US" altLang="zh-CN"/>
              <a:pPr/>
              <a:t>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54276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DE828048-7B5E-4B10-82AE-5C2D1A2A98E6}" type="slidenum">
              <a:rPr lang="zh-CN" altLang="en-US"/>
              <a:pPr/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55300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A57C9D16-420F-4B89-A6C7-CFADB89A6005}" type="slidenum">
              <a:rPr lang="zh-CN" altLang="en-US"/>
              <a:pPr/>
              <a:t>19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B1F60DDA-26DA-41E8-8D44-05893D858195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zh-CN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57348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6C8E9EBA-53CC-44FE-A071-69DB3227076F}" type="slidenum">
              <a:rPr lang="zh-CN" altLang="en-US"/>
              <a:pPr/>
              <a:t>22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58372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91E03B97-C9EE-483A-99BB-F5F4F3E9D9E4}" type="slidenum">
              <a:rPr lang="zh-CN" altLang="en-US"/>
              <a:pPr/>
              <a:t>23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59396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223359D3-B2DA-46FD-8CAC-882E6364826D}" type="slidenum">
              <a:rPr lang="zh-CN" altLang="en-US"/>
              <a:pPr/>
              <a:t>24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0420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1103DA1A-6BBD-484E-BC03-52E2AA5CB1FE}" type="slidenum">
              <a:rPr lang="zh-CN" altLang="en-US"/>
              <a:pPr/>
              <a:t>25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1444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7A58CADE-8FC8-4A79-923F-75F0381F24DE}" type="slidenum">
              <a:rPr lang="zh-CN" altLang="en-US"/>
              <a:pPr/>
              <a:t>26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6065BF7D-9361-445C-AFC8-816BA6DCAC67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67587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1136650" y="684213"/>
            <a:ext cx="4559300" cy="34194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1225" y="4330700"/>
            <a:ext cx="5010150" cy="4103688"/>
          </a:xfrm>
          <a:noFill/>
        </p:spPr>
        <p:txBody>
          <a:bodyPr/>
          <a:lstStyle/>
          <a:p>
            <a:pPr eaLnBrk="1" hangingPunct="1"/>
            <a:r>
              <a:rPr lang="en-US" altLang="zh-CN" smtClean="0"/>
              <a:t>This is the north atlantic right whale; a mother and calf</a:t>
            </a:r>
          </a:p>
          <a:p>
            <a:pPr eaLnBrk="1" hangingPunct="1"/>
            <a:endParaRPr lang="en-US" altLang="zh-CN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AB988922-44E8-42C0-B953-F46CF48E0CC1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68611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1136650" y="684213"/>
            <a:ext cx="4559300" cy="34194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1225" y="4330700"/>
            <a:ext cx="5010150" cy="4103688"/>
          </a:xfrm>
          <a:noFill/>
        </p:spPr>
        <p:txBody>
          <a:bodyPr/>
          <a:lstStyle/>
          <a:p>
            <a:pPr eaLnBrk="1" hangingPunct="1"/>
            <a:r>
              <a:rPr lang="en-US" altLang="zh-CN" smtClean="0"/>
              <a:t>The right whale is distributed 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4E9962E5-987D-4420-9A0C-E39284A579BD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69635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1136650" y="682625"/>
            <a:ext cx="4559300" cy="3421063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1225" y="4330700"/>
            <a:ext cx="5010150" cy="4103688"/>
          </a:xfrm>
          <a:noFill/>
        </p:spPr>
        <p:txBody>
          <a:bodyPr/>
          <a:lstStyle/>
          <a:p>
            <a:pPr eaLnBrk="1" hangingPunct="1"/>
            <a:r>
              <a:rPr lang="en-US" altLang="zh-CN" smtClean="0"/>
              <a:t>This is not unreasonable;</a:t>
            </a:r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en-US" altLang="zh-CN" smtClean="0"/>
              <a:t>Every year several whales are killed by ship strikes or entanglement in fishing gear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B7154220-2A91-45B6-846D-9C6F4E1391E7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70659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30F0F962-64E2-484C-9BC3-5DE2CCECF24C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71683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A9A6BA1-7126-4D5C-8B1A-BCD58A93FF15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72707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7635EA2-1707-40F6-9837-1B8AD21906BB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73731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2468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A4B2DE9A-6A36-44DC-851C-4508D259DED5}" type="slidenum">
              <a:rPr lang="zh-CN" altLang="en-US"/>
              <a:pPr/>
              <a:t>37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3492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2ACC3D0A-F281-4C49-BF50-49F8F9E77E7E}" type="slidenum">
              <a:rPr lang="zh-CN" altLang="en-US"/>
              <a:pPr/>
              <a:t>38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4516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4E8DCB8A-B9E9-42DF-A8BD-3F0706B54716}" type="slidenum">
              <a:rPr lang="zh-CN" altLang="en-US"/>
              <a:pPr/>
              <a:t>39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4861C13-3711-4BC7-B8C4-B50ECB5FA407}" type="datetimeFigureOut">
              <a:rPr lang="zh-CN" altLang="en-US"/>
              <a:pPr/>
              <a:t>2018/1/2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ACE5BE-40B1-43B4-9890-7DB98E65912D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2CCE1A2-2614-4A1C-BD0E-3531B886BA77}" type="datetimeFigureOut">
              <a:rPr lang="zh-CN" altLang="en-US"/>
              <a:pPr/>
              <a:t>2018/1/2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1441DB-5248-4D99-8F0A-B96862AC3F18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165F2F-0A12-4729-932D-051EC1CB74E7}" type="datetimeFigureOut">
              <a:rPr lang="zh-CN" altLang="en-US"/>
              <a:pPr/>
              <a:t>2018/1/2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582DA3-620C-4CA5-89B4-88D2C3709A74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6CDBF6-9AC2-420F-A8C5-C876F57F9F4F}" type="datetimeFigureOut">
              <a:rPr lang="zh-CN" altLang="en-US"/>
              <a:pPr/>
              <a:t>2018/1/2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826C49-218A-4BA5-A35D-F914C73E81A9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F97DD60-1FA6-4AA7-A9EE-4CBC28C0F626}" type="datetimeFigureOut">
              <a:rPr lang="zh-CN" altLang="en-US"/>
              <a:pPr/>
              <a:t>2018/1/2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6D696D-72A8-4F5A-AFAC-20AAF977938D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49C5B4-40DC-4D03-BAAD-74C22FF8DDF8}" type="datetimeFigureOut">
              <a:rPr lang="zh-CN" altLang="en-US"/>
              <a:pPr/>
              <a:t>2018/1/2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6314CC-4518-46FA-B8F8-342828B36687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71E65D-4C71-4157-AD54-FC8420C234A8}" type="datetimeFigureOut">
              <a:rPr lang="zh-CN" altLang="en-US"/>
              <a:pPr/>
              <a:t>2018/1/2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11BDF8-7C6A-4801-A311-086E45DC07F3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510CF2-9544-4FB1-ADF6-0B20C8F7963E}" type="datetimeFigureOut">
              <a:rPr lang="zh-CN" altLang="en-US"/>
              <a:pPr/>
              <a:t>2018/1/2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3C3D2A-8FB4-485E-B2FA-51FA7C3462E1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AA403F-8F1D-428D-9EA7-5D5E7E5AC2FC}" type="datetimeFigureOut">
              <a:rPr lang="zh-CN" altLang="en-US"/>
              <a:pPr/>
              <a:t>2018/1/2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134E4-23EC-4FF8-952F-0F991FBFEA59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8D4FD6C-6C00-4D08-809B-7AD46FC4CB84}" type="datetimeFigureOut">
              <a:rPr lang="zh-CN" altLang="en-US"/>
              <a:pPr/>
              <a:t>2018/1/2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84B7BD-058A-4C9C-897E-4B2E3AE96F4F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CE56048-EEDC-467E-8AD9-1085CFBDC845}" type="datetimeFigureOut">
              <a:rPr lang="zh-CN" altLang="en-US"/>
              <a:pPr/>
              <a:t>2018/1/2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C52948-AD9D-4982-ABC1-D42EBB94E74E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4582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23900" y="1524000"/>
            <a:ext cx="390525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1550" y="1524000"/>
            <a:ext cx="390525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>
          <a:xfrm>
            <a:off x="2133600" y="6248400"/>
            <a:ext cx="5638800" cy="457200"/>
          </a:xfrm>
        </p:spPr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zh-CN"/>
              <a:t>Using Markov Chain Models to Assess Enrollment Policies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7620000" y="6248400"/>
            <a:ext cx="1066800" cy="457200"/>
          </a:xfrm>
        </p:spPr>
        <p:txBody>
          <a:bodyPr/>
          <a:lstStyle>
            <a:lvl1pPr>
              <a:defRPr/>
            </a:lvl1pPr>
          </a:lstStyle>
          <a:p>
            <a:fld id="{C0639DFA-4E81-4D27-882D-C49C7DBF17E0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1828800" cy="476250"/>
          </a:xfrm>
        </p:spPr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zh-CN"/>
              <a:t>May 18, 2006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650359-F81C-426E-AA9F-BF77743BFF7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9219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E3A6BD49-5A3C-4EDC-BE42-E06ECC1B7687}" type="datetimeFigureOut">
              <a:rPr lang="zh-CN" altLang="en-US"/>
              <a:pPr/>
              <a:t>2018/1/2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BC630F7A-574F-4DD7-8CAE-5D3B1590495D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notesSlide" Target="../notesSlides/notesSlide9.xml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9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7.wmf"/><Relationship Id="rId4" Type="http://schemas.openxmlformats.org/officeDocument/2006/relationships/oleObject" Target="../embeddings/oleObject7.bin"/><Relationship Id="rId9" Type="http://schemas.openxmlformats.org/officeDocument/2006/relationships/oleObject" Target="../embeddings/oleObject1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3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notesSlide" Target="../notesSlides/notesSlide12.xml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6.bin"/><Relationship Id="rId5" Type="http://schemas.openxmlformats.org/officeDocument/2006/relationships/oleObject" Target="../embeddings/oleObject15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4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notesSlide" Target="../notesSlides/notesSlide17.xml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1.bin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0.bin"/><Relationship Id="rId10" Type="http://schemas.openxmlformats.org/officeDocument/2006/relationships/oleObject" Target="../embeddings/oleObject25.bin"/><Relationship Id="rId4" Type="http://schemas.openxmlformats.org/officeDocument/2006/relationships/oleObject" Target="../embeddings/oleObject19.bin"/><Relationship Id="rId9" Type="http://schemas.openxmlformats.org/officeDocument/2006/relationships/oleObject" Target="../embeddings/oleObject24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8.vml"/><Relationship Id="rId4" Type="http://schemas.openxmlformats.org/officeDocument/2006/relationships/oleObject" Target="../embeddings/oleObject27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jpeg"/><Relationship Id="rId5" Type="http://schemas.openxmlformats.org/officeDocument/2006/relationships/image" Target="../media/image41.jpeg"/><Relationship Id="rId4" Type="http://schemas.openxmlformats.org/officeDocument/2006/relationships/image" Target="../media/image40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Tutorial: Markov Chains</a:t>
            </a:r>
            <a:endParaRPr lang="zh-CN" altLang="en-US"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mtClean="0">
                <a:solidFill>
                  <a:srgbClr val="898989"/>
                </a:solidFill>
              </a:rPr>
              <a:t>Steve Gu</a:t>
            </a:r>
          </a:p>
          <a:p>
            <a:pPr eaLnBrk="1" hangingPunct="1"/>
            <a:r>
              <a:rPr lang="en-US" altLang="zh-CN" smtClean="0">
                <a:solidFill>
                  <a:srgbClr val="898989"/>
                </a:solidFill>
              </a:rPr>
              <a:t>Feb 28, 2008</a:t>
            </a:r>
            <a:endParaRPr lang="zh-CN" altLang="en-US" smtClean="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Outline</a:t>
            </a:r>
            <a:endParaRPr lang="zh-CN" altLang="en-US" smtClean="0"/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Markov chain</a:t>
            </a:r>
          </a:p>
          <a:p>
            <a:pPr eaLnBrk="1" hangingPunct="1"/>
            <a:r>
              <a:rPr lang="en-US" altLang="zh-CN" smtClean="0"/>
              <a:t>Applications</a:t>
            </a:r>
          </a:p>
          <a:p>
            <a:pPr lvl="1" eaLnBrk="1" hangingPunct="1"/>
            <a:r>
              <a:rPr lang="en-US" altLang="zh-CN" smtClean="0"/>
              <a:t>Weather forecasting</a:t>
            </a:r>
          </a:p>
          <a:p>
            <a:pPr lvl="1" eaLnBrk="1" hangingPunct="1"/>
            <a:r>
              <a:rPr lang="en-US" altLang="zh-CN" smtClean="0"/>
              <a:t>Enrollment assessment</a:t>
            </a:r>
          </a:p>
          <a:p>
            <a:pPr lvl="1" eaLnBrk="1" hangingPunct="1"/>
            <a:r>
              <a:rPr lang="en-US" altLang="zh-CN" smtClean="0"/>
              <a:t>Sequence generation</a:t>
            </a:r>
          </a:p>
          <a:p>
            <a:pPr lvl="1" eaLnBrk="1" hangingPunct="1"/>
            <a:r>
              <a:rPr lang="en-US" altLang="zh-CN" smtClean="0"/>
              <a:t>Rank the web page</a:t>
            </a:r>
          </a:p>
          <a:p>
            <a:pPr lvl="1" eaLnBrk="1" hangingPunct="1"/>
            <a:r>
              <a:rPr lang="en-US" altLang="zh-CN" smtClean="0"/>
              <a:t>Life cycle analysis</a:t>
            </a:r>
          </a:p>
          <a:p>
            <a:pPr eaLnBrk="1" hangingPunct="1"/>
            <a:r>
              <a:rPr lang="en-US" altLang="zh-CN" smtClean="0"/>
              <a:t>Summary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History</a:t>
            </a:r>
            <a:endParaRPr lang="fr-FR" altLang="zh-CN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fr-FR" altLang="zh-CN" smtClean="0"/>
              <a:t>The origin of Markov chains is due to Markov, a Russian mathematician who first published in the Imperial Academy of Sciences in St. Petersburg in 1907, a paper studying the statistical behavior of the letters in Onegin, a well known poem of Pushkin. </a:t>
            </a:r>
          </a:p>
        </p:txBody>
      </p:sp>
      <p:pic>
        <p:nvPicPr>
          <p:cNvPr id="1434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15063" y="4286250"/>
            <a:ext cx="2071687" cy="2395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A Markov Chain</a:t>
            </a:r>
            <a:endParaRPr lang="fr-FR" altLang="zh-CN" smtClean="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3319463" y="28622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219200" y="1911350"/>
          <a:ext cx="7086600" cy="3803650"/>
        </p:xfrm>
        <a:graphic>
          <a:graphicData uri="http://schemas.openxmlformats.org/presentationml/2006/ole">
            <p:oleObj spid="_x0000_s1026" r:id="rId4" imgW="2508504" imgH="1136904" progId="Word.Picture.8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609600"/>
            <a:ext cx="777240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4000" smtClean="0"/>
              <a:t>Transition Probability Table</a:t>
            </a:r>
            <a:endParaRPr lang="fr-FR" altLang="zh-CN" sz="4000" smtClean="0"/>
          </a:p>
        </p:txBody>
      </p:sp>
      <p:sp>
        <p:nvSpPr>
          <p:cNvPr id="2054" name="Rectangle 4"/>
          <p:cNvSpPr>
            <a:spLocks noChangeArrowheads="1"/>
          </p:cNvSpPr>
          <p:nvPr/>
        </p:nvSpPr>
        <p:spPr bwMode="auto">
          <a:xfrm>
            <a:off x="3981450" y="31289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2209800" y="1524000"/>
          <a:ext cx="4324350" cy="2197100"/>
        </p:xfrm>
        <a:graphic>
          <a:graphicData uri="http://schemas.openxmlformats.org/presentationml/2006/ole">
            <p:oleObj spid="_x0000_s2050" r:id="rId4" imgW="1181100" imgH="596900" progId="Equation.3">
              <p:embed/>
            </p:oleObj>
          </a:graphicData>
        </a:graphic>
      </p:graphicFrame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3719513" y="31432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2895600" y="4876800"/>
          <a:ext cx="4343400" cy="1455738"/>
        </p:xfrm>
        <a:graphic>
          <a:graphicData uri="http://schemas.openxmlformats.org/presentationml/2006/ole">
            <p:oleObj spid="_x0000_s2051" r:id="rId5" imgW="1701800" imgH="571500" progId="Equation.3">
              <p:embed/>
            </p:oleObj>
          </a:graphicData>
        </a:graphic>
      </p:graphicFrame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3395663" y="32051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graphicFrame>
        <p:nvGraphicFramePr>
          <p:cNvPr id="2052" name="Object 4"/>
          <p:cNvGraphicFramePr>
            <a:graphicFrameLocks noChangeAspect="1"/>
          </p:cNvGraphicFramePr>
          <p:nvPr/>
        </p:nvGraphicFramePr>
        <p:xfrm>
          <a:off x="1371600" y="3581400"/>
          <a:ext cx="6781800" cy="1289050"/>
        </p:xfrm>
        <a:graphic>
          <a:graphicData uri="http://schemas.openxmlformats.org/presentationml/2006/ole">
            <p:oleObj spid="_x0000_s2052" r:id="rId6" imgW="2349500" imgH="4445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Example 1: </a:t>
            </a:r>
            <a:br>
              <a:rPr lang="en-US" altLang="zh-CN" smtClean="0"/>
            </a:br>
            <a:r>
              <a:rPr lang="en-US" altLang="zh-CN" smtClean="0"/>
              <a:t>Weather Forecasting</a:t>
            </a:r>
            <a:r>
              <a:rPr lang="en-US" altLang="zh-TW" baseline="30000" smtClean="0"/>
              <a:t>[1]</a:t>
            </a:r>
            <a:endParaRPr lang="zh-CN" altLang="en-US" smtClean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smtClean="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Weather Forecasting</a:t>
            </a:r>
            <a:endParaRPr lang="en-US" altLang="zh-TW" baseline="30000" smtClean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382000" cy="2362200"/>
          </a:xfrm>
        </p:spPr>
        <p:txBody>
          <a:bodyPr/>
          <a:lstStyle/>
          <a:p>
            <a:pPr eaLnBrk="1" hangingPunct="1"/>
            <a:r>
              <a:rPr lang="en-US" altLang="zh-TW" sz="2000" smtClean="0"/>
              <a:t>Weather forecasting  example:</a:t>
            </a:r>
          </a:p>
          <a:p>
            <a:pPr lvl="1" eaLnBrk="1" hangingPunct="1"/>
            <a:r>
              <a:rPr lang="en-US" altLang="zh-TW" sz="1800" smtClean="0"/>
              <a:t>Suppose tomorrow’s weather depends on today’s weather only.</a:t>
            </a:r>
          </a:p>
          <a:p>
            <a:pPr lvl="1" eaLnBrk="1" hangingPunct="1"/>
            <a:r>
              <a:rPr lang="en-US" altLang="zh-TW" sz="1800" smtClean="0"/>
              <a:t>We call it an Order-1 Markov Chain, as the transition function depends on the current state only.</a:t>
            </a:r>
          </a:p>
          <a:p>
            <a:pPr lvl="1" eaLnBrk="1" hangingPunct="1"/>
            <a:r>
              <a:rPr lang="en-US" altLang="zh-TW" sz="1800" smtClean="0"/>
              <a:t>Given today is sunny, what is the probability that the coming days are sunny, rainy, cloudy, cloudy, sunny ?</a:t>
            </a:r>
          </a:p>
          <a:p>
            <a:pPr lvl="1" eaLnBrk="1" hangingPunct="1"/>
            <a:r>
              <a:rPr lang="en-US" altLang="zh-TW" sz="1800" smtClean="0"/>
              <a:t>Obviously, the answer is : (0.5)(0.4)(0.3)(0.5) (0.2) = 0.0054</a:t>
            </a:r>
          </a:p>
        </p:txBody>
      </p:sp>
      <p:sp>
        <p:nvSpPr>
          <p:cNvPr id="16388" name="Oval 4"/>
          <p:cNvSpPr>
            <a:spLocks noChangeArrowheads="1"/>
          </p:cNvSpPr>
          <p:nvPr/>
        </p:nvSpPr>
        <p:spPr bwMode="auto">
          <a:xfrm>
            <a:off x="1981200" y="4875213"/>
            <a:ext cx="7620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sunny</a:t>
            </a:r>
            <a:endParaRPr lang="en-US" altLang="zh-TW" baseline="-25000">
              <a:latin typeface="Calibri" pitchFamily="34" charset="0"/>
              <a:ea typeface="新細明體" pitchFamily="18" charset="-120"/>
            </a:endParaRPr>
          </a:p>
        </p:txBody>
      </p:sp>
      <p:sp>
        <p:nvSpPr>
          <p:cNvPr id="16389" name="Oval 5"/>
          <p:cNvSpPr>
            <a:spLocks noChangeArrowheads="1"/>
          </p:cNvSpPr>
          <p:nvPr/>
        </p:nvSpPr>
        <p:spPr bwMode="auto">
          <a:xfrm>
            <a:off x="4267200" y="4875213"/>
            <a:ext cx="7620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rainy</a:t>
            </a:r>
            <a:endParaRPr lang="en-US" altLang="zh-TW" baseline="-25000">
              <a:latin typeface="Calibri" pitchFamily="34" charset="0"/>
              <a:ea typeface="新細明體" pitchFamily="18" charset="-120"/>
            </a:endParaRPr>
          </a:p>
        </p:txBody>
      </p:sp>
      <p:cxnSp>
        <p:nvCxnSpPr>
          <p:cNvPr id="16390" name="AutoShape 7"/>
          <p:cNvCxnSpPr>
            <a:cxnSpLocks noChangeShapeType="1"/>
            <a:stCxn id="16388" idx="0"/>
            <a:endCxn id="16388" idx="2"/>
          </p:cNvCxnSpPr>
          <p:nvPr/>
        </p:nvCxnSpPr>
        <p:spPr bwMode="auto">
          <a:xfrm rot="-5400000" flipH="1" flipV="1">
            <a:off x="1981200" y="4875213"/>
            <a:ext cx="381000" cy="381000"/>
          </a:xfrm>
          <a:prstGeom prst="curvedConnector4">
            <a:avLst>
              <a:gd name="adj1" fmla="val -60000"/>
              <a:gd name="adj2" fmla="val 160000"/>
            </a:avLst>
          </a:prstGeom>
          <a:noFill/>
          <a:ln w="31750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16391" name="AutoShape 8"/>
          <p:cNvCxnSpPr>
            <a:cxnSpLocks noChangeShapeType="1"/>
            <a:endCxn id="16388" idx="4"/>
          </p:cNvCxnSpPr>
          <p:nvPr/>
        </p:nvCxnSpPr>
        <p:spPr bwMode="auto">
          <a:xfrm rot="5400000">
            <a:off x="4609306" y="3390107"/>
            <a:ext cx="1587" cy="4495800"/>
          </a:xfrm>
          <a:prstGeom prst="curvedConnector3">
            <a:avLst>
              <a:gd name="adj1" fmla="val 50600014"/>
            </a:avLst>
          </a:prstGeom>
          <a:noFill/>
          <a:ln w="31750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16392" name="AutoShape 11"/>
          <p:cNvCxnSpPr>
            <a:cxnSpLocks noChangeShapeType="1"/>
            <a:stCxn id="16388" idx="7"/>
            <a:endCxn id="16389" idx="1"/>
          </p:cNvCxnSpPr>
          <p:nvPr/>
        </p:nvCxnSpPr>
        <p:spPr bwMode="auto">
          <a:xfrm rot="5400000" flipV="1">
            <a:off x="3504406" y="4114007"/>
            <a:ext cx="1587" cy="1746250"/>
          </a:xfrm>
          <a:prstGeom prst="curvedConnector3">
            <a:avLst>
              <a:gd name="adj1" fmla="val -21400009"/>
            </a:avLst>
          </a:prstGeom>
          <a:noFill/>
          <a:ln w="31750">
            <a:solidFill>
              <a:srgbClr val="FFFF00"/>
            </a:solidFill>
            <a:round/>
            <a:headEnd/>
            <a:tailEnd type="triangle" w="med" len="med"/>
          </a:ln>
        </p:spPr>
      </p:cxnSp>
      <p:cxnSp>
        <p:nvCxnSpPr>
          <p:cNvPr id="16393" name="AutoShape 12"/>
          <p:cNvCxnSpPr>
            <a:cxnSpLocks noChangeShapeType="1"/>
            <a:stCxn id="16389" idx="6"/>
          </p:cNvCxnSpPr>
          <p:nvPr/>
        </p:nvCxnSpPr>
        <p:spPr bwMode="auto">
          <a:xfrm>
            <a:off x="5029200" y="5256213"/>
            <a:ext cx="1447800" cy="0"/>
          </a:xfrm>
          <a:prstGeom prst="straightConnector1">
            <a:avLst/>
          </a:prstGeom>
          <a:noFill/>
          <a:ln w="31750">
            <a:solidFill>
              <a:srgbClr val="C0C0C0"/>
            </a:solidFill>
            <a:round/>
            <a:headEnd/>
            <a:tailEnd type="triangle" w="med" len="med"/>
          </a:ln>
        </p:spPr>
      </p:cxnSp>
      <p:sp>
        <p:nvSpPr>
          <p:cNvPr id="16394" name="Text Box 15"/>
          <p:cNvSpPr txBox="1">
            <a:spLocks noChangeArrowheads="1"/>
          </p:cNvSpPr>
          <p:nvPr/>
        </p:nvSpPr>
        <p:spPr bwMode="auto">
          <a:xfrm>
            <a:off x="1504950" y="42814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0.5</a:t>
            </a:r>
          </a:p>
        </p:txBody>
      </p:sp>
      <p:sp>
        <p:nvSpPr>
          <p:cNvPr id="16395" name="Text Box 17"/>
          <p:cNvSpPr txBox="1">
            <a:spLocks noChangeArrowheads="1"/>
          </p:cNvSpPr>
          <p:nvPr/>
        </p:nvSpPr>
        <p:spPr bwMode="auto">
          <a:xfrm>
            <a:off x="3365500" y="4738688"/>
            <a:ext cx="5651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0.4</a:t>
            </a:r>
          </a:p>
        </p:txBody>
      </p:sp>
      <p:sp>
        <p:nvSpPr>
          <p:cNvPr id="16396" name="Text Box 18"/>
          <p:cNvSpPr txBox="1">
            <a:spLocks noChangeArrowheads="1"/>
          </p:cNvSpPr>
          <p:nvPr/>
        </p:nvSpPr>
        <p:spPr bwMode="auto">
          <a:xfrm>
            <a:off x="5619750" y="48148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0.3</a:t>
            </a:r>
          </a:p>
        </p:txBody>
      </p:sp>
      <p:sp>
        <p:nvSpPr>
          <p:cNvPr id="16397" name="Text Box 22"/>
          <p:cNvSpPr txBox="1">
            <a:spLocks noChangeArrowheads="1"/>
          </p:cNvSpPr>
          <p:nvPr/>
        </p:nvSpPr>
        <p:spPr bwMode="auto">
          <a:xfrm>
            <a:off x="4476750" y="60340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0.2</a:t>
            </a:r>
          </a:p>
        </p:txBody>
      </p:sp>
      <p:sp>
        <p:nvSpPr>
          <p:cNvPr id="16398" name="Oval 23"/>
          <p:cNvSpPr>
            <a:spLocks noChangeArrowheads="1"/>
          </p:cNvSpPr>
          <p:nvPr/>
        </p:nvSpPr>
        <p:spPr bwMode="auto">
          <a:xfrm>
            <a:off x="6477000" y="4876800"/>
            <a:ext cx="7620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cloudy</a:t>
            </a:r>
            <a:endParaRPr lang="en-US" altLang="zh-TW" baseline="-25000">
              <a:latin typeface="Calibri" pitchFamily="34" charset="0"/>
              <a:ea typeface="新細明體" pitchFamily="18" charset="-120"/>
            </a:endParaRPr>
          </a:p>
        </p:txBody>
      </p:sp>
      <p:cxnSp>
        <p:nvCxnSpPr>
          <p:cNvPr id="16399" name="AutoShape 9"/>
          <p:cNvCxnSpPr>
            <a:cxnSpLocks noChangeShapeType="1"/>
          </p:cNvCxnSpPr>
          <p:nvPr/>
        </p:nvCxnSpPr>
        <p:spPr bwMode="auto">
          <a:xfrm rot="5400000" flipH="1" flipV="1">
            <a:off x="6858000" y="5256213"/>
            <a:ext cx="381000" cy="381000"/>
          </a:xfrm>
          <a:prstGeom prst="curvedConnector4">
            <a:avLst>
              <a:gd name="adj1" fmla="val -60000"/>
              <a:gd name="adj2" fmla="val 160000"/>
            </a:avLst>
          </a:prstGeom>
          <a:noFill/>
          <a:ln w="31750">
            <a:solidFill>
              <a:srgbClr val="C0C0C0"/>
            </a:solidFill>
            <a:round/>
            <a:headEnd/>
            <a:tailEnd type="triangle" w="med" len="med"/>
          </a:ln>
        </p:spPr>
      </p:cxn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2362200" y="3581400"/>
            <a:ext cx="4495800" cy="2209800"/>
            <a:chOff x="1488" y="2256"/>
            <a:chExt cx="2832" cy="1392"/>
          </a:xfrm>
        </p:grpSpPr>
        <p:cxnSp>
          <p:nvCxnSpPr>
            <p:cNvPr id="16403" name="AutoShape 6"/>
            <p:cNvCxnSpPr>
              <a:cxnSpLocks noChangeShapeType="1"/>
              <a:stCxn id="16388" idx="0"/>
            </p:cNvCxnSpPr>
            <p:nvPr/>
          </p:nvCxnSpPr>
          <p:spPr bwMode="auto">
            <a:xfrm rot="5400000" flipV="1">
              <a:off x="2903" y="1656"/>
              <a:ext cx="1" cy="2832"/>
            </a:xfrm>
            <a:prstGeom prst="curvedConnector3">
              <a:avLst>
                <a:gd name="adj1" fmla="val -56300014"/>
              </a:avLst>
            </a:prstGeom>
            <a:noFill/>
            <a:ln w="31750">
              <a:solidFill>
                <a:srgbClr val="C0C0C0"/>
              </a:solidFill>
              <a:round/>
              <a:headEnd/>
              <a:tailEnd type="triangle" w="med" len="med"/>
            </a:ln>
          </p:spPr>
        </p:cxnSp>
        <p:sp>
          <p:nvSpPr>
            <p:cNvPr id="16404" name="Text Box 21"/>
            <p:cNvSpPr txBox="1">
              <a:spLocks noChangeArrowheads="1"/>
            </p:cNvSpPr>
            <p:nvPr/>
          </p:nvSpPr>
          <p:spPr bwMode="auto">
            <a:xfrm>
              <a:off x="2772" y="2256"/>
              <a:ext cx="396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latin typeface="Calibri" pitchFamily="34" charset="0"/>
                  <a:ea typeface="新細明體" pitchFamily="18" charset="-120"/>
                </a:rPr>
                <a:t>  0.1</a:t>
              </a:r>
            </a:p>
          </p:txBody>
        </p:sp>
        <p:cxnSp>
          <p:nvCxnSpPr>
            <p:cNvPr id="16405" name="AutoShape 10"/>
            <p:cNvCxnSpPr>
              <a:cxnSpLocks noChangeShapeType="1"/>
            </p:cNvCxnSpPr>
            <p:nvPr/>
          </p:nvCxnSpPr>
          <p:spPr bwMode="auto">
            <a:xfrm flipH="1" flipV="1">
              <a:off x="2928" y="3071"/>
              <a:ext cx="240" cy="240"/>
            </a:xfrm>
            <a:prstGeom prst="curvedConnector4">
              <a:avLst>
                <a:gd name="adj1" fmla="val -60000"/>
                <a:gd name="adj2" fmla="val 160000"/>
              </a:avLst>
            </a:prstGeom>
            <a:noFill/>
            <a:ln w="31750">
              <a:solidFill>
                <a:srgbClr val="FFFF00"/>
              </a:solidFill>
              <a:round/>
              <a:headEnd/>
              <a:tailEnd type="triangle" w="med" len="med"/>
            </a:ln>
          </p:spPr>
        </p:cxnSp>
        <p:cxnSp>
          <p:nvCxnSpPr>
            <p:cNvPr id="16406" name="AutoShape 13"/>
            <p:cNvCxnSpPr>
              <a:cxnSpLocks noChangeShapeType="1"/>
            </p:cNvCxnSpPr>
            <p:nvPr/>
          </p:nvCxnSpPr>
          <p:spPr bwMode="auto">
            <a:xfrm flipH="1">
              <a:off x="1728" y="3311"/>
              <a:ext cx="960" cy="0"/>
            </a:xfrm>
            <a:prstGeom prst="straightConnector1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med"/>
            </a:ln>
          </p:spPr>
        </p:cxnSp>
        <p:cxnSp>
          <p:nvCxnSpPr>
            <p:cNvPr id="16407" name="AutoShape 14"/>
            <p:cNvCxnSpPr>
              <a:cxnSpLocks noChangeShapeType="1"/>
            </p:cNvCxnSpPr>
            <p:nvPr/>
          </p:nvCxnSpPr>
          <p:spPr bwMode="auto">
            <a:xfrm rot="5400000">
              <a:off x="3623" y="2956"/>
              <a:ext cx="1" cy="1052"/>
            </a:xfrm>
            <a:prstGeom prst="curvedConnector3">
              <a:avLst>
                <a:gd name="adj1" fmla="val 21400009"/>
              </a:avLst>
            </a:prstGeom>
            <a:noFill/>
            <a:ln w="31750">
              <a:solidFill>
                <a:srgbClr val="FFFF00"/>
              </a:solidFill>
              <a:round/>
              <a:headEnd/>
              <a:tailEnd type="triangle" w="med" len="med"/>
            </a:ln>
          </p:spPr>
        </p:cxnSp>
        <p:sp>
          <p:nvSpPr>
            <p:cNvPr id="16408" name="Text Box 16"/>
            <p:cNvSpPr txBox="1">
              <a:spLocks noChangeArrowheads="1"/>
            </p:cNvSpPr>
            <p:nvPr/>
          </p:nvSpPr>
          <p:spPr bwMode="auto">
            <a:xfrm>
              <a:off x="2100" y="3321"/>
              <a:ext cx="396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latin typeface="Calibri" pitchFamily="34" charset="0"/>
                  <a:ea typeface="新細明體" pitchFamily="18" charset="-120"/>
                </a:rPr>
                <a:t>  0.3</a:t>
              </a:r>
            </a:p>
          </p:txBody>
        </p:sp>
        <p:sp>
          <p:nvSpPr>
            <p:cNvPr id="16409" name="Text Box 19"/>
            <p:cNvSpPr txBox="1">
              <a:spLocks noChangeArrowheads="1"/>
            </p:cNvSpPr>
            <p:nvPr/>
          </p:nvSpPr>
          <p:spPr bwMode="auto">
            <a:xfrm>
              <a:off x="3540" y="3417"/>
              <a:ext cx="396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latin typeface="Calibri" pitchFamily="34" charset="0"/>
                  <a:ea typeface="新細明體" pitchFamily="18" charset="-120"/>
                </a:rPr>
                <a:t>  0.3</a:t>
              </a:r>
            </a:p>
          </p:txBody>
        </p:sp>
        <p:sp>
          <p:nvSpPr>
            <p:cNvPr id="16410" name="Text Box 20"/>
            <p:cNvSpPr txBox="1">
              <a:spLocks noChangeArrowheads="1"/>
            </p:cNvSpPr>
            <p:nvPr/>
          </p:nvSpPr>
          <p:spPr bwMode="auto">
            <a:xfrm>
              <a:off x="2793" y="2697"/>
              <a:ext cx="396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latin typeface="Calibri" pitchFamily="34" charset="0"/>
                  <a:ea typeface="新細明體" pitchFamily="18" charset="-120"/>
                </a:rPr>
                <a:t>  0.4</a:t>
              </a:r>
            </a:p>
          </p:txBody>
        </p:sp>
      </p:grpSp>
      <p:sp>
        <p:nvSpPr>
          <p:cNvPr id="16401" name="Text Box 24"/>
          <p:cNvSpPr txBox="1">
            <a:spLocks noChangeArrowheads="1"/>
          </p:cNvSpPr>
          <p:nvPr/>
        </p:nvSpPr>
        <p:spPr bwMode="auto">
          <a:xfrm>
            <a:off x="7177088" y="58054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0.5</a:t>
            </a:r>
          </a:p>
        </p:txBody>
      </p:sp>
      <p:pic>
        <p:nvPicPr>
          <p:cNvPr id="16402" name="Picture 27" descr="SO01038_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43800" y="381000"/>
            <a:ext cx="1166813" cy="117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Weather Forecasting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382000" cy="1905000"/>
          </a:xfrm>
        </p:spPr>
        <p:txBody>
          <a:bodyPr/>
          <a:lstStyle/>
          <a:p>
            <a:pPr eaLnBrk="1" hangingPunct="1"/>
            <a:r>
              <a:rPr lang="en-US" altLang="zh-TW" sz="2000" smtClean="0"/>
              <a:t>Weather forecasting  example:</a:t>
            </a:r>
          </a:p>
          <a:p>
            <a:pPr lvl="1" eaLnBrk="1" hangingPunct="1"/>
            <a:r>
              <a:rPr lang="en-US" altLang="zh-TW" sz="1800" smtClean="0"/>
              <a:t>Given today is sunny, what is the probability that it will be rainy 4 days later?</a:t>
            </a:r>
          </a:p>
          <a:p>
            <a:pPr lvl="1" eaLnBrk="1" hangingPunct="1"/>
            <a:r>
              <a:rPr lang="en-US" altLang="zh-TW" sz="1800" smtClean="0"/>
              <a:t>We only knows the start state, the final state and the input length = 4</a:t>
            </a:r>
          </a:p>
          <a:p>
            <a:pPr lvl="1" eaLnBrk="1" hangingPunct="1"/>
            <a:r>
              <a:rPr lang="en-US" altLang="zh-TW" sz="1800" smtClean="0"/>
              <a:t>There are a number of possible combinations of states in between.</a:t>
            </a:r>
          </a:p>
        </p:txBody>
      </p:sp>
      <p:sp>
        <p:nvSpPr>
          <p:cNvPr id="17412" name="Oval 4"/>
          <p:cNvSpPr>
            <a:spLocks noChangeArrowheads="1"/>
          </p:cNvSpPr>
          <p:nvPr/>
        </p:nvSpPr>
        <p:spPr bwMode="auto">
          <a:xfrm>
            <a:off x="1981200" y="4875213"/>
            <a:ext cx="7620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sunny</a:t>
            </a:r>
            <a:endParaRPr lang="en-US" altLang="zh-TW" baseline="-25000">
              <a:latin typeface="Calibri" pitchFamily="34" charset="0"/>
              <a:ea typeface="新細明體" pitchFamily="18" charset="-120"/>
            </a:endParaRPr>
          </a:p>
        </p:txBody>
      </p:sp>
      <p:sp>
        <p:nvSpPr>
          <p:cNvPr id="17413" name="Oval 5"/>
          <p:cNvSpPr>
            <a:spLocks noChangeArrowheads="1"/>
          </p:cNvSpPr>
          <p:nvPr/>
        </p:nvSpPr>
        <p:spPr bwMode="auto">
          <a:xfrm>
            <a:off x="4267200" y="4875213"/>
            <a:ext cx="7620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rainy</a:t>
            </a:r>
            <a:endParaRPr lang="en-US" altLang="zh-TW" baseline="-25000">
              <a:latin typeface="Calibri" pitchFamily="34" charset="0"/>
              <a:ea typeface="新細明體" pitchFamily="18" charset="-120"/>
            </a:endParaRPr>
          </a:p>
        </p:txBody>
      </p:sp>
      <p:cxnSp>
        <p:nvCxnSpPr>
          <p:cNvPr id="17414" name="AutoShape 6"/>
          <p:cNvCxnSpPr>
            <a:cxnSpLocks noChangeShapeType="1"/>
            <a:stCxn id="17412" idx="0"/>
          </p:cNvCxnSpPr>
          <p:nvPr/>
        </p:nvCxnSpPr>
        <p:spPr bwMode="auto">
          <a:xfrm rot="5400000" flipV="1">
            <a:off x="4609306" y="2628107"/>
            <a:ext cx="1587" cy="4495800"/>
          </a:xfrm>
          <a:prstGeom prst="curvedConnector3">
            <a:avLst>
              <a:gd name="adj1" fmla="val -56300014"/>
            </a:avLst>
          </a:prstGeom>
          <a:noFill/>
          <a:ln w="31750">
            <a:solidFill>
              <a:srgbClr val="C0C0C0"/>
            </a:solidFill>
            <a:round/>
            <a:headEnd/>
            <a:tailEnd type="triangle" w="med" len="med"/>
          </a:ln>
        </p:spPr>
      </p:cxnSp>
      <p:cxnSp>
        <p:nvCxnSpPr>
          <p:cNvPr id="17415" name="AutoShape 7"/>
          <p:cNvCxnSpPr>
            <a:cxnSpLocks noChangeShapeType="1"/>
            <a:stCxn id="17412" idx="0"/>
            <a:endCxn id="17412" idx="2"/>
          </p:cNvCxnSpPr>
          <p:nvPr/>
        </p:nvCxnSpPr>
        <p:spPr bwMode="auto">
          <a:xfrm rot="-5400000" flipH="1" flipV="1">
            <a:off x="1981200" y="4875213"/>
            <a:ext cx="381000" cy="381000"/>
          </a:xfrm>
          <a:prstGeom prst="curvedConnector4">
            <a:avLst>
              <a:gd name="adj1" fmla="val -60000"/>
              <a:gd name="adj2" fmla="val 160000"/>
            </a:avLst>
          </a:prstGeom>
          <a:noFill/>
          <a:ln w="31750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17416" name="AutoShape 8"/>
          <p:cNvCxnSpPr>
            <a:cxnSpLocks noChangeShapeType="1"/>
            <a:endCxn id="17412" idx="4"/>
          </p:cNvCxnSpPr>
          <p:nvPr/>
        </p:nvCxnSpPr>
        <p:spPr bwMode="auto">
          <a:xfrm rot="5400000">
            <a:off x="4609306" y="3390107"/>
            <a:ext cx="1587" cy="4495800"/>
          </a:xfrm>
          <a:prstGeom prst="curvedConnector3">
            <a:avLst>
              <a:gd name="adj1" fmla="val 50600014"/>
            </a:avLst>
          </a:prstGeom>
          <a:noFill/>
          <a:ln w="31750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17417" name="AutoShape 9"/>
          <p:cNvCxnSpPr>
            <a:cxnSpLocks noChangeShapeType="1"/>
          </p:cNvCxnSpPr>
          <p:nvPr/>
        </p:nvCxnSpPr>
        <p:spPr bwMode="auto">
          <a:xfrm rot="5400000" flipH="1" flipV="1">
            <a:off x="6858000" y="5256213"/>
            <a:ext cx="381000" cy="381000"/>
          </a:xfrm>
          <a:prstGeom prst="curvedConnector4">
            <a:avLst>
              <a:gd name="adj1" fmla="val -60000"/>
              <a:gd name="adj2" fmla="val 160000"/>
            </a:avLst>
          </a:prstGeom>
          <a:noFill/>
          <a:ln w="31750">
            <a:solidFill>
              <a:srgbClr val="C0C0C0"/>
            </a:solidFill>
            <a:round/>
            <a:headEnd/>
            <a:tailEnd type="triangle" w="med" len="med"/>
          </a:ln>
        </p:spPr>
      </p:cxnSp>
      <p:cxnSp>
        <p:nvCxnSpPr>
          <p:cNvPr id="17418" name="AutoShape 10"/>
          <p:cNvCxnSpPr>
            <a:cxnSpLocks noChangeShapeType="1"/>
            <a:stCxn id="17413" idx="6"/>
            <a:endCxn id="17413" idx="0"/>
          </p:cNvCxnSpPr>
          <p:nvPr/>
        </p:nvCxnSpPr>
        <p:spPr bwMode="auto">
          <a:xfrm flipH="1" flipV="1">
            <a:off x="4648200" y="4875213"/>
            <a:ext cx="381000" cy="381000"/>
          </a:xfrm>
          <a:prstGeom prst="curvedConnector4">
            <a:avLst>
              <a:gd name="adj1" fmla="val -60000"/>
              <a:gd name="adj2" fmla="val 160000"/>
            </a:avLst>
          </a:prstGeom>
          <a:noFill/>
          <a:ln w="31750">
            <a:solidFill>
              <a:srgbClr val="FFFF00"/>
            </a:solidFill>
            <a:round/>
            <a:headEnd/>
            <a:tailEnd type="triangle" w="med" len="med"/>
          </a:ln>
        </p:spPr>
      </p:cxnSp>
      <p:cxnSp>
        <p:nvCxnSpPr>
          <p:cNvPr id="17419" name="AutoShape 11"/>
          <p:cNvCxnSpPr>
            <a:cxnSpLocks noChangeShapeType="1"/>
            <a:stCxn id="17412" idx="7"/>
            <a:endCxn id="17413" idx="1"/>
          </p:cNvCxnSpPr>
          <p:nvPr/>
        </p:nvCxnSpPr>
        <p:spPr bwMode="auto">
          <a:xfrm rot="5400000" flipV="1">
            <a:off x="3504406" y="4114007"/>
            <a:ext cx="1587" cy="1746250"/>
          </a:xfrm>
          <a:prstGeom prst="curvedConnector3">
            <a:avLst>
              <a:gd name="adj1" fmla="val -21400009"/>
            </a:avLst>
          </a:prstGeom>
          <a:noFill/>
          <a:ln w="31750">
            <a:solidFill>
              <a:srgbClr val="FFFF00"/>
            </a:solidFill>
            <a:round/>
            <a:headEnd/>
            <a:tailEnd type="triangle" w="med" len="med"/>
          </a:ln>
        </p:spPr>
      </p:cxnSp>
      <p:cxnSp>
        <p:nvCxnSpPr>
          <p:cNvPr id="17420" name="AutoShape 12"/>
          <p:cNvCxnSpPr>
            <a:cxnSpLocks noChangeShapeType="1"/>
            <a:stCxn id="17413" idx="6"/>
          </p:cNvCxnSpPr>
          <p:nvPr/>
        </p:nvCxnSpPr>
        <p:spPr bwMode="auto">
          <a:xfrm>
            <a:off x="5029200" y="5256213"/>
            <a:ext cx="1447800" cy="0"/>
          </a:xfrm>
          <a:prstGeom prst="straightConnector1">
            <a:avLst/>
          </a:prstGeom>
          <a:noFill/>
          <a:ln w="31750">
            <a:solidFill>
              <a:srgbClr val="C0C0C0"/>
            </a:solidFill>
            <a:round/>
            <a:headEnd/>
            <a:tailEnd type="triangle" w="med" len="med"/>
          </a:ln>
        </p:spPr>
      </p:cxnSp>
      <p:cxnSp>
        <p:nvCxnSpPr>
          <p:cNvPr id="17421" name="AutoShape 13"/>
          <p:cNvCxnSpPr>
            <a:cxnSpLocks noChangeShapeType="1"/>
            <a:stCxn id="17413" idx="2"/>
            <a:endCxn id="17412" idx="6"/>
          </p:cNvCxnSpPr>
          <p:nvPr/>
        </p:nvCxnSpPr>
        <p:spPr bwMode="auto">
          <a:xfrm flipH="1">
            <a:off x="2743200" y="5256213"/>
            <a:ext cx="1524000" cy="0"/>
          </a:xfrm>
          <a:prstGeom prst="straightConnector1">
            <a:avLst/>
          </a:prstGeom>
          <a:noFill/>
          <a:ln w="31750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17422" name="AutoShape 14"/>
          <p:cNvCxnSpPr>
            <a:cxnSpLocks noChangeShapeType="1"/>
            <a:endCxn id="17413" idx="5"/>
          </p:cNvCxnSpPr>
          <p:nvPr/>
        </p:nvCxnSpPr>
        <p:spPr bwMode="auto">
          <a:xfrm rot="5400000">
            <a:off x="5752306" y="4691857"/>
            <a:ext cx="1587" cy="1670050"/>
          </a:xfrm>
          <a:prstGeom prst="curvedConnector3">
            <a:avLst>
              <a:gd name="adj1" fmla="val 21400009"/>
            </a:avLst>
          </a:prstGeom>
          <a:noFill/>
          <a:ln w="31750">
            <a:solidFill>
              <a:srgbClr val="FFFF00"/>
            </a:solidFill>
            <a:round/>
            <a:headEnd/>
            <a:tailEnd type="triangle" w="med" len="med"/>
          </a:ln>
        </p:spPr>
      </p:cxnSp>
      <p:sp>
        <p:nvSpPr>
          <p:cNvPr id="17423" name="Text Box 15"/>
          <p:cNvSpPr txBox="1">
            <a:spLocks noChangeArrowheads="1"/>
          </p:cNvSpPr>
          <p:nvPr/>
        </p:nvSpPr>
        <p:spPr bwMode="auto">
          <a:xfrm>
            <a:off x="1504950" y="42814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0.5</a:t>
            </a:r>
          </a:p>
        </p:txBody>
      </p:sp>
      <p:sp>
        <p:nvSpPr>
          <p:cNvPr id="17424" name="Text Box 16"/>
          <p:cNvSpPr txBox="1">
            <a:spLocks noChangeArrowheads="1"/>
          </p:cNvSpPr>
          <p:nvPr/>
        </p:nvSpPr>
        <p:spPr bwMode="auto">
          <a:xfrm>
            <a:off x="3333750" y="52720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0.3</a:t>
            </a:r>
          </a:p>
        </p:txBody>
      </p:sp>
      <p:sp>
        <p:nvSpPr>
          <p:cNvPr id="17425" name="Text Box 17"/>
          <p:cNvSpPr txBox="1">
            <a:spLocks noChangeArrowheads="1"/>
          </p:cNvSpPr>
          <p:nvPr/>
        </p:nvSpPr>
        <p:spPr bwMode="auto">
          <a:xfrm>
            <a:off x="3365500" y="4738688"/>
            <a:ext cx="5651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0.4</a:t>
            </a:r>
          </a:p>
        </p:txBody>
      </p:sp>
      <p:sp>
        <p:nvSpPr>
          <p:cNvPr id="17426" name="Text Box 18"/>
          <p:cNvSpPr txBox="1">
            <a:spLocks noChangeArrowheads="1"/>
          </p:cNvSpPr>
          <p:nvPr/>
        </p:nvSpPr>
        <p:spPr bwMode="auto">
          <a:xfrm>
            <a:off x="5619750" y="48148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0.3</a:t>
            </a:r>
          </a:p>
        </p:txBody>
      </p:sp>
      <p:sp>
        <p:nvSpPr>
          <p:cNvPr id="17427" name="Text Box 19"/>
          <p:cNvSpPr txBox="1">
            <a:spLocks noChangeArrowheads="1"/>
          </p:cNvSpPr>
          <p:nvPr/>
        </p:nvSpPr>
        <p:spPr bwMode="auto">
          <a:xfrm>
            <a:off x="5619750" y="54244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0.3</a:t>
            </a:r>
          </a:p>
        </p:txBody>
      </p:sp>
      <p:sp>
        <p:nvSpPr>
          <p:cNvPr id="17428" name="Text Box 20"/>
          <p:cNvSpPr txBox="1">
            <a:spLocks noChangeArrowheads="1"/>
          </p:cNvSpPr>
          <p:nvPr/>
        </p:nvSpPr>
        <p:spPr bwMode="auto">
          <a:xfrm>
            <a:off x="4433888" y="42814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0.4</a:t>
            </a:r>
          </a:p>
        </p:txBody>
      </p:sp>
      <p:sp>
        <p:nvSpPr>
          <p:cNvPr id="17429" name="Text Box 21"/>
          <p:cNvSpPr txBox="1">
            <a:spLocks noChangeArrowheads="1"/>
          </p:cNvSpPr>
          <p:nvPr/>
        </p:nvSpPr>
        <p:spPr bwMode="auto">
          <a:xfrm>
            <a:off x="4400550" y="3581400"/>
            <a:ext cx="6286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0.1</a:t>
            </a:r>
          </a:p>
        </p:txBody>
      </p:sp>
      <p:sp>
        <p:nvSpPr>
          <p:cNvPr id="17430" name="Text Box 22"/>
          <p:cNvSpPr txBox="1">
            <a:spLocks noChangeArrowheads="1"/>
          </p:cNvSpPr>
          <p:nvPr/>
        </p:nvSpPr>
        <p:spPr bwMode="auto">
          <a:xfrm>
            <a:off x="4476750" y="60340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0.2</a:t>
            </a:r>
          </a:p>
        </p:txBody>
      </p:sp>
      <p:sp>
        <p:nvSpPr>
          <p:cNvPr id="17431" name="Oval 23"/>
          <p:cNvSpPr>
            <a:spLocks noChangeArrowheads="1"/>
          </p:cNvSpPr>
          <p:nvPr/>
        </p:nvSpPr>
        <p:spPr bwMode="auto">
          <a:xfrm>
            <a:off x="6477000" y="4876800"/>
            <a:ext cx="7620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cloudy</a:t>
            </a:r>
            <a:endParaRPr lang="en-US" altLang="zh-TW" baseline="-25000">
              <a:latin typeface="Calibri" pitchFamily="34" charset="0"/>
              <a:ea typeface="新細明體" pitchFamily="18" charset="-120"/>
            </a:endParaRPr>
          </a:p>
        </p:txBody>
      </p:sp>
      <p:sp>
        <p:nvSpPr>
          <p:cNvPr id="17432" name="Text Box 24"/>
          <p:cNvSpPr txBox="1">
            <a:spLocks noChangeArrowheads="1"/>
          </p:cNvSpPr>
          <p:nvPr/>
        </p:nvSpPr>
        <p:spPr bwMode="auto">
          <a:xfrm>
            <a:off x="7177088" y="58054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0.5</a:t>
            </a:r>
          </a:p>
        </p:txBody>
      </p:sp>
      <p:sp>
        <p:nvSpPr>
          <p:cNvPr id="17433" name="Rectangle 27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pic>
        <p:nvPicPr>
          <p:cNvPr id="17434" name="Picture 32" descr="NA00267_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67600" y="381000"/>
            <a:ext cx="1223963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Weather Forecasting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382000" cy="1219200"/>
          </a:xfrm>
        </p:spPr>
        <p:txBody>
          <a:bodyPr/>
          <a:lstStyle/>
          <a:p>
            <a:pPr eaLnBrk="1" hangingPunct="1"/>
            <a:r>
              <a:rPr lang="en-US" altLang="zh-TW" sz="2000" smtClean="0"/>
              <a:t>Weather forecasting  example:</a:t>
            </a:r>
          </a:p>
          <a:p>
            <a:pPr lvl="1" eaLnBrk="1" hangingPunct="1"/>
            <a:r>
              <a:rPr lang="en-US" altLang="zh-TW" sz="1800" smtClean="0"/>
              <a:t>Chapman-Kolmogorov Equation: </a:t>
            </a:r>
          </a:p>
          <a:p>
            <a:pPr lvl="1" eaLnBrk="1" hangingPunct="1"/>
            <a:r>
              <a:rPr lang="en-US" altLang="zh-TW" sz="1800" smtClean="0"/>
              <a:t>Transition Matrix: </a:t>
            </a:r>
          </a:p>
        </p:txBody>
      </p:sp>
      <p:sp>
        <p:nvSpPr>
          <p:cNvPr id="3078" name="Oval 4"/>
          <p:cNvSpPr>
            <a:spLocks noChangeArrowheads="1"/>
          </p:cNvSpPr>
          <p:nvPr/>
        </p:nvSpPr>
        <p:spPr bwMode="auto">
          <a:xfrm>
            <a:off x="1981200" y="4875213"/>
            <a:ext cx="7620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sunny</a:t>
            </a:r>
            <a:endParaRPr lang="en-US" altLang="zh-TW" baseline="-25000">
              <a:latin typeface="Calibri" pitchFamily="34" charset="0"/>
              <a:ea typeface="新細明體" pitchFamily="18" charset="-120"/>
            </a:endParaRPr>
          </a:p>
        </p:txBody>
      </p:sp>
      <p:sp>
        <p:nvSpPr>
          <p:cNvPr id="3079" name="Oval 5"/>
          <p:cNvSpPr>
            <a:spLocks noChangeArrowheads="1"/>
          </p:cNvSpPr>
          <p:nvPr/>
        </p:nvSpPr>
        <p:spPr bwMode="auto">
          <a:xfrm>
            <a:off x="4267200" y="4875213"/>
            <a:ext cx="7620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rainy</a:t>
            </a:r>
            <a:endParaRPr lang="en-US" altLang="zh-TW" baseline="-25000">
              <a:latin typeface="Calibri" pitchFamily="34" charset="0"/>
              <a:ea typeface="新細明體" pitchFamily="18" charset="-120"/>
            </a:endParaRPr>
          </a:p>
        </p:txBody>
      </p:sp>
      <p:cxnSp>
        <p:nvCxnSpPr>
          <p:cNvPr id="3080" name="AutoShape 6"/>
          <p:cNvCxnSpPr>
            <a:cxnSpLocks noChangeShapeType="1"/>
            <a:stCxn id="3078" idx="0"/>
          </p:cNvCxnSpPr>
          <p:nvPr/>
        </p:nvCxnSpPr>
        <p:spPr bwMode="auto">
          <a:xfrm rot="5400000" flipV="1">
            <a:off x="4609306" y="2628107"/>
            <a:ext cx="1587" cy="4495800"/>
          </a:xfrm>
          <a:prstGeom prst="curvedConnector3">
            <a:avLst>
              <a:gd name="adj1" fmla="val -56300014"/>
            </a:avLst>
          </a:prstGeom>
          <a:noFill/>
          <a:ln w="31750">
            <a:solidFill>
              <a:srgbClr val="C0C0C0"/>
            </a:solidFill>
            <a:round/>
            <a:headEnd/>
            <a:tailEnd type="triangle" w="med" len="med"/>
          </a:ln>
        </p:spPr>
      </p:cxnSp>
      <p:cxnSp>
        <p:nvCxnSpPr>
          <p:cNvPr id="3081" name="AutoShape 7"/>
          <p:cNvCxnSpPr>
            <a:cxnSpLocks noChangeShapeType="1"/>
            <a:stCxn id="3078" idx="0"/>
            <a:endCxn id="3078" idx="2"/>
          </p:cNvCxnSpPr>
          <p:nvPr/>
        </p:nvCxnSpPr>
        <p:spPr bwMode="auto">
          <a:xfrm rot="-5400000" flipH="1" flipV="1">
            <a:off x="1981200" y="4875213"/>
            <a:ext cx="381000" cy="381000"/>
          </a:xfrm>
          <a:prstGeom prst="curvedConnector4">
            <a:avLst>
              <a:gd name="adj1" fmla="val -60000"/>
              <a:gd name="adj2" fmla="val 160000"/>
            </a:avLst>
          </a:prstGeom>
          <a:noFill/>
          <a:ln w="31750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3082" name="AutoShape 8"/>
          <p:cNvCxnSpPr>
            <a:cxnSpLocks noChangeShapeType="1"/>
            <a:endCxn id="3078" idx="4"/>
          </p:cNvCxnSpPr>
          <p:nvPr/>
        </p:nvCxnSpPr>
        <p:spPr bwMode="auto">
          <a:xfrm rot="5400000">
            <a:off x="4609306" y="3390107"/>
            <a:ext cx="1587" cy="4495800"/>
          </a:xfrm>
          <a:prstGeom prst="curvedConnector3">
            <a:avLst>
              <a:gd name="adj1" fmla="val 50600014"/>
            </a:avLst>
          </a:prstGeom>
          <a:noFill/>
          <a:ln w="31750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3083" name="AutoShape 9"/>
          <p:cNvCxnSpPr>
            <a:cxnSpLocks noChangeShapeType="1"/>
          </p:cNvCxnSpPr>
          <p:nvPr/>
        </p:nvCxnSpPr>
        <p:spPr bwMode="auto">
          <a:xfrm rot="5400000" flipH="1" flipV="1">
            <a:off x="6858000" y="5256213"/>
            <a:ext cx="381000" cy="381000"/>
          </a:xfrm>
          <a:prstGeom prst="curvedConnector4">
            <a:avLst>
              <a:gd name="adj1" fmla="val -60000"/>
              <a:gd name="adj2" fmla="val 160000"/>
            </a:avLst>
          </a:prstGeom>
          <a:noFill/>
          <a:ln w="31750">
            <a:solidFill>
              <a:srgbClr val="C0C0C0"/>
            </a:solidFill>
            <a:round/>
            <a:headEnd/>
            <a:tailEnd type="triangle" w="med" len="med"/>
          </a:ln>
        </p:spPr>
      </p:cxnSp>
      <p:cxnSp>
        <p:nvCxnSpPr>
          <p:cNvPr id="3084" name="AutoShape 10"/>
          <p:cNvCxnSpPr>
            <a:cxnSpLocks noChangeShapeType="1"/>
            <a:stCxn id="3079" idx="6"/>
            <a:endCxn id="3079" idx="0"/>
          </p:cNvCxnSpPr>
          <p:nvPr/>
        </p:nvCxnSpPr>
        <p:spPr bwMode="auto">
          <a:xfrm flipH="1" flipV="1">
            <a:off x="4648200" y="4875213"/>
            <a:ext cx="381000" cy="381000"/>
          </a:xfrm>
          <a:prstGeom prst="curvedConnector4">
            <a:avLst>
              <a:gd name="adj1" fmla="val -60000"/>
              <a:gd name="adj2" fmla="val 160000"/>
            </a:avLst>
          </a:prstGeom>
          <a:noFill/>
          <a:ln w="31750">
            <a:solidFill>
              <a:srgbClr val="FFFF00"/>
            </a:solidFill>
            <a:round/>
            <a:headEnd/>
            <a:tailEnd type="triangle" w="med" len="med"/>
          </a:ln>
        </p:spPr>
      </p:cxnSp>
      <p:cxnSp>
        <p:nvCxnSpPr>
          <p:cNvPr id="3085" name="AutoShape 11"/>
          <p:cNvCxnSpPr>
            <a:cxnSpLocks noChangeShapeType="1"/>
            <a:stCxn id="3078" idx="7"/>
            <a:endCxn id="3079" idx="1"/>
          </p:cNvCxnSpPr>
          <p:nvPr/>
        </p:nvCxnSpPr>
        <p:spPr bwMode="auto">
          <a:xfrm rot="5400000" flipV="1">
            <a:off x="3504406" y="4114007"/>
            <a:ext cx="1587" cy="1746250"/>
          </a:xfrm>
          <a:prstGeom prst="curvedConnector3">
            <a:avLst>
              <a:gd name="adj1" fmla="val -21400009"/>
            </a:avLst>
          </a:prstGeom>
          <a:noFill/>
          <a:ln w="31750">
            <a:solidFill>
              <a:srgbClr val="FFFF00"/>
            </a:solidFill>
            <a:round/>
            <a:headEnd/>
            <a:tailEnd type="triangle" w="med" len="med"/>
          </a:ln>
        </p:spPr>
      </p:cxnSp>
      <p:cxnSp>
        <p:nvCxnSpPr>
          <p:cNvPr id="3086" name="AutoShape 12"/>
          <p:cNvCxnSpPr>
            <a:cxnSpLocks noChangeShapeType="1"/>
            <a:stCxn id="3079" idx="6"/>
          </p:cNvCxnSpPr>
          <p:nvPr/>
        </p:nvCxnSpPr>
        <p:spPr bwMode="auto">
          <a:xfrm>
            <a:off x="5029200" y="5256213"/>
            <a:ext cx="1447800" cy="0"/>
          </a:xfrm>
          <a:prstGeom prst="straightConnector1">
            <a:avLst/>
          </a:prstGeom>
          <a:noFill/>
          <a:ln w="31750">
            <a:solidFill>
              <a:srgbClr val="C0C0C0"/>
            </a:solidFill>
            <a:round/>
            <a:headEnd/>
            <a:tailEnd type="triangle" w="med" len="med"/>
          </a:ln>
        </p:spPr>
      </p:cxnSp>
      <p:cxnSp>
        <p:nvCxnSpPr>
          <p:cNvPr id="3087" name="AutoShape 13"/>
          <p:cNvCxnSpPr>
            <a:cxnSpLocks noChangeShapeType="1"/>
            <a:stCxn id="3079" idx="2"/>
            <a:endCxn id="3078" idx="6"/>
          </p:cNvCxnSpPr>
          <p:nvPr/>
        </p:nvCxnSpPr>
        <p:spPr bwMode="auto">
          <a:xfrm flipH="1">
            <a:off x="2743200" y="5256213"/>
            <a:ext cx="1524000" cy="0"/>
          </a:xfrm>
          <a:prstGeom prst="straightConnector1">
            <a:avLst/>
          </a:prstGeom>
          <a:noFill/>
          <a:ln w="31750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3088" name="AutoShape 14"/>
          <p:cNvCxnSpPr>
            <a:cxnSpLocks noChangeShapeType="1"/>
            <a:endCxn id="3079" idx="5"/>
          </p:cNvCxnSpPr>
          <p:nvPr/>
        </p:nvCxnSpPr>
        <p:spPr bwMode="auto">
          <a:xfrm rot="5400000">
            <a:off x="5752306" y="4691857"/>
            <a:ext cx="1587" cy="1670050"/>
          </a:xfrm>
          <a:prstGeom prst="curvedConnector3">
            <a:avLst>
              <a:gd name="adj1" fmla="val 21400009"/>
            </a:avLst>
          </a:prstGeom>
          <a:noFill/>
          <a:ln w="31750">
            <a:solidFill>
              <a:srgbClr val="FFFF00"/>
            </a:solidFill>
            <a:round/>
            <a:headEnd/>
            <a:tailEnd type="triangle" w="med" len="med"/>
          </a:ln>
        </p:spPr>
      </p:cxnSp>
      <p:sp>
        <p:nvSpPr>
          <p:cNvPr id="3089" name="Text Box 15"/>
          <p:cNvSpPr txBox="1">
            <a:spLocks noChangeArrowheads="1"/>
          </p:cNvSpPr>
          <p:nvPr/>
        </p:nvSpPr>
        <p:spPr bwMode="auto">
          <a:xfrm>
            <a:off x="1504950" y="42814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0.5</a:t>
            </a:r>
          </a:p>
        </p:txBody>
      </p:sp>
      <p:sp>
        <p:nvSpPr>
          <p:cNvPr id="3090" name="Text Box 16"/>
          <p:cNvSpPr txBox="1">
            <a:spLocks noChangeArrowheads="1"/>
          </p:cNvSpPr>
          <p:nvPr/>
        </p:nvSpPr>
        <p:spPr bwMode="auto">
          <a:xfrm>
            <a:off x="3333750" y="52720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0.3</a:t>
            </a:r>
          </a:p>
        </p:txBody>
      </p:sp>
      <p:sp>
        <p:nvSpPr>
          <p:cNvPr id="3091" name="Text Box 17"/>
          <p:cNvSpPr txBox="1">
            <a:spLocks noChangeArrowheads="1"/>
          </p:cNvSpPr>
          <p:nvPr/>
        </p:nvSpPr>
        <p:spPr bwMode="auto">
          <a:xfrm>
            <a:off x="3365500" y="4738688"/>
            <a:ext cx="5651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0.4</a:t>
            </a:r>
          </a:p>
        </p:txBody>
      </p:sp>
      <p:sp>
        <p:nvSpPr>
          <p:cNvPr id="3092" name="Text Box 18"/>
          <p:cNvSpPr txBox="1">
            <a:spLocks noChangeArrowheads="1"/>
          </p:cNvSpPr>
          <p:nvPr/>
        </p:nvSpPr>
        <p:spPr bwMode="auto">
          <a:xfrm>
            <a:off x="5619750" y="48148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0.3</a:t>
            </a:r>
          </a:p>
        </p:txBody>
      </p:sp>
      <p:sp>
        <p:nvSpPr>
          <p:cNvPr id="3093" name="Text Box 19"/>
          <p:cNvSpPr txBox="1">
            <a:spLocks noChangeArrowheads="1"/>
          </p:cNvSpPr>
          <p:nvPr/>
        </p:nvSpPr>
        <p:spPr bwMode="auto">
          <a:xfrm>
            <a:off x="5619750" y="54244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0.3</a:t>
            </a:r>
          </a:p>
        </p:txBody>
      </p:sp>
      <p:sp>
        <p:nvSpPr>
          <p:cNvPr id="3094" name="Text Box 20"/>
          <p:cNvSpPr txBox="1">
            <a:spLocks noChangeArrowheads="1"/>
          </p:cNvSpPr>
          <p:nvPr/>
        </p:nvSpPr>
        <p:spPr bwMode="auto">
          <a:xfrm>
            <a:off x="4433888" y="42814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0.4</a:t>
            </a:r>
          </a:p>
        </p:txBody>
      </p:sp>
      <p:sp>
        <p:nvSpPr>
          <p:cNvPr id="3095" name="Text Box 21"/>
          <p:cNvSpPr txBox="1">
            <a:spLocks noChangeArrowheads="1"/>
          </p:cNvSpPr>
          <p:nvPr/>
        </p:nvSpPr>
        <p:spPr bwMode="auto">
          <a:xfrm>
            <a:off x="4400550" y="3581400"/>
            <a:ext cx="6286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0.1</a:t>
            </a:r>
          </a:p>
        </p:txBody>
      </p:sp>
      <p:sp>
        <p:nvSpPr>
          <p:cNvPr id="3096" name="Text Box 22"/>
          <p:cNvSpPr txBox="1">
            <a:spLocks noChangeArrowheads="1"/>
          </p:cNvSpPr>
          <p:nvPr/>
        </p:nvSpPr>
        <p:spPr bwMode="auto">
          <a:xfrm>
            <a:off x="4476750" y="60340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0.2</a:t>
            </a:r>
          </a:p>
        </p:txBody>
      </p:sp>
      <p:sp>
        <p:nvSpPr>
          <p:cNvPr id="3097" name="Oval 23"/>
          <p:cNvSpPr>
            <a:spLocks noChangeArrowheads="1"/>
          </p:cNvSpPr>
          <p:nvPr/>
        </p:nvSpPr>
        <p:spPr bwMode="auto">
          <a:xfrm>
            <a:off x="6477000" y="4876800"/>
            <a:ext cx="7620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cloudy</a:t>
            </a:r>
            <a:endParaRPr lang="en-US" altLang="zh-TW" baseline="-25000">
              <a:latin typeface="Calibri" pitchFamily="34" charset="0"/>
              <a:ea typeface="新細明體" pitchFamily="18" charset="-120"/>
            </a:endParaRPr>
          </a:p>
        </p:txBody>
      </p:sp>
      <p:sp>
        <p:nvSpPr>
          <p:cNvPr id="3098" name="Text Box 24"/>
          <p:cNvSpPr txBox="1">
            <a:spLocks noChangeArrowheads="1"/>
          </p:cNvSpPr>
          <p:nvPr/>
        </p:nvSpPr>
        <p:spPr bwMode="auto">
          <a:xfrm>
            <a:off x="7177088" y="58054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0.5</a:t>
            </a:r>
          </a:p>
        </p:txBody>
      </p:sp>
      <p:sp>
        <p:nvSpPr>
          <p:cNvPr id="3099" name="Rectangle 25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sp>
        <p:nvSpPr>
          <p:cNvPr id="3100" name="Rectangle 28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3886200" y="2376488"/>
          <a:ext cx="1752600" cy="1204912"/>
        </p:xfrm>
        <a:graphic>
          <a:graphicData uri="http://schemas.openxmlformats.org/presentationml/2006/ole">
            <p:oleObj spid="_x0000_s3074" name="Equation" r:id="rId4" imgW="1040948" imgH="710891" progId="Equation.3">
              <p:embed/>
            </p:oleObj>
          </a:graphicData>
        </a:graphic>
      </p:graphicFrame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4800600" y="1498600"/>
          <a:ext cx="1981200" cy="666750"/>
        </p:xfrm>
        <a:graphic>
          <a:graphicData uri="http://schemas.openxmlformats.org/presentationml/2006/ole">
            <p:oleObj spid="_x0000_s3075" name="Equation" r:id="rId5" imgW="1244520" imgH="431640" progId="Equation.3">
              <p:embed/>
            </p:oleObj>
          </a:graphicData>
        </a:graphic>
      </p:graphicFrame>
      <p:sp>
        <p:nvSpPr>
          <p:cNvPr id="3101" name="Text Box 31"/>
          <p:cNvSpPr txBox="1">
            <a:spLocks noChangeArrowheads="1"/>
          </p:cNvSpPr>
          <p:nvPr/>
        </p:nvSpPr>
        <p:spPr bwMode="auto">
          <a:xfrm>
            <a:off x="4044950" y="2057400"/>
            <a:ext cx="2984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s</a:t>
            </a:r>
          </a:p>
        </p:txBody>
      </p:sp>
      <p:sp>
        <p:nvSpPr>
          <p:cNvPr id="3102" name="Text Box 33"/>
          <p:cNvSpPr txBox="1">
            <a:spLocks noChangeArrowheads="1"/>
          </p:cNvSpPr>
          <p:nvPr/>
        </p:nvSpPr>
        <p:spPr bwMode="auto">
          <a:xfrm>
            <a:off x="4597400" y="2057400"/>
            <a:ext cx="2603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r</a:t>
            </a:r>
          </a:p>
        </p:txBody>
      </p:sp>
      <p:sp>
        <p:nvSpPr>
          <p:cNvPr id="3103" name="Text Box 34"/>
          <p:cNvSpPr txBox="1">
            <a:spLocks noChangeArrowheads="1"/>
          </p:cNvSpPr>
          <p:nvPr/>
        </p:nvSpPr>
        <p:spPr bwMode="auto">
          <a:xfrm>
            <a:off x="5187950" y="2057400"/>
            <a:ext cx="2984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c</a:t>
            </a:r>
          </a:p>
        </p:txBody>
      </p:sp>
      <p:sp>
        <p:nvSpPr>
          <p:cNvPr id="3104" name="Text Box 35"/>
          <p:cNvSpPr txBox="1">
            <a:spLocks noChangeArrowheads="1"/>
          </p:cNvSpPr>
          <p:nvPr/>
        </p:nvSpPr>
        <p:spPr bwMode="auto">
          <a:xfrm>
            <a:off x="3581400" y="2376488"/>
            <a:ext cx="2984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s</a:t>
            </a:r>
          </a:p>
        </p:txBody>
      </p:sp>
      <p:sp>
        <p:nvSpPr>
          <p:cNvPr id="3105" name="Text Box 36"/>
          <p:cNvSpPr txBox="1">
            <a:spLocks noChangeArrowheads="1"/>
          </p:cNvSpPr>
          <p:nvPr/>
        </p:nvSpPr>
        <p:spPr bwMode="auto">
          <a:xfrm>
            <a:off x="3581400" y="2757488"/>
            <a:ext cx="2603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r</a:t>
            </a:r>
          </a:p>
        </p:txBody>
      </p:sp>
      <p:sp>
        <p:nvSpPr>
          <p:cNvPr id="3106" name="Text Box 37"/>
          <p:cNvSpPr txBox="1">
            <a:spLocks noChangeArrowheads="1"/>
          </p:cNvSpPr>
          <p:nvPr/>
        </p:nvSpPr>
        <p:spPr bwMode="auto">
          <a:xfrm>
            <a:off x="3581400" y="3138488"/>
            <a:ext cx="2984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c</a:t>
            </a:r>
          </a:p>
        </p:txBody>
      </p:sp>
      <p:pic>
        <p:nvPicPr>
          <p:cNvPr id="3107" name="Picture 39" descr="NA00267_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467600" y="381000"/>
            <a:ext cx="1223963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TW" smtClean="0"/>
              <a:t>Weather Forecasting</a:t>
            </a:r>
          </a:p>
        </p:txBody>
      </p:sp>
      <p:sp>
        <p:nvSpPr>
          <p:cNvPr id="41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382000" cy="2362200"/>
          </a:xfrm>
        </p:spPr>
        <p:txBody>
          <a:bodyPr/>
          <a:lstStyle/>
          <a:p>
            <a:pPr eaLnBrk="1" hangingPunct="1"/>
            <a:r>
              <a:rPr lang="en-US" altLang="zh-TW" sz="2000" smtClean="0"/>
              <a:t>Weather forecasting  example:</a:t>
            </a:r>
          </a:p>
          <a:p>
            <a:pPr lvl="1" eaLnBrk="1" hangingPunct="1"/>
            <a:r>
              <a:rPr lang="en-US" altLang="zh-TW" sz="1800" smtClean="0"/>
              <a:t>Two days:</a:t>
            </a:r>
          </a:p>
          <a:p>
            <a:pPr lvl="1" eaLnBrk="1" hangingPunct="1"/>
            <a:endParaRPr lang="en-US" altLang="zh-TW" sz="1800" smtClean="0"/>
          </a:p>
          <a:p>
            <a:pPr lvl="1" eaLnBrk="1" hangingPunct="1"/>
            <a:endParaRPr lang="en-US" altLang="zh-TW" sz="1800" smtClean="0"/>
          </a:p>
          <a:p>
            <a:pPr lvl="1" eaLnBrk="1" hangingPunct="1"/>
            <a:r>
              <a:rPr lang="en-US" altLang="zh-TW" sz="1800" smtClean="0"/>
              <a:t>Four days:</a:t>
            </a:r>
          </a:p>
        </p:txBody>
      </p:sp>
      <p:sp>
        <p:nvSpPr>
          <p:cNvPr id="4106" name="Oval 4"/>
          <p:cNvSpPr>
            <a:spLocks noChangeArrowheads="1"/>
          </p:cNvSpPr>
          <p:nvPr/>
        </p:nvSpPr>
        <p:spPr bwMode="auto">
          <a:xfrm>
            <a:off x="1981200" y="4875213"/>
            <a:ext cx="7620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sunny</a:t>
            </a:r>
            <a:endParaRPr lang="en-US" altLang="zh-TW" baseline="-25000">
              <a:latin typeface="Calibri" pitchFamily="34" charset="0"/>
              <a:ea typeface="新細明體" pitchFamily="18" charset="-120"/>
            </a:endParaRPr>
          </a:p>
        </p:txBody>
      </p:sp>
      <p:sp>
        <p:nvSpPr>
          <p:cNvPr id="4107" name="Oval 5"/>
          <p:cNvSpPr>
            <a:spLocks noChangeArrowheads="1"/>
          </p:cNvSpPr>
          <p:nvPr/>
        </p:nvSpPr>
        <p:spPr bwMode="auto">
          <a:xfrm>
            <a:off x="4267200" y="4875213"/>
            <a:ext cx="7620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rainy</a:t>
            </a:r>
            <a:endParaRPr lang="en-US" altLang="zh-TW" baseline="-25000">
              <a:latin typeface="Calibri" pitchFamily="34" charset="0"/>
              <a:ea typeface="新細明體" pitchFamily="18" charset="-120"/>
            </a:endParaRPr>
          </a:p>
        </p:txBody>
      </p:sp>
      <p:cxnSp>
        <p:nvCxnSpPr>
          <p:cNvPr id="4108" name="AutoShape 6"/>
          <p:cNvCxnSpPr>
            <a:cxnSpLocks noChangeShapeType="1"/>
            <a:stCxn id="4106" idx="0"/>
          </p:cNvCxnSpPr>
          <p:nvPr/>
        </p:nvCxnSpPr>
        <p:spPr bwMode="auto">
          <a:xfrm rot="5400000" flipV="1">
            <a:off x="4609306" y="2628107"/>
            <a:ext cx="1587" cy="4495800"/>
          </a:xfrm>
          <a:prstGeom prst="curvedConnector3">
            <a:avLst>
              <a:gd name="adj1" fmla="val -56300014"/>
            </a:avLst>
          </a:prstGeom>
          <a:noFill/>
          <a:ln w="31750">
            <a:solidFill>
              <a:srgbClr val="C0C0C0"/>
            </a:solidFill>
            <a:round/>
            <a:headEnd/>
            <a:tailEnd type="triangle" w="med" len="med"/>
          </a:ln>
        </p:spPr>
      </p:cxnSp>
      <p:cxnSp>
        <p:nvCxnSpPr>
          <p:cNvPr id="4109" name="AutoShape 7"/>
          <p:cNvCxnSpPr>
            <a:cxnSpLocks noChangeShapeType="1"/>
            <a:stCxn id="4106" idx="0"/>
            <a:endCxn id="4106" idx="2"/>
          </p:cNvCxnSpPr>
          <p:nvPr/>
        </p:nvCxnSpPr>
        <p:spPr bwMode="auto">
          <a:xfrm rot="-5400000" flipH="1" flipV="1">
            <a:off x="1981200" y="4875213"/>
            <a:ext cx="381000" cy="381000"/>
          </a:xfrm>
          <a:prstGeom prst="curvedConnector4">
            <a:avLst>
              <a:gd name="adj1" fmla="val -60000"/>
              <a:gd name="adj2" fmla="val 160000"/>
            </a:avLst>
          </a:prstGeom>
          <a:noFill/>
          <a:ln w="31750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4110" name="AutoShape 8"/>
          <p:cNvCxnSpPr>
            <a:cxnSpLocks noChangeShapeType="1"/>
            <a:endCxn id="4106" idx="4"/>
          </p:cNvCxnSpPr>
          <p:nvPr/>
        </p:nvCxnSpPr>
        <p:spPr bwMode="auto">
          <a:xfrm rot="5400000">
            <a:off x="4609306" y="3390107"/>
            <a:ext cx="1587" cy="4495800"/>
          </a:xfrm>
          <a:prstGeom prst="curvedConnector3">
            <a:avLst>
              <a:gd name="adj1" fmla="val 50600014"/>
            </a:avLst>
          </a:prstGeom>
          <a:noFill/>
          <a:ln w="31750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4111" name="AutoShape 9"/>
          <p:cNvCxnSpPr>
            <a:cxnSpLocks noChangeShapeType="1"/>
          </p:cNvCxnSpPr>
          <p:nvPr/>
        </p:nvCxnSpPr>
        <p:spPr bwMode="auto">
          <a:xfrm rot="5400000" flipH="1" flipV="1">
            <a:off x="6858000" y="5256213"/>
            <a:ext cx="381000" cy="381000"/>
          </a:xfrm>
          <a:prstGeom prst="curvedConnector4">
            <a:avLst>
              <a:gd name="adj1" fmla="val -60000"/>
              <a:gd name="adj2" fmla="val 160000"/>
            </a:avLst>
          </a:prstGeom>
          <a:noFill/>
          <a:ln w="31750">
            <a:solidFill>
              <a:srgbClr val="C0C0C0"/>
            </a:solidFill>
            <a:round/>
            <a:headEnd/>
            <a:tailEnd type="triangle" w="med" len="med"/>
          </a:ln>
        </p:spPr>
      </p:cxnSp>
      <p:cxnSp>
        <p:nvCxnSpPr>
          <p:cNvPr id="4112" name="AutoShape 10"/>
          <p:cNvCxnSpPr>
            <a:cxnSpLocks noChangeShapeType="1"/>
            <a:stCxn id="4107" idx="6"/>
            <a:endCxn id="4107" idx="0"/>
          </p:cNvCxnSpPr>
          <p:nvPr/>
        </p:nvCxnSpPr>
        <p:spPr bwMode="auto">
          <a:xfrm flipH="1" flipV="1">
            <a:off x="4648200" y="4875213"/>
            <a:ext cx="381000" cy="381000"/>
          </a:xfrm>
          <a:prstGeom prst="curvedConnector4">
            <a:avLst>
              <a:gd name="adj1" fmla="val -60000"/>
              <a:gd name="adj2" fmla="val 160000"/>
            </a:avLst>
          </a:prstGeom>
          <a:noFill/>
          <a:ln w="31750">
            <a:solidFill>
              <a:srgbClr val="FFFF00"/>
            </a:solidFill>
            <a:round/>
            <a:headEnd/>
            <a:tailEnd type="triangle" w="med" len="med"/>
          </a:ln>
        </p:spPr>
      </p:cxnSp>
      <p:cxnSp>
        <p:nvCxnSpPr>
          <p:cNvPr id="4113" name="AutoShape 11"/>
          <p:cNvCxnSpPr>
            <a:cxnSpLocks noChangeShapeType="1"/>
            <a:stCxn id="4106" idx="7"/>
            <a:endCxn id="4107" idx="1"/>
          </p:cNvCxnSpPr>
          <p:nvPr/>
        </p:nvCxnSpPr>
        <p:spPr bwMode="auto">
          <a:xfrm rot="5400000" flipV="1">
            <a:off x="3504406" y="4114007"/>
            <a:ext cx="1587" cy="1746250"/>
          </a:xfrm>
          <a:prstGeom prst="curvedConnector3">
            <a:avLst>
              <a:gd name="adj1" fmla="val -21400009"/>
            </a:avLst>
          </a:prstGeom>
          <a:noFill/>
          <a:ln w="31750">
            <a:solidFill>
              <a:srgbClr val="FFFF00"/>
            </a:solidFill>
            <a:round/>
            <a:headEnd/>
            <a:tailEnd type="triangle" w="med" len="med"/>
          </a:ln>
        </p:spPr>
      </p:cxnSp>
      <p:cxnSp>
        <p:nvCxnSpPr>
          <p:cNvPr id="4114" name="AutoShape 12"/>
          <p:cNvCxnSpPr>
            <a:cxnSpLocks noChangeShapeType="1"/>
            <a:stCxn id="4107" idx="6"/>
          </p:cNvCxnSpPr>
          <p:nvPr/>
        </p:nvCxnSpPr>
        <p:spPr bwMode="auto">
          <a:xfrm>
            <a:off x="5029200" y="5256213"/>
            <a:ext cx="1447800" cy="0"/>
          </a:xfrm>
          <a:prstGeom prst="straightConnector1">
            <a:avLst/>
          </a:prstGeom>
          <a:noFill/>
          <a:ln w="31750">
            <a:solidFill>
              <a:srgbClr val="C0C0C0"/>
            </a:solidFill>
            <a:round/>
            <a:headEnd/>
            <a:tailEnd type="triangle" w="med" len="med"/>
          </a:ln>
        </p:spPr>
      </p:cxnSp>
      <p:cxnSp>
        <p:nvCxnSpPr>
          <p:cNvPr id="4115" name="AutoShape 13"/>
          <p:cNvCxnSpPr>
            <a:cxnSpLocks noChangeShapeType="1"/>
            <a:stCxn id="4107" idx="2"/>
            <a:endCxn id="4106" idx="6"/>
          </p:cNvCxnSpPr>
          <p:nvPr/>
        </p:nvCxnSpPr>
        <p:spPr bwMode="auto">
          <a:xfrm flipH="1">
            <a:off x="2743200" y="5256213"/>
            <a:ext cx="1524000" cy="0"/>
          </a:xfrm>
          <a:prstGeom prst="straightConnector1">
            <a:avLst/>
          </a:prstGeom>
          <a:noFill/>
          <a:ln w="31750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4116" name="AutoShape 14"/>
          <p:cNvCxnSpPr>
            <a:cxnSpLocks noChangeShapeType="1"/>
            <a:endCxn id="4107" idx="5"/>
          </p:cNvCxnSpPr>
          <p:nvPr/>
        </p:nvCxnSpPr>
        <p:spPr bwMode="auto">
          <a:xfrm rot="5400000">
            <a:off x="5752306" y="4691857"/>
            <a:ext cx="1587" cy="1670050"/>
          </a:xfrm>
          <a:prstGeom prst="curvedConnector3">
            <a:avLst>
              <a:gd name="adj1" fmla="val 21400009"/>
            </a:avLst>
          </a:prstGeom>
          <a:noFill/>
          <a:ln w="31750">
            <a:solidFill>
              <a:srgbClr val="FFFF00"/>
            </a:solidFill>
            <a:round/>
            <a:headEnd/>
            <a:tailEnd type="triangle" w="med" len="med"/>
          </a:ln>
        </p:spPr>
      </p:cxnSp>
      <p:sp>
        <p:nvSpPr>
          <p:cNvPr id="4117" name="Text Box 15"/>
          <p:cNvSpPr txBox="1">
            <a:spLocks noChangeArrowheads="1"/>
          </p:cNvSpPr>
          <p:nvPr/>
        </p:nvSpPr>
        <p:spPr bwMode="auto">
          <a:xfrm>
            <a:off x="1504950" y="42814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0.5</a:t>
            </a:r>
          </a:p>
        </p:txBody>
      </p:sp>
      <p:sp>
        <p:nvSpPr>
          <p:cNvPr id="4118" name="Text Box 16"/>
          <p:cNvSpPr txBox="1">
            <a:spLocks noChangeArrowheads="1"/>
          </p:cNvSpPr>
          <p:nvPr/>
        </p:nvSpPr>
        <p:spPr bwMode="auto">
          <a:xfrm>
            <a:off x="3333750" y="52720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0.3</a:t>
            </a:r>
          </a:p>
        </p:txBody>
      </p:sp>
      <p:sp>
        <p:nvSpPr>
          <p:cNvPr id="4119" name="Text Box 17"/>
          <p:cNvSpPr txBox="1">
            <a:spLocks noChangeArrowheads="1"/>
          </p:cNvSpPr>
          <p:nvPr/>
        </p:nvSpPr>
        <p:spPr bwMode="auto">
          <a:xfrm>
            <a:off x="3365500" y="4738688"/>
            <a:ext cx="5651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0.4</a:t>
            </a:r>
          </a:p>
        </p:txBody>
      </p:sp>
      <p:sp>
        <p:nvSpPr>
          <p:cNvPr id="4120" name="Text Box 18"/>
          <p:cNvSpPr txBox="1">
            <a:spLocks noChangeArrowheads="1"/>
          </p:cNvSpPr>
          <p:nvPr/>
        </p:nvSpPr>
        <p:spPr bwMode="auto">
          <a:xfrm>
            <a:off x="5619750" y="48148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0.3</a:t>
            </a:r>
          </a:p>
        </p:txBody>
      </p:sp>
      <p:sp>
        <p:nvSpPr>
          <p:cNvPr id="4121" name="Text Box 19"/>
          <p:cNvSpPr txBox="1">
            <a:spLocks noChangeArrowheads="1"/>
          </p:cNvSpPr>
          <p:nvPr/>
        </p:nvSpPr>
        <p:spPr bwMode="auto">
          <a:xfrm>
            <a:off x="5619750" y="54244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0.3</a:t>
            </a:r>
          </a:p>
        </p:txBody>
      </p:sp>
      <p:sp>
        <p:nvSpPr>
          <p:cNvPr id="4122" name="Text Box 20"/>
          <p:cNvSpPr txBox="1">
            <a:spLocks noChangeArrowheads="1"/>
          </p:cNvSpPr>
          <p:nvPr/>
        </p:nvSpPr>
        <p:spPr bwMode="auto">
          <a:xfrm>
            <a:off x="4433888" y="42814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0.4</a:t>
            </a:r>
          </a:p>
        </p:txBody>
      </p:sp>
      <p:sp>
        <p:nvSpPr>
          <p:cNvPr id="4123" name="Text Box 21"/>
          <p:cNvSpPr txBox="1">
            <a:spLocks noChangeArrowheads="1"/>
          </p:cNvSpPr>
          <p:nvPr/>
        </p:nvSpPr>
        <p:spPr bwMode="auto">
          <a:xfrm>
            <a:off x="4400550" y="3581400"/>
            <a:ext cx="6286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0.1</a:t>
            </a:r>
          </a:p>
        </p:txBody>
      </p:sp>
      <p:sp>
        <p:nvSpPr>
          <p:cNvPr id="4124" name="Text Box 22"/>
          <p:cNvSpPr txBox="1">
            <a:spLocks noChangeArrowheads="1"/>
          </p:cNvSpPr>
          <p:nvPr/>
        </p:nvSpPr>
        <p:spPr bwMode="auto">
          <a:xfrm>
            <a:off x="4476750" y="60340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0.2</a:t>
            </a:r>
          </a:p>
        </p:txBody>
      </p:sp>
      <p:sp>
        <p:nvSpPr>
          <p:cNvPr id="4125" name="Oval 23"/>
          <p:cNvSpPr>
            <a:spLocks noChangeArrowheads="1"/>
          </p:cNvSpPr>
          <p:nvPr/>
        </p:nvSpPr>
        <p:spPr bwMode="auto">
          <a:xfrm>
            <a:off x="6477000" y="4876800"/>
            <a:ext cx="7620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cloudy</a:t>
            </a:r>
            <a:endParaRPr lang="en-US" altLang="zh-TW" baseline="-25000">
              <a:latin typeface="Calibri" pitchFamily="34" charset="0"/>
              <a:ea typeface="新細明體" pitchFamily="18" charset="-120"/>
            </a:endParaRPr>
          </a:p>
        </p:txBody>
      </p:sp>
      <p:sp>
        <p:nvSpPr>
          <p:cNvPr id="4126" name="Text Box 24"/>
          <p:cNvSpPr txBox="1">
            <a:spLocks noChangeArrowheads="1"/>
          </p:cNvSpPr>
          <p:nvPr/>
        </p:nvSpPr>
        <p:spPr bwMode="auto">
          <a:xfrm>
            <a:off x="7177088" y="58054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0.5</a:t>
            </a:r>
          </a:p>
        </p:txBody>
      </p:sp>
      <p:sp>
        <p:nvSpPr>
          <p:cNvPr id="4127" name="Rectangle 25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sp>
        <p:nvSpPr>
          <p:cNvPr id="4128" name="Rectangle 27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2514600" y="1752600"/>
          <a:ext cx="1295400" cy="890588"/>
        </p:xfrm>
        <a:graphic>
          <a:graphicData uri="http://schemas.openxmlformats.org/presentationml/2006/ole">
            <p:oleObj spid="_x0000_s4098" name="Equation" r:id="rId4" imgW="1040948" imgH="710891" progId="Equation.3">
              <p:embed/>
            </p:oleObj>
          </a:graphicData>
        </a:graphic>
      </p:graphicFrame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2514600" y="2735263"/>
          <a:ext cx="1357313" cy="922337"/>
        </p:xfrm>
        <a:graphic>
          <a:graphicData uri="http://schemas.openxmlformats.org/presentationml/2006/ole">
            <p:oleObj spid="_x0000_s4099" name="Equation" r:id="rId5" imgW="1091880" imgH="736560" progId="Equation.DSMT4">
              <p:embed/>
            </p:oleObj>
          </a:graphicData>
        </a:graphic>
      </p:graphicFrame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3854450" y="2727325"/>
          <a:ext cx="1357313" cy="922338"/>
        </p:xfrm>
        <a:graphic>
          <a:graphicData uri="http://schemas.openxmlformats.org/presentationml/2006/ole">
            <p:oleObj spid="_x0000_s4100" name="Equation" r:id="rId6" imgW="1091880" imgH="736560" progId="Equation.3">
              <p:embed/>
            </p:oleObj>
          </a:graphicData>
        </a:graphic>
      </p:graphicFrame>
      <p:graphicFrame>
        <p:nvGraphicFramePr>
          <p:cNvPr id="4101" name="Object 5"/>
          <p:cNvGraphicFramePr>
            <a:graphicFrameLocks noChangeAspect="1"/>
          </p:cNvGraphicFramePr>
          <p:nvPr/>
        </p:nvGraphicFramePr>
        <p:xfrm>
          <a:off x="3810000" y="1752600"/>
          <a:ext cx="1295400" cy="890588"/>
        </p:xfrm>
        <a:graphic>
          <a:graphicData uri="http://schemas.openxmlformats.org/presentationml/2006/ole">
            <p:oleObj spid="_x0000_s4101" name="Equation" r:id="rId7" imgW="1040948" imgH="710891" progId="Equation.3">
              <p:embed/>
            </p:oleObj>
          </a:graphicData>
        </a:graphic>
      </p:graphicFrame>
      <p:sp>
        <p:nvSpPr>
          <p:cNvPr id="4129" name="Rectangle 36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graphicFrame>
        <p:nvGraphicFramePr>
          <p:cNvPr id="4102" name="Object 6"/>
          <p:cNvGraphicFramePr>
            <a:graphicFrameLocks noChangeAspect="1"/>
          </p:cNvGraphicFramePr>
          <p:nvPr/>
        </p:nvGraphicFramePr>
        <p:xfrm>
          <a:off x="5153025" y="1746250"/>
          <a:ext cx="1781175" cy="920750"/>
        </p:xfrm>
        <a:graphic>
          <a:graphicData uri="http://schemas.openxmlformats.org/presentationml/2006/ole">
            <p:oleObj spid="_x0000_s4102" name="Equation" r:id="rId8" imgW="1384200" imgH="711000" progId="Equation.3">
              <p:embed/>
            </p:oleObj>
          </a:graphicData>
        </a:graphic>
      </p:graphicFrame>
      <p:sp>
        <p:nvSpPr>
          <p:cNvPr id="4130" name="Rectangle 37"/>
          <p:cNvSpPr>
            <a:spLocks noChangeArrowheads="1"/>
          </p:cNvSpPr>
          <p:nvPr/>
        </p:nvSpPr>
        <p:spPr bwMode="auto">
          <a:xfrm>
            <a:off x="2514600" y="1752600"/>
            <a:ext cx="1219200" cy="228600"/>
          </a:xfrm>
          <a:prstGeom prst="rect">
            <a:avLst/>
          </a:prstGeom>
          <a:noFill/>
          <a:ln w="9525" algn="ctr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Calibri" pitchFamily="34" charset="0"/>
            </a:endParaRPr>
          </a:p>
        </p:txBody>
      </p:sp>
      <p:sp>
        <p:nvSpPr>
          <p:cNvPr id="4131" name="Rectangle 38"/>
          <p:cNvSpPr>
            <a:spLocks noChangeArrowheads="1"/>
          </p:cNvSpPr>
          <p:nvPr/>
        </p:nvSpPr>
        <p:spPr bwMode="auto">
          <a:xfrm>
            <a:off x="4267200" y="1752600"/>
            <a:ext cx="381000" cy="838200"/>
          </a:xfrm>
          <a:prstGeom prst="rect">
            <a:avLst/>
          </a:prstGeom>
          <a:noFill/>
          <a:ln w="9525" algn="ctr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Calibri" pitchFamily="34" charset="0"/>
            </a:endParaRPr>
          </a:p>
        </p:txBody>
      </p:sp>
      <p:sp>
        <p:nvSpPr>
          <p:cNvPr id="4132" name="Rectangle 39"/>
          <p:cNvSpPr>
            <a:spLocks noChangeArrowheads="1"/>
          </p:cNvSpPr>
          <p:nvPr/>
        </p:nvSpPr>
        <p:spPr bwMode="auto">
          <a:xfrm>
            <a:off x="5943600" y="1752600"/>
            <a:ext cx="381000" cy="304800"/>
          </a:xfrm>
          <a:prstGeom prst="rect">
            <a:avLst/>
          </a:prstGeom>
          <a:noFill/>
          <a:ln w="9525" algn="ctr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Calibri" pitchFamily="34" charset="0"/>
            </a:endParaRPr>
          </a:p>
        </p:txBody>
      </p:sp>
      <p:sp>
        <p:nvSpPr>
          <p:cNvPr id="4133" name="Text Box 40"/>
          <p:cNvSpPr txBox="1">
            <a:spLocks noChangeArrowheads="1"/>
          </p:cNvSpPr>
          <p:nvPr/>
        </p:nvSpPr>
        <p:spPr bwMode="auto">
          <a:xfrm>
            <a:off x="4400550" y="1371600"/>
            <a:ext cx="3152775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400">
                <a:latin typeface="Calibri" pitchFamily="34" charset="0"/>
                <a:ea typeface="新細明體" pitchFamily="18" charset="-120"/>
              </a:rPr>
              <a:t>(</a:t>
            </a:r>
            <a:r>
              <a:rPr lang="en-US" altLang="zh-TW" sz="1400" b="1">
                <a:solidFill>
                  <a:srgbClr val="FFFF00"/>
                </a:solidFill>
                <a:latin typeface="Calibri" pitchFamily="34" charset="0"/>
                <a:ea typeface="新細明體" pitchFamily="18" charset="-120"/>
              </a:rPr>
              <a:t>0</a:t>
            </a:r>
            <a:r>
              <a:rPr lang="en-US" altLang="zh-TW" sz="1400">
                <a:latin typeface="Calibri" pitchFamily="34" charset="0"/>
                <a:ea typeface="新細明體" pitchFamily="18" charset="-120"/>
              </a:rPr>
              <a:t>0 x 0</a:t>
            </a:r>
            <a:r>
              <a:rPr lang="en-US" altLang="zh-TW" sz="1400" b="1">
                <a:solidFill>
                  <a:srgbClr val="FFFF00"/>
                </a:solidFill>
                <a:latin typeface="Calibri" pitchFamily="34" charset="0"/>
                <a:ea typeface="新細明體" pitchFamily="18" charset="-120"/>
              </a:rPr>
              <a:t>1</a:t>
            </a:r>
            <a:r>
              <a:rPr lang="en-US" altLang="zh-TW" sz="1400">
                <a:latin typeface="Calibri" pitchFamily="34" charset="0"/>
                <a:ea typeface="新細明體" pitchFamily="18" charset="-120"/>
              </a:rPr>
              <a:t>) + (</a:t>
            </a:r>
            <a:r>
              <a:rPr lang="en-US" altLang="zh-TW" sz="1400" b="1">
                <a:solidFill>
                  <a:srgbClr val="FFFF00"/>
                </a:solidFill>
                <a:latin typeface="Calibri" pitchFamily="34" charset="0"/>
                <a:ea typeface="新細明體" pitchFamily="18" charset="-120"/>
              </a:rPr>
              <a:t>0</a:t>
            </a:r>
            <a:r>
              <a:rPr lang="en-US" altLang="zh-TW" sz="1400">
                <a:latin typeface="Calibri" pitchFamily="34" charset="0"/>
                <a:ea typeface="新細明體" pitchFamily="18" charset="-120"/>
              </a:rPr>
              <a:t>1 x 1</a:t>
            </a:r>
            <a:r>
              <a:rPr lang="en-US" altLang="zh-TW" sz="1400" b="1">
                <a:solidFill>
                  <a:srgbClr val="FFFF00"/>
                </a:solidFill>
                <a:latin typeface="Calibri" pitchFamily="34" charset="0"/>
                <a:ea typeface="新細明體" pitchFamily="18" charset="-120"/>
              </a:rPr>
              <a:t>1</a:t>
            </a:r>
            <a:r>
              <a:rPr lang="en-US" altLang="zh-TW" sz="1400">
                <a:latin typeface="Calibri" pitchFamily="34" charset="0"/>
                <a:ea typeface="新細明體" pitchFamily="18" charset="-120"/>
              </a:rPr>
              <a:t>) + (</a:t>
            </a:r>
            <a:r>
              <a:rPr lang="en-US" altLang="zh-TW" sz="1400" b="1">
                <a:solidFill>
                  <a:srgbClr val="FFFF00"/>
                </a:solidFill>
                <a:latin typeface="Calibri" pitchFamily="34" charset="0"/>
                <a:ea typeface="新細明體" pitchFamily="18" charset="-120"/>
              </a:rPr>
              <a:t>0</a:t>
            </a:r>
            <a:r>
              <a:rPr lang="en-US" altLang="zh-TW" sz="1400">
                <a:latin typeface="Calibri" pitchFamily="34" charset="0"/>
                <a:ea typeface="新細明體" pitchFamily="18" charset="-120"/>
              </a:rPr>
              <a:t>2 x 2</a:t>
            </a:r>
            <a:r>
              <a:rPr lang="en-US" altLang="zh-TW" sz="1400" b="1">
                <a:solidFill>
                  <a:srgbClr val="FFFF00"/>
                </a:solidFill>
                <a:latin typeface="Calibri" pitchFamily="34" charset="0"/>
                <a:ea typeface="新細明體" pitchFamily="18" charset="-120"/>
              </a:rPr>
              <a:t>1</a:t>
            </a:r>
            <a:r>
              <a:rPr lang="en-US" altLang="zh-TW" sz="1400">
                <a:latin typeface="Calibri" pitchFamily="34" charset="0"/>
                <a:ea typeface="新細明體" pitchFamily="18" charset="-120"/>
              </a:rPr>
              <a:t>) </a:t>
            </a:r>
            <a:r>
              <a:rPr lang="en-US" altLang="zh-TW" sz="1400">
                <a:latin typeface="Calibri" pitchFamily="34" charset="0"/>
                <a:ea typeface="新細明體" pitchFamily="18" charset="-120"/>
                <a:sym typeface="Wingdings" pitchFamily="2" charset="2"/>
              </a:rPr>
              <a:t> </a:t>
            </a:r>
            <a:r>
              <a:rPr lang="en-US" altLang="zh-TW" sz="1400" b="1">
                <a:solidFill>
                  <a:srgbClr val="FFFF00"/>
                </a:solidFill>
                <a:latin typeface="Calibri" pitchFamily="34" charset="0"/>
                <a:ea typeface="新細明體" pitchFamily="18" charset="-120"/>
                <a:sym typeface="Wingdings" pitchFamily="2" charset="2"/>
              </a:rPr>
              <a:t>01</a:t>
            </a:r>
            <a:endParaRPr lang="en-US" altLang="zh-TW" sz="1400" b="1">
              <a:solidFill>
                <a:srgbClr val="FFFF00"/>
              </a:solidFill>
              <a:latin typeface="Calibri" pitchFamily="34" charset="0"/>
              <a:ea typeface="新細明體" pitchFamily="18" charset="-120"/>
            </a:endParaRPr>
          </a:p>
        </p:txBody>
      </p:sp>
      <p:sp>
        <p:nvSpPr>
          <p:cNvPr id="4134" name="Rectangle 42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graphicFrame>
        <p:nvGraphicFramePr>
          <p:cNvPr id="4103" name="Object 7"/>
          <p:cNvGraphicFramePr>
            <a:graphicFrameLocks noChangeAspect="1"/>
          </p:cNvGraphicFramePr>
          <p:nvPr/>
        </p:nvGraphicFramePr>
        <p:xfrm>
          <a:off x="5181600" y="2743200"/>
          <a:ext cx="2286000" cy="914400"/>
        </p:xfrm>
        <a:graphic>
          <a:graphicData uri="http://schemas.openxmlformats.org/presentationml/2006/ole">
            <p:oleObj spid="_x0000_s4103" name="Equation" r:id="rId9" imgW="1841500" imgH="711200" progId="Equation.3">
              <p:embed/>
            </p:oleObj>
          </a:graphicData>
        </a:graphic>
      </p:graphicFrame>
      <p:sp>
        <p:nvSpPr>
          <p:cNvPr id="4135" name="Rectangle 43"/>
          <p:cNvSpPr>
            <a:spLocks noChangeArrowheads="1"/>
          </p:cNvSpPr>
          <p:nvPr/>
        </p:nvSpPr>
        <p:spPr bwMode="auto">
          <a:xfrm>
            <a:off x="6096000" y="2743200"/>
            <a:ext cx="609600" cy="304800"/>
          </a:xfrm>
          <a:prstGeom prst="rect">
            <a:avLst/>
          </a:prstGeom>
          <a:noFill/>
          <a:ln w="9525" algn="ctr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Calibri" pitchFamily="34" charset="0"/>
            </a:endParaRPr>
          </a:p>
        </p:txBody>
      </p:sp>
      <p:pic>
        <p:nvPicPr>
          <p:cNvPr id="4136" name="Picture 44" descr="NA00267_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467600" y="381000"/>
            <a:ext cx="1223963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TW" smtClean="0"/>
              <a:t>Weather Forecasting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382000" cy="2362200"/>
          </a:xfrm>
        </p:spPr>
        <p:txBody>
          <a:bodyPr/>
          <a:lstStyle/>
          <a:p>
            <a:pPr eaLnBrk="1" hangingPunct="1"/>
            <a:r>
              <a:rPr lang="en-US" altLang="zh-TW" sz="2000" smtClean="0"/>
              <a:t>Weather forecasting  example:</a:t>
            </a:r>
          </a:p>
          <a:p>
            <a:pPr lvl="1" eaLnBrk="1" hangingPunct="1"/>
            <a:r>
              <a:rPr lang="en-US" altLang="zh-TW" sz="1800" smtClean="0"/>
              <a:t>What is the probability that today is cloudy?</a:t>
            </a:r>
          </a:p>
          <a:p>
            <a:pPr lvl="1" eaLnBrk="1" hangingPunct="1"/>
            <a:r>
              <a:rPr lang="en-US" altLang="zh-TW" sz="1800" smtClean="0"/>
              <a:t>There are infinite number of days before today. </a:t>
            </a:r>
          </a:p>
          <a:p>
            <a:pPr lvl="1" eaLnBrk="1" hangingPunct="1"/>
            <a:r>
              <a:rPr lang="en-US" altLang="zh-TW" sz="1800" smtClean="0"/>
              <a:t>It is equivalent to ask the probability after infinite number of days.</a:t>
            </a:r>
          </a:p>
          <a:p>
            <a:pPr lvl="1" eaLnBrk="1" hangingPunct="1"/>
            <a:r>
              <a:rPr lang="en-US" altLang="zh-TW" sz="1800" smtClean="0"/>
              <a:t>We do not care the “start state” as it brings little effect when there are infinite number of states.</a:t>
            </a:r>
          </a:p>
          <a:p>
            <a:pPr lvl="1" eaLnBrk="1" hangingPunct="1"/>
            <a:r>
              <a:rPr lang="en-US" altLang="zh-TW" sz="1800" smtClean="0"/>
              <a:t>We call it the “Limiting probability” when the machine becomes steady.</a:t>
            </a:r>
          </a:p>
        </p:txBody>
      </p:sp>
      <p:sp>
        <p:nvSpPr>
          <p:cNvPr id="18436" name="Oval 4"/>
          <p:cNvSpPr>
            <a:spLocks noChangeArrowheads="1"/>
          </p:cNvSpPr>
          <p:nvPr/>
        </p:nvSpPr>
        <p:spPr bwMode="auto">
          <a:xfrm>
            <a:off x="1981200" y="4875213"/>
            <a:ext cx="7620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sunny</a:t>
            </a:r>
            <a:endParaRPr lang="en-US" altLang="zh-TW" baseline="-25000">
              <a:latin typeface="Calibri" pitchFamily="34" charset="0"/>
              <a:ea typeface="新細明體" pitchFamily="18" charset="-120"/>
            </a:endParaRPr>
          </a:p>
        </p:txBody>
      </p:sp>
      <p:sp>
        <p:nvSpPr>
          <p:cNvPr id="18437" name="Oval 5"/>
          <p:cNvSpPr>
            <a:spLocks noChangeArrowheads="1"/>
          </p:cNvSpPr>
          <p:nvPr/>
        </p:nvSpPr>
        <p:spPr bwMode="auto">
          <a:xfrm>
            <a:off x="4267200" y="4875213"/>
            <a:ext cx="7620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rainy</a:t>
            </a:r>
            <a:endParaRPr lang="en-US" altLang="zh-TW" baseline="-25000">
              <a:latin typeface="Calibri" pitchFamily="34" charset="0"/>
              <a:ea typeface="新細明體" pitchFamily="18" charset="-120"/>
            </a:endParaRPr>
          </a:p>
        </p:txBody>
      </p:sp>
      <p:cxnSp>
        <p:nvCxnSpPr>
          <p:cNvPr id="18438" name="AutoShape 6"/>
          <p:cNvCxnSpPr>
            <a:cxnSpLocks noChangeShapeType="1"/>
            <a:stCxn id="18436" idx="0"/>
          </p:cNvCxnSpPr>
          <p:nvPr/>
        </p:nvCxnSpPr>
        <p:spPr bwMode="auto">
          <a:xfrm rot="5400000" flipV="1">
            <a:off x="4609306" y="2628107"/>
            <a:ext cx="1587" cy="4495800"/>
          </a:xfrm>
          <a:prstGeom prst="curvedConnector3">
            <a:avLst>
              <a:gd name="adj1" fmla="val -56300014"/>
            </a:avLst>
          </a:prstGeom>
          <a:noFill/>
          <a:ln w="31750">
            <a:solidFill>
              <a:srgbClr val="C0C0C0"/>
            </a:solidFill>
            <a:round/>
            <a:headEnd/>
            <a:tailEnd type="triangle" w="med" len="med"/>
          </a:ln>
        </p:spPr>
      </p:cxnSp>
      <p:cxnSp>
        <p:nvCxnSpPr>
          <p:cNvPr id="18439" name="AutoShape 7"/>
          <p:cNvCxnSpPr>
            <a:cxnSpLocks noChangeShapeType="1"/>
            <a:stCxn id="18436" idx="0"/>
            <a:endCxn id="18436" idx="2"/>
          </p:cNvCxnSpPr>
          <p:nvPr/>
        </p:nvCxnSpPr>
        <p:spPr bwMode="auto">
          <a:xfrm rot="-5400000" flipH="1" flipV="1">
            <a:off x="1981200" y="4875213"/>
            <a:ext cx="381000" cy="381000"/>
          </a:xfrm>
          <a:prstGeom prst="curvedConnector4">
            <a:avLst>
              <a:gd name="adj1" fmla="val -60000"/>
              <a:gd name="adj2" fmla="val 160000"/>
            </a:avLst>
          </a:prstGeom>
          <a:noFill/>
          <a:ln w="31750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18440" name="AutoShape 8"/>
          <p:cNvCxnSpPr>
            <a:cxnSpLocks noChangeShapeType="1"/>
            <a:endCxn id="18436" idx="4"/>
          </p:cNvCxnSpPr>
          <p:nvPr/>
        </p:nvCxnSpPr>
        <p:spPr bwMode="auto">
          <a:xfrm rot="5400000">
            <a:off x="4609306" y="3390107"/>
            <a:ext cx="1587" cy="4495800"/>
          </a:xfrm>
          <a:prstGeom prst="curvedConnector3">
            <a:avLst>
              <a:gd name="adj1" fmla="val 50600014"/>
            </a:avLst>
          </a:prstGeom>
          <a:noFill/>
          <a:ln w="31750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18441" name="AutoShape 9"/>
          <p:cNvCxnSpPr>
            <a:cxnSpLocks noChangeShapeType="1"/>
          </p:cNvCxnSpPr>
          <p:nvPr/>
        </p:nvCxnSpPr>
        <p:spPr bwMode="auto">
          <a:xfrm rot="5400000" flipH="1" flipV="1">
            <a:off x="6858000" y="5256213"/>
            <a:ext cx="381000" cy="381000"/>
          </a:xfrm>
          <a:prstGeom prst="curvedConnector4">
            <a:avLst>
              <a:gd name="adj1" fmla="val -60000"/>
              <a:gd name="adj2" fmla="val 160000"/>
            </a:avLst>
          </a:prstGeom>
          <a:noFill/>
          <a:ln w="31750">
            <a:solidFill>
              <a:srgbClr val="C0C0C0"/>
            </a:solidFill>
            <a:round/>
            <a:headEnd/>
            <a:tailEnd type="triangle" w="med" len="med"/>
          </a:ln>
        </p:spPr>
      </p:cxnSp>
      <p:cxnSp>
        <p:nvCxnSpPr>
          <p:cNvPr id="18442" name="AutoShape 10"/>
          <p:cNvCxnSpPr>
            <a:cxnSpLocks noChangeShapeType="1"/>
            <a:stCxn id="18437" idx="6"/>
            <a:endCxn id="18437" idx="0"/>
          </p:cNvCxnSpPr>
          <p:nvPr/>
        </p:nvCxnSpPr>
        <p:spPr bwMode="auto">
          <a:xfrm flipH="1" flipV="1">
            <a:off x="4648200" y="4875213"/>
            <a:ext cx="381000" cy="381000"/>
          </a:xfrm>
          <a:prstGeom prst="curvedConnector4">
            <a:avLst>
              <a:gd name="adj1" fmla="val -60000"/>
              <a:gd name="adj2" fmla="val 160000"/>
            </a:avLst>
          </a:prstGeom>
          <a:noFill/>
          <a:ln w="31750">
            <a:solidFill>
              <a:srgbClr val="FFFF00"/>
            </a:solidFill>
            <a:round/>
            <a:headEnd/>
            <a:tailEnd type="triangle" w="med" len="med"/>
          </a:ln>
        </p:spPr>
      </p:cxnSp>
      <p:cxnSp>
        <p:nvCxnSpPr>
          <p:cNvPr id="18443" name="AutoShape 11"/>
          <p:cNvCxnSpPr>
            <a:cxnSpLocks noChangeShapeType="1"/>
            <a:stCxn id="18436" idx="7"/>
            <a:endCxn id="18437" idx="1"/>
          </p:cNvCxnSpPr>
          <p:nvPr/>
        </p:nvCxnSpPr>
        <p:spPr bwMode="auto">
          <a:xfrm rot="5400000" flipV="1">
            <a:off x="3504406" y="4114007"/>
            <a:ext cx="1587" cy="1746250"/>
          </a:xfrm>
          <a:prstGeom prst="curvedConnector3">
            <a:avLst>
              <a:gd name="adj1" fmla="val -21400009"/>
            </a:avLst>
          </a:prstGeom>
          <a:noFill/>
          <a:ln w="31750">
            <a:solidFill>
              <a:srgbClr val="FFFF00"/>
            </a:solidFill>
            <a:round/>
            <a:headEnd/>
            <a:tailEnd type="triangle" w="med" len="med"/>
          </a:ln>
        </p:spPr>
      </p:cxnSp>
      <p:cxnSp>
        <p:nvCxnSpPr>
          <p:cNvPr id="18444" name="AutoShape 12"/>
          <p:cNvCxnSpPr>
            <a:cxnSpLocks noChangeShapeType="1"/>
            <a:stCxn id="18437" idx="6"/>
          </p:cNvCxnSpPr>
          <p:nvPr/>
        </p:nvCxnSpPr>
        <p:spPr bwMode="auto">
          <a:xfrm>
            <a:off x="5029200" y="5256213"/>
            <a:ext cx="1447800" cy="0"/>
          </a:xfrm>
          <a:prstGeom prst="straightConnector1">
            <a:avLst/>
          </a:prstGeom>
          <a:noFill/>
          <a:ln w="31750">
            <a:solidFill>
              <a:srgbClr val="C0C0C0"/>
            </a:solidFill>
            <a:round/>
            <a:headEnd/>
            <a:tailEnd type="triangle" w="med" len="med"/>
          </a:ln>
        </p:spPr>
      </p:cxnSp>
      <p:cxnSp>
        <p:nvCxnSpPr>
          <p:cNvPr id="18445" name="AutoShape 13"/>
          <p:cNvCxnSpPr>
            <a:cxnSpLocks noChangeShapeType="1"/>
            <a:stCxn id="18437" idx="2"/>
            <a:endCxn id="18436" idx="6"/>
          </p:cNvCxnSpPr>
          <p:nvPr/>
        </p:nvCxnSpPr>
        <p:spPr bwMode="auto">
          <a:xfrm flipH="1">
            <a:off x="2743200" y="5256213"/>
            <a:ext cx="1524000" cy="0"/>
          </a:xfrm>
          <a:prstGeom prst="straightConnector1">
            <a:avLst/>
          </a:prstGeom>
          <a:noFill/>
          <a:ln w="31750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18446" name="AutoShape 14"/>
          <p:cNvCxnSpPr>
            <a:cxnSpLocks noChangeShapeType="1"/>
            <a:endCxn id="18437" idx="5"/>
          </p:cNvCxnSpPr>
          <p:nvPr/>
        </p:nvCxnSpPr>
        <p:spPr bwMode="auto">
          <a:xfrm rot="5400000">
            <a:off x="5752306" y="4691857"/>
            <a:ext cx="1587" cy="1670050"/>
          </a:xfrm>
          <a:prstGeom prst="curvedConnector3">
            <a:avLst>
              <a:gd name="adj1" fmla="val 21400009"/>
            </a:avLst>
          </a:prstGeom>
          <a:noFill/>
          <a:ln w="31750">
            <a:solidFill>
              <a:srgbClr val="FFFF00"/>
            </a:solidFill>
            <a:round/>
            <a:headEnd/>
            <a:tailEnd type="triangle" w="med" len="med"/>
          </a:ln>
        </p:spPr>
      </p:cxnSp>
      <p:sp>
        <p:nvSpPr>
          <p:cNvPr id="18447" name="Text Box 15"/>
          <p:cNvSpPr txBox="1">
            <a:spLocks noChangeArrowheads="1"/>
          </p:cNvSpPr>
          <p:nvPr/>
        </p:nvSpPr>
        <p:spPr bwMode="auto">
          <a:xfrm>
            <a:off x="1504950" y="42814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0.5</a:t>
            </a:r>
          </a:p>
        </p:txBody>
      </p:sp>
      <p:sp>
        <p:nvSpPr>
          <p:cNvPr id="18448" name="Text Box 16"/>
          <p:cNvSpPr txBox="1">
            <a:spLocks noChangeArrowheads="1"/>
          </p:cNvSpPr>
          <p:nvPr/>
        </p:nvSpPr>
        <p:spPr bwMode="auto">
          <a:xfrm>
            <a:off x="3333750" y="52720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0.3</a:t>
            </a:r>
          </a:p>
        </p:txBody>
      </p:sp>
      <p:sp>
        <p:nvSpPr>
          <p:cNvPr id="18449" name="Text Box 17"/>
          <p:cNvSpPr txBox="1">
            <a:spLocks noChangeArrowheads="1"/>
          </p:cNvSpPr>
          <p:nvPr/>
        </p:nvSpPr>
        <p:spPr bwMode="auto">
          <a:xfrm>
            <a:off x="3365500" y="4738688"/>
            <a:ext cx="5651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0.4</a:t>
            </a:r>
          </a:p>
        </p:txBody>
      </p:sp>
      <p:sp>
        <p:nvSpPr>
          <p:cNvPr id="18450" name="Text Box 18"/>
          <p:cNvSpPr txBox="1">
            <a:spLocks noChangeArrowheads="1"/>
          </p:cNvSpPr>
          <p:nvPr/>
        </p:nvSpPr>
        <p:spPr bwMode="auto">
          <a:xfrm>
            <a:off x="5619750" y="48148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0.3</a:t>
            </a:r>
          </a:p>
        </p:txBody>
      </p:sp>
      <p:sp>
        <p:nvSpPr>
          <p:cNvPr id="18451" name="Text Box 19"/>
          <p:cNvSpPr txBox="1">
            <a:spLocks noChangeArrowheads="1"/>
          </p:cNvSpPr>
          <p:nvPr/>
        </p:nvSpPr>
        <p:spPr bwMode="auto">
          <a:xfrm>
            <a:off x="5619750" y="54244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0.3</a:t>
            </a:r>
          </a:p>
        </p:txBody>
      </p:sp>
      <p:sp>
        <p:nvSpPr>
          <p:cNvPr id="18452" name="Text Box 20"/>
          <p:cNvSpPr txBox="1">
            <a:spLocks noChangeArrowheads="1"/>
          </p:cNvSpPr>
          <p:nvPr/>
        </p:nvSpPr>
        <p:spPr bwMode="auto">
          <a:xfrm>
            <a:off x="4433888" y="42814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0.4</a:t>
            </a:r>
          </a:p>
        </p:txBody>
      </p:sp>
      <p:sp>
        <p:nvSpPr>
          <p:cNvPr id="18453" name="Text Box 22"/>
          <p:cNvSpPr txBox="1">
            <a:spLocks noChangeArrowheads="1"/>
          </p:cNvSpPr>
          <p:nvPr/>
        </p:nvSpPr>
        <p:spPr bwMode="auto">
          <a:xfrm>
            <a:off x="4476750" y="60340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0.2</a:t>
            </a:r>
          </a:p>
        </p:txBody>
      </p:sp>
      <p:sp>
        <p:nvSpPr>
          <p:cNvPr id="18454" name="Oval 23"/>
          <p:cNvSpPr>
            <a:spLocks noChangeArrowheads="1"/>
          </p:cNvSpPr>
          <p:nvPr/>
        </p:nvSpPr>
        <p:spPr bwMode="auto">
          <a:xfrm>
            <a:off x="6477000" y="4876800"/>
            <a:ext cx="7620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cloudy</a:t>
            </a:r>
            <a:endParaRPr lang="en-US" altLang="zh-TW" baseline="-25000">
              <a:latin typeface="Calibri" pitchFamily="34" charset="0"/>
              <a:ea typeface="新細明體" pitchFamily="18" charset="-120"/>
            </a:endParaRPr>
          </a:p>
        </p:txBody>
      </p:sp>
      <p:sp>
        <p:nvSpPr>
          <p:cNvPr id="18455" name="Text Box 24"/>
          <p:cNvSpPr txBox="1">
            <a:spLocks noChangeArrowheads="1"/>
          </p:cNvSpPr>
          <p:nvPr/>
        </p:nvSpPr>
        <p:spPr bwMode="auto">
          <a:xfrm>
            <a:off x="7177088" y="58054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0.5</a:t>
            </a:r>
          </a:p>
        </p:txBody>
      </p:sp>
      <p:sp>
        <p:nvSpPr>
          <p:cNvPr id="18456" name="Rectangle 25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sp>
        <p:nvSpPr>
          <p:cNvPr id="18457" name="Rectangle 26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sp>
        <p:nvSpPr>
          <p:cNvPr id="18458" name="Rectangle 31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sp>
        <p:nvSpPr>
          <p:cNvPr id="18459" name="Rectangle 37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sp>
        <p:nvSpPr>
          <p:cNvPr id="18460" name="Text Box 41"/>
          <p:cNvSpPr txBox="1">
            <a:spLocks noChangeArrowheads="1"/>
          </p:cNvSpPr>
          <p:nvPr/>
        </p:nvSpPr>
        <p:spPr bwMode="auto">
          <a:xfrm>
            <a:off x="4400550" y="3581400"/>
            <a:ext cx="6286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0.1</a:t>
            </a:r>
          </a:p>
        </p:txBody>
      </p:sp>
      <p:pic>
        <p:nvPicPr>
          <p:cNvPr id="18461" name="Picture 42" descr="NA01268_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91400" y="457200"/>
            <a:ext cx="1600200" cy="99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TW" smtClean="0"/>
              <a:t>Weather Forecasting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382000" cy="2362200"/>
          </a:xfrm>
        </p:spPr>
        <p:txBody>
          <a:bodyPr/>
          <a:lstStyle/>
          <a:p>
            <a:pPr eaLnBrk="1" hangingPunct="1"/>
            <a:r>
              <a:rPr lang="en-US" altLang="zh-TW" sz="2000" smtClean="0"/>
              <a:t>Weather forecasting  example:</a:t>
            </a:r>
          </a:p>
          <a:p>
            <a:pPr lvl="1" eaLnBrk="1" hangingPunct="1"/>
            <a:r>
              <a:rPr lang="en-US" altLang="zh-TW" sz="1800" smtClean="0"/>
              <a:t>Since the start state is “don’t care”, instead of forming a 2-D matrix, the limiting probability is express a a single row matrix :</a:t>
            </a:r>
          </a:p>
          <a:p>
            <a:pPr lvl="1" eaLnBrk="1" hangingPunct="1"/>
            <a:endParaRPr lang="en-US" altLang="zh-TW" sz="1800" smtClean="0"/>
          </a:p>
          <a:p>
            <a:pPr lvl="1" eaLnBrk="1" hangingPunct="1"/>
            <a:endParaRPr lang="en-US" altLang="zh-TW" sz="1800" smtClean="0"/>
          </a:p>
          <a:p>
            <a:pPr lvl="1" eaLnBrk="1" hangingPunct="1"/>
            <a:r>
              <a:rPr lang="en-US" altLang="zh-TW" sz="1800" smtClean="0"/>
              <a:t>Since the machine is steady, the limiting probability does not change even it goes one more step.</a:t>
            </a:r>
          </a:p>
        </p:txBody>
      </p:sp>
      <p:sp>
        <p:nvSpPr>
          <p:cNvPr id="5125" name="Oval 4"/>
          <p:cNvSpPr>
            <a:spLocks noChangeArrowheads="1"/>
          </p:cNvSpPr>
          <p:nvPr/>
        </p:nvSpPr>
        <p:spPr bwMode="auto">
          <a:xfrm>
            <a:off x="1981200" y="4875213"/>
            <a:ext cx="7620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sunny</a:t>
            </a:r>
            <a:endParaRPr lang="en-US" altLang="zh-TW" baseline="-25000">
              <a:latin typeface="Calibri" pitchFamily="34" charset="0"/>
              <a:ea typeface="新細明體" pitchFamily="18" charset="-120"/>
            </a:endParaRPr>
          </a:p>
        </p:txBody>
      </p:sp>
      <p:sp>
        <p:nvSpPr>
          <p:cNvPr id="5126" name="Oval 5"/>
          <p:cNvSpPr>
            <a:spLocks noChangeArrowheads="1"/>
          </p:cNvSpPr>
          <p:nvPr/>
        </p:nvSpPr>
        <p:spPr bwMode="auto">
          <a:xfrm>
            <a:off x="4267200" y="4875213"/>
            <a:ext cx="7620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rainy</a:t>
            </a:r>
            <a:endParaRPr lang="en-US" altLang="zh-TW" baseline="-25000">
              <a:latin typeface="Calibri" pitchFamily="34" charset="0"/>
              <a:ea typeface="新細明體" pitchFamily="18" charset="-120"/>
            </a:endParaRPr>
          </a:p>
        </p:txBody>
      </p:sp>
      <p:cxnSp>
        <p:nvCxnSpPr>
          <p:cNvPr id="5127" name="AutoShape 6"/>
          <p:cNvCxnSpPr>
            <a:cxnSpLocks noChangeShapeType="1"/>
            <a:stCxn id="5125" idx="0"/>
          </p:cNvCxnSpPr>
          <p:nvPr/>
        </p:nvCxnSpPr>
        <p:spPr bwMode="auto">
          <a:xfrm rot="5400000" flipV="1">
            <a:off x="4609306" y="2628107"/>
            <a:ext cx="1587" cy="4495800"/>
          </a:xfrm>
          <a:prstGeom prst="curvedConnector3">
            <a:avLst>
              <a:gd name="adj1" fmla="val -56300014"/>
            </a:avLst>
          </a:prstGeom>
          <a:noFill/>
          <a:ln w="31750">
            <a:solidFill>
              <a:srgbClr val="C0C0C0"/>
            </a:solidFill>
            <a:round/>
            <a:headEnd/>
            <a:tailEnd type="triangle" w="med" len="med"/>
          </a:ln>
        </p:spPr>
      </p:cxnSp>
      <p:cxnSp>
        <p:nvCxnSpPr>
          <p:cNvPr id="5128" name="AutoShape 7"/>
          <p:cNvCxnSpPr>
            <a:cxnSpLocks noChangeShapeType="1"/>
            <a:stCxn id="5125" idx="0"/>
            <a:endCxn id="5125" idx="2"/>
          </p:cNvCxnSpPr>
          <p:nvPr/>
        </p:nvCxnSpPr>
        <p:spPr bwMode="auto">
          <a:xfrm rot="-5400000" flipH="1" flipV="1">
            <a:off x="1981200" y="4875213"/>
            <a:ext cx="381000" cy="381000"/>
          </a:xfrm>
          <a:prstGeom prst="curvedConnector4">
            <a:avLst>
              <a:gd name="adj1" fmla="val -60000"/>
              <a:gd name="adj2" fmla="val 160000"/>
            </a:avLst>
          </a:prstGeom>
          <a:noFill/>
          <a:ln w="31750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5129" name="AutoShape 8"/>
          <p:cNvCxnSpPr>
            <a:cxnSpLocks noChangeShapeType="1"/>
            <a:endCxn id="5125" idx="4"/>
          </p:cNvCxnSpPr>
          <p:nvPr/>
        </p:nvCxnSpPr>
        <p:spPr bwMode="auto">
          <a:xfrm rot="5400000">
            <a:off x="4609306" y="3390107"/>
            <a:ext cx="1587" cy="4495800"/>
          </a:xfrm>
          <a:prstGeom prst="curvedConnector3">
            <a:avLst>
              <a:gd name="adj1" fmla="val 50600014"/>
            </a:avLst>
          </a:prstGeom>
          <a:noFill/>
          <a:ln w="31750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5130" name="AutoShape 9"/>
          <p:cNvCxnSpPr>
            <a:cxnSpLocks noChangeShapeType="1"/>
          </p:cNvCxnSpPr>
          <p:nvPr/>
        </p:nvCxnSpPr>
        <p:spPr bwMode="auto">
          <a:xfrm rot="5400000" flipH="1" flipV="1">
            <a:off x="6858000" y="5256213"/>
            <a:ext cx="381000" cy="381000"/>
          </a:xfrm>
          <a:prstGeom prst="curvedConnector4">
            <a:avLst>
              <a:gd name="adj1" fmla="val -60000"/>
              <a:gd name="adj2" fmla="val 160000"/>
            </a:avLst>
          </a:prstGeom>
          <a:noFill/>
          <a:ln w="31750">
            <a:solidFill>
              <a:srgbClr val="C0C0C0"/>
            </a:solidFill>
            <a:round/>
            <a:headEnd/>
            <a:tailEnd type="triangle" w="med" len="med"/>
          </a:ln>
        </p:spPr>
      </p:cxnSp>
      <p:cxnSp>
        <p:nvCxnSpPr>
          <p:cNvPr id="5131" name="AutoShape 10"/>
          <p:cNvCxnSpPr>
            <a:cxnSpLocks noChangeShapeType="1"/>
            <a:stCxn id="5126" idx="6"/>
            <a:endCxn id="5126" idx="0"/>
          </p:cNvCxnSpPr>
          <p:nvPr/>
        </p:nvCxnSpPr>
        <p:spPr bwMode="auto">
          <a:xfrm flipH="1" flipV="1">
            <a:off x="4648200" y="4875213"/>
            <a:ext cx="381000" cy="381000"/>
          </a:xfrm>
          <a:prstGeom prst="curvedConnector4">
            <a:avLst>
              <a:gd name="adj1" fmla="val -60000"/>
              <a:gd name="adj2" fmla="val 160000"/>
            </a:avLst>
          </a:prstGeom>
          <a:noFill/>
          <a:ln w="31750">
            <a:solidFill>
              <a:srgbClr val="FFFF00"/>
            </a:solidFill>
            <a:round/>
            <a:headEnd/>
            <a:tailEnd type="triangle" w="med" len="med"/>
          </a:ln>
        </p:spPr>
      </p:cxnSp>
      <p:cxnSp>
        <p:nvCxnSpPr>
          <p:cNvPr id="5132" name="AutoShape 11"/>
          <p:cNvCxnSpPr>
            <a:cxnSpLocks noChangeShapeType="1"/>
            <a:stCxn id="5125" idx="7"/>
            <a:endCxn id="5126" idx="1"/>
          </p:cNvCxnSpPr>
          <p:nvPr/>
        </p:nvCxnSpPr>
        <p:spPr bwMode="auto">
          <a:xfrm rot="5400000" flipV="1">
            <a:off x="3504406" y="4114007"/>
            <a:ext cx="1587" cy="1746250"/>
          </a:xfrm>
          <a:prstGeom prst="curvedConnector3">
            <a:avLst>
              <a:gd name="adj1" fmla="val -21400009"/>
            </a:avLst>
          </a:prstGeom>
          <a:noFill/>
          <a:ln w="31750">
            <a:solidFill>
              <a:srgbClr val="FFFF00"/>
            </a:solidFill>
            <a:round/>
            <a:headEnd/>
            <a:tailEnd type="triangle" w="med" len="med"/>
          </a:ln>
        </p:spPr>
      </p:cxnSp>
      <p:cxnSp>
        <p:nvCxnSpPr>
          <p:cNvPr id="5133" name="AutoShape 12"/>
          <p:cNvCxnSpPr>
            <a:cxnSpLocks noChangeShapeType="1"/>
            <a:stCxn id="5126" idx="6"/>
          </p:cNvCxnSpPr>
          <p:nvPr/>
        </p:nvCxnSpPr>
        <p:spPr bwMode="auto">
          <a:xfrm>
            <a:off x="5029200" y="5256213"/>
            <a:ext cx="1447800" cy="0"/>
          </a:xfrm>
          <a:prstGeom prst="straightConnector1">
            <a:avLst/>
          </a:prstGeom>
          <a:noFill/>
          <a:ln w="31750">
            <a:solidFill>
              <a:srgbClr val="C0C0C0"/>
            </a:solidFill>
            <a:round/>
            <a:headEnd/>
            <a:tailEnd type="triangle" w="med" len="med"/>
          </a:ln>
        </p:spPr>
      </p:cxnSp>
      <p:cxnSp>
        <p:nvCxnSpPr>
          <p:cNvPr id="5134" name="AutoShape 13"/>
          <p:cNvCxnSpPr>
            <a:cxnSpLocks noChangeShapeType="1"/>
            <a:stCxn id="5126" idx="2"/>
            <a:endCxn id="5125" idx="6"/>
          </p:cNvCxnSpPr>
          <p:nvPr/>
        </p:nvCxnSpPr>
        <p:spPr bwMode="auto">
          <a:xfrm flipH="1">
            <a:off x="2743200" y="5256213"/>
            <a:ext cx="1524000" cy="0"/>
          </a:xfrm>
          <a:prstGeom prst="straightConnector1">
            <a:avLst/>
          </a:prstGeom>
          <a:noFill/>
          <a:ln w="31750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5135" name="AutoShape 14"/>
          <p:cNvCxnSpPr>
            <a:cxnSpLocks noChangeShapeType="1"/>
            <a:endCxn id="5126" idx="5"/>
          </p:cNvCxnSpPr>
          <p:nvPr/>
        </p:nvCxnSpPr>
        <p:spPr bwMode="auto">
          <a:xfrm rot="5400000">
            <a:off x="5752306" y="4691857"/>
            <a:ext cx="1587" cy="1670050"/>
          </a:xfrm>
          <a:prstGeom prst="curvedConnector3">
            <a:avLst>
              <a:gd name="adj1" fmla="val 21400009"/>
            </a:avLst>
          </a:prstGeom>
          <a:noFill/>
          <a:ln w="31750">
            <a:solidFill>
              <a:srgbClr val="FFFF00"/>
            </a:solidFill>
            <a:round/>
            <a:headEnd/>
            <a:tailEnd type="triangle" w="med" len="med"/>
          </a:ln>
        </p:spPr>
      </p:cxnSp>
      <p:sp>
        <p:nvSpPr>
          <p:cNvPr id="5136" name="Text Box 15"/>
          <p:cNvSpPr txBox="1">
            <a:spLocks noChangeArrowheads="1"/>
          </p:cNvSpPr>
          <p:nvPr/>
        </p:nvSpPr>
        <p:spPr bwMode="auto">
          <a:xfrm>
            <a:off x="1504950" y="42814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0.5</a:t>
            </a:r>
          </a:p>
        </p:txBody>
      </p:sp>
      <p:sp>
        <p:nvSpPr>
          <p:cNvPr id="5137" name="Text Box 16"/>
          <p:cNvSpPr txBox="1">
            <a:spLocks noChangeArrowheads="1"/>
          </p:cNvSpPr>
          <p:nvPr/>
        </p:nvSpPr>
        <p:spPr bwMode="auto">
          <a:xfrm>
            <a:off x="3333750" y="52720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0.3</a:t>
            </a:r>
          </a:p>
        </p:txBody>
      </p:sp>
      <p:sp>
        <p:nvSpPr>
          <p:cNvPr id="5138" name="Text Box 17"/>
          <p:cNvSpPr txBox="1">
            <a:spLocks noChangeArrowheads="1"/>
          </p:cNvSpPr>
          <p:nvPr/>
        </p:nvSpPr>
        <p:spPr bwMode="auto">
          <a:xfrm>
            <a:off x="3365500" y="4738688"/>
            <a:ext cx="5651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0.4</a:t>
            </a:r>
          </a:p>
        </p:txBody>
      </p:sp>
      <p:sp>
        <p:nvSpPr>
          <p:cNvPr id="5139" name="Text Box 18"/>
          <p:cNvSpPr txBox="1">
            <a:spLocks noChangeArrowheads="1"/>
          </p:cNvSpPr>
          <p:nvPr/>
        </p:nvSpPr>
        <p:spPr bwMode="auto">
          <a:xfrm>
            <a:off x="5619750" y="48148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0.3</a:t>
            </a:r>
          </a:p>
        </p:txBody>
      </p:sp>
      <p:sp>
        <p:nvSpPr>
          <p:cNvPr id="5140" name="Text Box 19"/>
          <p:cNvSpPr txBox="1">
            <a:spLocks noChangeArrowheads="1"/>
          </p:cNvSpPr>
          <p:nvPr/>
        </p:nvSpPr>
        <p:spPr bwMode="auto">
          <a:xfrm>
            <a:off x="5619750" y="54244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0.3</a:t>
            </a:r>
          </a:p>
        </p:txBody>
      </p:sp>
      <p:sp>
        <p:nvSpPr>
          <p:cNvPr id="5141" name="Text Box 20"/>
          <p:cNvSpPr txBox="1">
            <a:spLocks noChangeArrowheads="1"/>
          </p:cNvSpPr>
          <p:nvPr/>
        </p:nvSpPr>
        <p:spPr bwMode="auto">
          <a:xfrm>
            <a:off x="4433888" y="42814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0.4</a:t>
            </a:r>
          </a:p>
        </p:txBody>
      </p:sp>
      <p:sp>
        <p:nvSpPr>
          <p:cNvPr id="5142" name="Text Box 21"/>
          <p:cNvSpPr txBox="1">
            <a:spLocks noChangeArrowheads="1"/>
          </p:cNvSpPr>
          <p:nvPr/>
        </p:nvSpPr>
        <p:spPr bwMode="auto">
          <a:xfrm>
            <a:off x="4476750" y="60340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0.2</a:t>
            </a:r>
          </a:p>
        </p:txBody>
      </p:sp>
      <p:sp>
        <p:nvSpPr>
          <p:cNvPr id="5143" name="Oval 22"/>
          <p:cNvSpPr>
            <a:spLocks noChangeArrowheads="1"/>
          </p:cNvSpPr>
          <p:nvPr/>
        </p:nvSpPr>
        <p:spPr bwMode="auto">
          <a:xfrm>
            <a:off x="6477000" y="4876800"/>
            <a:ext cx="7620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cloudy</a:t>
            </a:r>
            <a:endParaRPr lang="en-US" altLang="zh-TW" baseline="-25000">
              <a:latin typeface="Calibri" pitchFamily="34" charset="0"/>
              <a:ea typeface="新細明體" pitchFamily="18" charset="-120"/>
            </a:endParaRPr>
          </a:p>
        </p:txBody>
      </p:sp>
      <p:sp>
        <p:nvSpPr>
          <p:cNvPr id="5144" name="Text Box 23"/>
          <p:cNvSpPr txBox="1">
            <a:spLocks noChangeArrowheads="1"/>
          </p:cNvSpPr>
          <p:nvPr/>
        </p:nvSpPr>
        <p:spPr bwMode="auto">
          <a:xfrm>
            <a:off x="7177088" y="58054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0.5</a:t>
            </a:r>
          </a:p>
        </p:txBody>
      </p:sp>
      <p:sp>
        <p:nvSpPr>
          <p:cNvPr id="5145" name="Rectangle 24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sp>
        <p:nvSpPr>
          <p:cNvPr id="5146" name="Rectangle 25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sp>
        <p:nvSpPr>
          <p:cNvPr id="5147" name="Rectangle 26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sp>
        <p:nvSpPr>
          <p:cNvPr id="5148" name="Rectangle 27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sp>
        <p:nvSpPr>
          <p:cNvPr id="5149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4419600" y="2438400"/>
          <a:ext cx="1219200" cy="390525"/>
        </p:xfrm>
        <a:graphic>
          <a:graphicData uri="http://schemas.openxmlformats.org/presentationml/2006/ole">
            <p:oleObj spid="_x0000_s5122" name="Equation" r:id="rId4" imgW="711200" imgH="228600" progId="Equation.3">
              <p:embed/>
            </p:oleObj>
          </a:graphicData>
        </a:graphic>
      </p:graphicFrame>
      <p:sp>
        <p:nvSpPr>
          <p:cNvPr id="5150" name="Text Box 30"/>
          <p:cNvSpPr txBox="1">
            <a:spLocks noChangeArrowheads="1"/>
          </p:cNvSpPr>
          <p:nvPr/>
        </p:nvSpPr>
        <p:spPr bwMode="auto">
          <a:xfrm>
            <a:off x="4400550" y="3581400"/>
            <a:ext cx="6286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0.1</a:t>
            </a:r>
          </a:p>
        </p:txBody>
      </p:sp>
      <p:pic>
        <p:nvPicPr>
          <p:cNvPr id="5151" name="Picture 32" descr="NA01268_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391400" y="457200"/>
            <a:ext cx="1600200" cy="99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TW" smtClean="0"/>
              <a:t>Weather Forecasting</a:t>
            </a:r>
          </a:p>
        </p:txBody>
      </p:sp>
      <p:sp>
        <p:nvSpPr>
          <p:cNvPr id="61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458200" cy="2286000"/>
          </a:xfrm>
        </p:spPr>
        <p:txBody>
          <a:bodyPr/>
          <a:lstStyle/>
          <a:p>
            <a:pPr eaLnBrk="1" hangingPunct="1"/>
            <a:r>
              <a:rPr lang="en-US" altLang="zh-TW" sz="2000" smtClean="0"/>
              <a:t>Weather forecasting  example:</a:t>
            </a:r>
          </a:p>
          <a:p>
            <a:pPr lvl="1" eaLnBrk="1" hangingPunct="1"/>
            <a:r>
              <a:rPr lang="en-US" altLang="zh-TW" sz="1800" smtClean="0"/>
              <a:t>So the limiting probability can be computed by:</a:t>
            </a:r>
          </a:p>
          <a:p>
            <a:pPr lvl="1" eaLnBrk="1" hangingPunct="1"/>
            <a:endParaRPr lang="en-US" altLang="zh-TW" sz="1800" smtClean="0"/>
          </a:p>
          <a:p>
            <a:pPr lvl="1" eaLnBrk="1" hangingPunct="1"/>
            <a:endParaRPr lang="en-US" altLang="zh-TW" sz="1800" smtClean="0"/>
          </a:p>
          <a:p>
            <a:pPr lvl="1" eaLnBrk="1" hangingPunct="1"/>
            <a:endParaRPr lang="en-US" altLang="zh-TW" sz="1800" smtClean="0"/>
          </a:p>
          <a:p>
            <a:pPr lvl="1" eaLnBrk="1" hangingPunct="1">
              <a:lnSpc>
                <a:spcPct val="120000"/>
              </a:lnSpc>
            </a:pPr>
            <a:r>
              <a:rPr lang="en-US" altLang="zh-TW" sz="1800" smtClean="0"/>
              <a:t>We have                                           </a:t>
            </a:r>
            <a:r>
              <a:rPr lang="en-US" altLang="zh-TW" sz="1800" smtClean="0">
                <a:sym typeface="Wingdings" pitchFamily="2" charset="2"/>
              </a:rPr>
              <a:t></a:t>
            </a:r>
            <a:r>
              <a:rPr lang="en-US" altLang="zh-TW" sz="1800" smtClean="0"/>
              <a:t> probability that today is cloudy = </a:t>
            </a:r>
          </a:p>
        </p:txBody>
      </p:sp>
      <p:sp>
        <p:nvSpPr>
          <p:cNvPr id="6153" name="Oval 4"/>
          <p:cNvSpPr>
            <a:spLocks noChangeArrowheads="1"/>
          </p:cNvSpPr>
          <p:nvPr/>
        </p:nvSpPr>
        <p:spPr bwMode="auto">
          <a:xfrm>
            <a:off x="1981200" y="4875213"/>
            <a:ext cx="7620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sunny</a:t>
            </a:r>
            <a:endParaRPr lang="en-US" altLang="zh-TW" baseline="-25000">
              <a:latin typeface="Calibri" pitchFamily="34" charset="0"/>
              <a:ea typeface="新細明體" pitchFamily="18" charset="-120"/>
            </a:endParaRPr>
          </a:p>
        </p:txBody>
      </p:sp>
      <p:sp>
        <p:nvSpPr>
          <p:cNvPr id="6154" name="Oval 5"/>
          <p:cNvSpPr>
            <a:spLocks noChangeArrowheads="1"/>
          </p:cNvSpPr>
          <p:nvPr/>
        </p:nvSpPr>
        <p:spPr bwMode="auto">
          <a:xfrm>
            <a:off x="4267200" y="4875213"/>
            <a:ext cx="7620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rainy</a:t>
            </a:r>
            <a:endParaRPr lang="en-US" altLang="zh-TW" baseline="-25000">
              <a:latin typeface="Calibri" pitchFamily="34" charset="0"/>
              <a:ea typeface="新細明體" pitchFamily="18" charset="-120"/>
            </a:endParaRPr>
          </a:p>
        </p:txBody>
      </p:sp>
      <p:cxnSp>
        <p:nvCxnSpPr>
          <p:cNvPr id="6155" name="AutoShape 6"/>
          <p:cNvCxnSpPr>
            <a:cxnSpLocks noChangeShapeType="1"/>
            <a:stCxn id="6153" idx="0"/>
          </p:cNvCxnSpPr>
          <p:nvPr/>
        </p:nvCxnSpPr>
        <p:spPr bwMode="auto">
          <a:xfrm rot="5400000" flipV="1">
            <a:off x="4609306" y="2628107"/>
            <a:ext cx="1587" cy="4495800"/>
          </a:xfrm>
          <a:prstGeom prst="curvedConnector3">
            <a:avLst>
              <a:gd name="adj1" fmla="val -56300014"/>
            </a:avLst>
          </a:prstGeom>
          <a:noFill/>
          <a:ln w="31750">
            <a:solidFill>
              <a:srgbClr val="C0C0C0"/>
            </a:solidFill>
            <a:round/>
            <a:headEnd/>
            <a:tailEnd type="triangle" w="med" len="med"/>
          </a:ln>
        </p:spPr>
      </p:cxnSp>
      <p:cxnSp>
        <p:nvCxnSpPr>
          <p:cNvPr id="6156" name="AutoShape 7"/>
          <p:cNvCxnSpPr>
            <a:cxnSpLocks noChangeShapeType="1"/>
            <a:stCxn id="6153" idx="0"/>
            <a:endCxn id="6153" idx="2"/>
          </p:cNvCxnSpPr>
          <p:nvPr/>
        </p:nvCxnSpPr>
        <p:spPr bwMode="auto">
          <a:xfrm rot="-5400000" flipH="1" flipV="1">
            <a:off x="1981200" y="4875213"/>
            <a:ext cx="381000" cy="381000"/>
          </a:xfrm>
          <a:prstGeom prst="curvedConnector4">
            <a:avLst>
              <a:gd name="adj1" fmla="val -60000"/>
              <a:gd name="adj2" fmla="val 160000"/>
            </a:avLst>
          </a:prstGeom>
          <a:noFill/>
          <a:ln w="31750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6157" name="AutoShape 8"/>
          <p:cNvCxnSpPr>
            <a:cxnSpLocks noChangeShapeType="1"/>
            <a:endCxn id="6153" idx="4"/>
          </p:cNvCxnSpPr>
          <p:nvPr/>
        </p:nvCxnSpPr>
        <p:spPr bwMode="auto">
          <a:xfrm rot="5400000">
            <a:off x="4609306" y="3390107"/>
            <a:ext cx="1587" cy="4495800"/>
          </a:xfrm>
          <a:prstGeom prst="curvedConnector3">
            <a:avLst>
              <a:gd name="adj1" fmla="val 50600014"/>
            </a:avLst>
          </a:prstGeom>
          <a:noFill/>
          <a:ln w="31750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6158" name="AutoShape 9"/>
          <p:cNvCxnSpPr>
            <a:cxnSpLocks noChangeShapeType="1"/>
          </p:cNvCxnSpPr>
          <p:nvPr/>
        </p:nvCxnSpPr>
        <p:spPr bwMode="auto">
          <a:xfrm rot="5400000" flipH="1" flipV="1">
            <a:off x="6858000" y="5256213"/>
            <a:ext cx="381000" cy="381000"/>
          </a:xfrm>
          <a:prstGeom prst="curvedConnector4">
            <a:avLst>
              <a:gd name="adj1" fmla="val -60000"/>
              <a:gd name="adj2" fmla="val 160000"/>
            </a:avLst>
          </a:prstGeom>
          <a:noFill/>
          <a:ln w="31750">
            <a:solidFill>
              <a:srgbClr val="C0C0C0"/>
            </a:solidFill>
            <a:round/>
            <a:headEnd/>
            <a:tailEnd type="triangle" w="med" len="med"/>
          </a:ln>
        </p:spPr>
      </p:cxnSp>
      <p:cxnSp>
        <p:nvCxnSpPr>
          <p:cNvPr id="6159" name="AutoShape 10"/>
          <p:cNvCxnSpPr>
            <a:cxnSpLocks noChangeShapeType="1"/>
            <a:stCxn id="6154" idx="6"/>
            <a:endCxn id="6154" idx="0"/>
          </p:cNvCxnSpPr>
          <p:nvPr/>
        </p:nvCxnSpPr>
        <p:spPr bwMode="auto">
          <a:xfrm flipH="1" flipV="1">
            <a:off x="4648200" y="4875213"/>
            <a:ext cx="381000" cy="381000"/>
          </a:xfrm>
          <a:prstGeom prst="curvedConnector4">
            <a:avLst>
              <a:gd name="adj1" fmla="val -60000"/>
              <a:gd name="adj2" fmla="val 160000"/>
            </a:avLst>
          </a:prstGeom>
          <a:noFill/>
          <a:ln w="31750">
            <a:solidFill>
              <a:srgbClr val="FFFF00"/>
            </a:solidFill>
            <a:round/>
            <a:headEnd/>
            <a:tailEnd type="triangle" w="med" len="med"/>
          </a:ln>
        </p:spPr>
      </p:cxnSp>
      <p:cxnSp>
        <p:nvCxnSpPr>
          <p:cNvPr id="6160" name="AutoShape 11"/>
          <p:cNvCxnSpPr>
            <a:cxnSpLocks noChangeShapeType="1"/>
            <a:stCxn id="6153" idx="7"/>
            <a:endCxn id="6154" idx="1"/>
          </p:cNvCxnSpPr>
          <p:nvPr/>
        </p:nvCxnSpPr>
        <p:spPr bwMode="auto">
          <a:xfrm rot="5400000" flipV="1">
            <a:off x="3504406" y="4114007"/>
            <a:ext cx="1587" cy="1746250"/>
          </a:xfrm>
          <a:prstGeom prst="curvedConnector3">
            <a:avLst>
              <a:gd name="adj1" fmla="val -21400009"/>
            </a:avLst>
          </a:prstGeom>
          <a:noFill/>
          <a:ln w="31750">
            <a:solidFill>
              <a:srgbClr val="FFFF00"/>
            </a:solidFill>
            <a:round/>
            <a:headEnd/>
            <a:tailEnd type="triangle" w="med" len="med"/>
          </a:ln>
        </p:spPr>
      </p:cxnSp>
      <p:cxnSp>
        <p:nvCxnSpPr>
          <p:cNvPr id="6161" name="AutoShape 12"/>
          <p:cNvCxnSpPr>
            <a:cxnSpLocks noChangeShapeType="1"/>
            <a:stCxn id="6154" idx="6"/>
          </p:cNvCxnSpPr>
          <p:nvPr/>
        </p:nvCxnSpPr>
        <p:spPr bwMode="auto">
          <a:xfrm>
            <a:off x="5029200" y="5256213"/>
            <a:ext cx="1447800" cy="0"/>
          </a:xfrm>
          <a:prstGeom prst="straightConnector1">
            <a:avLst/>
          </a:prstGeom>
          <a:noFill/>
          <a:ln w="31750">
            <a:solidFill>
              <a:srgbClr val="C0C0C0"/>
            </a:solidFill>
            <a:round/>
            <a:headEnd/>
            <a:tailEnd type="triangle" w="med" len="med"/>
          </a:ln>
        </p:spPr>
      </p:cxnSp>
      <p:cxnSp>
        <p:nvCxnSpPr>
          <p:cNvPr id="6162" name="AutoShape 13"/>
          <p:cNvCxnSpPr>
            <a:cxnSpLocks noChangeShapeType="1"/>
            <a:stCxn id="6154" idx="2"/>
            <a:endCxn id="6153" idx="6"/>
          </p:cNvCxnSpPr>
          <p:nvPr/>
        </p:nvCxnSpPr>
        <p:spPr bwMode="auto">
          <a:xfrm flipH="1">
            <a:off x="2743200" y="5256213"/>
            <a:ext cx="1524000" cy="0"/>
          </a:xfrm>
          <a:prstGeom prst="straightConnector1">
            <a:avLst/>
          </a:prstGeom>
          <a:noFill/>
          <a:ln w="31750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6163" name="AutoShape 14"/>
          <p:cNvCxnSpPr>
            <a:cxnSpLocks noChangeShapeType="1"/>
            <a:endCxn id="6154" idx="5"/>
          </p:cNvCxnSpPr>
          <p:nvPr/>
        </p:nvCxnSpPr>
        <p:spPr bwMode="auto">
          <a:xfrm rot="5400000">
            <a:off x="5752306" y="4691857"/>
            <a:ext cx="1587" cy="1670050"/>
          </a:xfrm>
          <a:prstGeom prst="curvedConnector3">
            <a:avLst>
              <a:gd name="adj1" fmla="val 21400009"/>
            </a:avLst>
          </a:prstGeom>
          <a:noFill/>
          <a:ln w="31750">
            <a:solidFill>
              <a:srgbClr val="FFFF00"/>
            </a:solidFill>
            <a:round/>
            <a:headEnd/>
            <a:tailEnd type="triangle" w="med" len="med"/>
          </a:ln>
        </p:spPr>
      </p:cxnSp>
      <p:sp>
        <p:nvSpPr>
          <p:cNvPr id="6164" name="Text Box 15"/>
          <p:cNvSpPr txBox="1">
            <a:spLocks noChangeArrowheads="1"/>
          </p:cNvSpPr>
          <p:nvPr/>
        </p:nvSpPr>
        <p:spPr bwMode="auto">
          <a:xfrm>
            <a:off x="1504950" y="42814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0.5</a:t>
            </a:r>
          </a:p>
        </p:txBody>
      </p:sp>
      <p:sp>
        <p:nvSpPr>
          <p:cNvPr id="6165" name="Text Box 16"/>
          <p:cNvSpPr txBox="1">
            <a:spLocks noChangeArrowheads="1"/>
          </p:cNvSpPr>
          <p:nvPr/>
        </p:nvSpPr>
        <p:spPr bwMode="auto">
          <a:xfrm>
            <a:off x="3333750" y="52720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0.3</a:t>
            </a:r>
          </a:p>
        </p:txBody>
      </p:sp>
      <p:sp>
        <p:nvSpPr>
          <p:cNvPr id="6166" name="Text Box 17"/>
          <p:cNvSpPr txBox="1">
            <a:spLocks noChangeArrowheads="1"/>
          </p:cNvSpPr>
          <p:nvPr/>
        </p:nvSpPr>
        <p:spPr bwMode="auto">
          <a:xfrm>
            <a:off x="3365500" y="4738688"/>
            <a:ext cx="5651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0.4</a:t>
            </a:r>
          </a:p>
        </p:txBody>
      </p:sp>
      <p:sp>
        <p:nvSpPr>
          <p:cNvPr id="6167" name="Text Box 18"/>
          <p:cNvSpPr txBox="1">
            <a:spLocks noChangeArrowheads="1"/>
          </p:cNvSpPr>
          <p:nvPr/>
        </p:nvSpPr>
        <p:spPr bwMode="auto">
          <a:xfrm>
            <a:off x="5619750" y="48148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0.3</a:t>
            </a:r>
          </a:p>
        </p:txBody>
      </p:sp>
      <p:sp>
        <p:nvSpPr>
          <p:cNvPr id="6168" name="Text Box 19"/>
          <p:cNvSpPr txBox="1">
            <a:spLocks noChangeArrowheads="1"/>
          </p:cNvSpPr>
          <p:nvPr/>
        </p:nvSpPr>
        <p:spPr bwMode="auto">
          <a:xfrm>
            <a:off x="5619750" y="54244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0.3</a:t>
            </a:r>
          </a:p>
        </p:txBody>
      </p:sp>
      <p:sp>
        <p:nvSpPr>
          <p:cNvPr id="6169" name="Text Box 20"/>
          <p:cNvSpPr txBox="1">
            <a:spLocks noChangeArrowheads="1"/>
          </p:cNvSpPr>
          <p:nvPr/>
        </p:nvSpPr>
        <p:spPr bwMode="auto">
          <a:xfrm>
            <a:off x="4433888" y="42814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0.4</a:t>
            </a:r>
          </a:p>
        </p:txBody>
      </p:sp>
      <p:sp>
        <p:nvSpPr>
          <p:cNvPr id="6170" name="Text Box 21"/>
          <p:cNvSpPr txBox="1">
            <a:spLocks noChangeArrowheads="1"/>
          </p:cNvSpPr>
          <p:nvPr/>
        </p:nvSpPr>
        <p:spPr bwMode="auto">
          <a:xfrm>
            <a:off x="4476750" y="60340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0.2</a:t>
            </a:r>
          </a:p>
        </p:txBody>
      </p:sp>
      <p:sp>
        <p:nvSpPr>
          <p:cNvPr id="6171" name="Oval 22"/>
          <p:cNvSpPr>
            <a:spLocks noChangeArrowheads="1"/>
          </p:cNvSpPr>
          <p:nvPr/>
        </p:nvSpPr>
        <p:spPr bwMode="auto">
          <a:xfrm>
            <a:off x="6477000" y="4876800"/>
            <a:ext cx="7620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cloudy</a:t>
            </a:r>
            <a:endParaRPr lang="en-US" altLang="zh-TW" baseline="-25000">
              <a:latin typeface="Calibri" pitchFamily="34" charset="0"/>
              <a:ea typeface="新細明體" pitchFamily="18" charset="-120"/>
            </a:endParaRPr>
          </a:p>
        </p:txBody>
      </p:sp>
      <p:sp>
        <p:nvSpPr>
          <p:cNvPr id="6172" name="Text Box 23"/>
          <p:cNvSpPr txBox="1">
            <a:spLocks noChangeArrowheads="1"/>
          </p:cNvSpPr>
          <p:nvPr/>
        </p:nvSpPr>
        <p:spPr bwMode="auto">
          <a:xfrm>
            <a:off x="7177088" y="5805488"/>
            <a:ext cx="628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0.5</a:t>
            </a:r>
          </a:p>
        </p:txBody>
      </p:sp>
      <p:sp>
        <p:nvSpPr>
          <p:cNvPr id="6173" name="Rectangle 24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sp>
        <p:nvSpPr>
          <p:cNvPr id="6174" name="Rectangle 25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sp>
        <p:nvSpPr>
          <p:cNvPr id="6175" name="Rectangle 26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sp>
        <p:nvSpPr>
          <p:cNvPr id="6176" name="Rectangle 27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sp>
        <p:nvSpPr>
          <p:cNvPr id="6177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sp>
        <p:nvSpPr>
          <p:cNvPr id="6178" name="Text Box 30"/>
          <p:cNvSpPr txBox="1">
            <a:spLocks noChangeArrowheads="1"/>
          </p:cNvSpPr>
          <p:nvPr/>
        </p:nvSpPr>
        <p:spPr bwMode="auto">
          <a:xfrm>
            <a:off x="4400550" y="3581400"/>
            <a:ext cx="6286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Calibri" pitchFamily="34" charset="0"/>
                <a:ea typeface="新細明體" pitchFamily="18" charset="-120"/>
              </a:rPr>
              <a:t>  0.1</a:t>
            </a:r>
          </a:p>
        </p:txBody>
      </p:sp>
      <p:grpSp>
        <p:nvGrpSpPr>
          <p:cNvPr id="6179" name="Group 36"/>
          <p:cNvGrpSpPr>
            <a:grpSpLocks/>
          </p:cNvGrpSpPr>
          <p:nvPr/>
        </p:nvGrpSpPr>
        <p:grpSpPr bwMode="auto">
          <a:xfrm>
            <a:off x="2971800" y="2057400"/>
            <a:ext cx="3638550" cy="890588"/>
            <a:chOff x="828" y="1344"/>
            <a:chExt cx="2292" cy="561"/>
          </a:xfrm>
        </p:grpSpPr>
        <p:graphicFrame>
          <p:nvGraphicFramePr>
            <p:cNvPr id="6148" name="Object 4"/>
            <p:cNvGraphicFramePr>
              <a:graphicFrameLocks noChangeAspect="1"/>
            </p:cNvGraphicFramePr>
            <p:nvPr/>
          </p:nvGraphicFramePr>
          <p:xfrm>
            <a:off x="828" y="1488"/>
            <a:ext cx="648" cy="215"/>
          </p:xfrm>
          <a:graphic>
            <a:graphicData uri="http://schemas.openxmlformats.org/presentationml/2006/ole">
              <p:oleObj spid="_x0000_s6148" name="Equation" r:id="rId4" imgW="685800" imgH="228600" progId="Equation.3">
                <p:embed/>
              </p:oleObj>
            </a:graphicData>
          </a:graphic>
        </p:graphicFrame>
        <p:graphicFrame>
          <p:nvGraphicFramePr>
            <p:cNvPr id="6149" name="Object 5"/>
            <p:cNvGraphicFramePr>
              <a:graphicFrameLocks noChangeAspect="1"/>
            </p:cNvGraphicFramePr>
            <p:nvPr/>
          </p:nvGraphicFramePr>
          <p:xfrm>
            <a:off x="1488" y="1344"/>
            <a:ext cx="816" cy="561"/>
          </p:xfrm>
          <a:graphic>
            <a:graphicData uri="http://schemas.openxmlformats.org/presentationml/2006/ole">
              <p:oleObj spid="_x0000_s6149" name="Equation" r:id="rId5" imgW="1040948" imgH="710891" progId="Equation.3">
                <p:embed/>
              </p:oleObj>
            </a:graphicData>
          </a:graphic>
        </p:graphicFrame>
        <p:graphicFrame>
          <p:nvGraphicFramePr>
            <p:cNvPr id="6150" name="Object 6"/>
            <p:cNvGraphicFramePr>
              <a:graphicFrameLocks noChangeAspect="1"/>
            </p:cNvGraphicFramePr>
            <p:nvPr/>
          </p:nvGraphicFramePr>
          <p:xfrm>
            <a:off x="2352" y="1488"/>
            <a:ext cx="768" cy="215"/>
          </p:xfrm>
          <a:graphic>
            <a:graphicData uri="http://schemas.openxmlformats.org/presentationml/2006/ole">
              <p:oleObj spid="_x0000_s6150" name="Equation" r:id="rId6" imgW="812520" imgH="228600" progId="Equation.3">
                <p:embed/>
              </p:oleObj>
            </a:graphicData>
          </a:graphic>
        </p:graphicFrame>
      </p:grpSp>
      <p:sp>
        <p:nvSpPr>
          <p:cNvPr id="6180" name="Rectangle 39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2143125" y="3000375"/>
          <a:ext cx="2133600" cy="506413"/>
        </p:xfrm>
        <a:graphic>
          <a:graphicData uri="http://schemas.openxmlformats.org/presentationml/2006/ole">
            <p:oleObj spid="_x0000_s6146" name="Equation" r:id="rId7" imgW="1651000" imgH="393700" progId="Equation.DSMT4">
              <p:embed/>
            </p:oleObj>
          </a:graphicData>
        </a:graphic>
      </p:graphicFrame>
      <p:sp>
        <p:nvSpPr>
          <p:cNvPr id="6181" name="Rectangle 41"/>
          <p:cNvSpPr>
            <a:spLocks noChangeArrowheads="1"/>
          </p:cNvSpPr>
          <p:nvPr/>
        </p:nvSpPr>
        <p:spPr bwMode="auto">
          <a:xfrm>
            <a:off x="0" y="327660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graphicFrame>
        <p:nvGraphicFramePr>
          <p:cNvPr id="6147" name="Object 3"/>
          <p:cNvGraphicFramePr>
            <a:graphicFrameLocks noChangeAspect="1"/>
          </p:cNvGraphicFramePr>
          <p:nvPr/>
        </p:nvGraphicFramePr>
        <p:xfrm>
          <a:off x="7786688" y="2928938"/>
          <a:ext cx="312737" cy="533400"/>
        </p:xfrm>
        <a:graphic>
          <a:graphicData uri="http://schemas.openxmlformats.org/presentationml/2006/ole">
            <p:oleObj spid="_x0000_s6147" name="Equation" r:id="rId8" imgW="228600" imgH="393480" progId="Equation.3">
              <p:embed/>
            </p:oleObj>
          </a:graphicData>
        </a:graphic>
      </p:graphicFrame>
      <p:pic>
        <p:nvPicPr>
          <p:cNvPr id="6182" name="Picture 42" descr="NA01268_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391400" y="457200"/>
            <a:ext cx="1600200" cy="99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Example 2: </a:t>
            </a:r>
            <a:br>
              <a:rPr lang="en-US" altLang="zh-CN" smtClean="0"/>
            </a:br>
            <a:r>
              <a:rPr lang="en-US" altLang="zh-CN" smtClean="0"/>
              <a:t>Enrollment Assessment </a:t>
            </a:r>
            <a:r>
              <a:rPr lang="en-US" altLang="zh-CN" baseline="30000" smtClean="0"/>
              <a:t>[1]</a:t>
            </a:r>
            <a:endParaRPr lang="zh-CN" altLang="en-US" baseline="30000" smtClean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smtClean="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Undergraduate Enrollment Model</a:t>
            </a:r>
          </a:p>
        </p:txBody>
      </p:sp>
      <p:grpSp>
        <p:nvGrpSpPr>
          <p:cNvPr id="2" name="组合 171"/>
          <p:cNvGrpSpPr>
            <a:grpSpLocks/>
          </p:cNvGrpSpPr>
          <p:nvPr/>
        </p:nvGrpSpPr>
        <p:grpSpPr bwMode="auto">
          <a:xfrm>
            <a:off x="3786188" y="5500688"/>
            <a:ext cx="1135062" cy="1004887"/>
            <a:chOff x="3428992" y="4786322"/>
            <a:chExt cx="1071570" cy="928694"/>
          </a:xfrm>
        </p:grpSpPr>
        <p:sp>
          <p:nvSpPr>
            <p:cNvPr id="40" name="椭圆 39"/>
            <p:cNvSpPr/>
            <p:nvPr/>
          </p:nvSpPr>
          <p:spPr>
            <a:xfrm>
              <a:off x="3500930" y="4786322"/>
              <a:ext cx="927695" cy="928694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0517" name="TextBox 47"/>
            <p:cNvSpPr txBox="1">
              <a:spLocks noChangeArrowheads="1"/>
            </p:cNvSpPr>
            <p:nvPr/>
          </p:nvSpPr>
          <p:spPr bwMode="auto">
            <a:xfrm>
              <a:off x="3428992" y="5072074"/>
              <a:ext cx="107157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>
                  <a:latin typeface="Calibri" pitchFamily="34" charset="0"/>
                </a:rPr>
                <a:t>Graduate</a:t>
              </a:r>
              <a:endParaRPr lang="zh-CN" altLang="en-US">
                <a:latin typeface="Calibri" pitchFamily="34" charset="0"/>
              </a:endParaRPr>
            </a:p>
          </p:txBody>
        </p:sp>
      </p:grpSp>
      <p:cxnSp>
        <p:nvCxnSpPr>
          <p:cNvPr id="23" name="直接箭头连接符 22"/>
          <p:cNvCxnSpPr/>
          <p:nvPr/>
        </p:nvCxnSpPr>
        <p:spPr>
          <a:xfrm>
            <a:off x="2197100" y="4148138"/>
            <a:ext cx="757238" cy="15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3937000" y="4148138"/>
            <a:ext cx="833438" cy="15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3" name="组合 210"/>
          <p:cNvGrpSpPr>
            <a:grpSpLocks/>
          </p:cNvGrpSpPr>
          <p:nvPr/>
        </p:nvGrpSpPr>
        <p:grpSpPr bwMode="auto">
          <a:xfrm>
            <a:off x="1136650" y="3644900"/>
            <a:ext cx="1211263" cy="1004888"/>
            <a:chOff x="1142976" y="3283782"/>
            <a:chExt cx="1211044" cy="1004816"/>
          </a:xfrm>
        </p:grpSpPr>
        <p:sp>
          <p:nvSpPr>
            <p:cNvPr id="19" name="椭圆 18"/>
            <p:cNvSpPr/>
            <p:nvPr/>
          </p:nvSpPr>
          <p:spPr>
            <a:xfrm>
              <a:off x="1219162" y="3283782"/>
              <a:ext cx="984072" cy="1004816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0515" name="TextBox 35"/>
            <p:cNvSpPr txBox="1">
              <a:spLocks noChangeArrowheads="1"/>
            </p:cNvSpPr>
            <p:nvPr/>
          </p:nvSpPr>
          <p:spPr bwMode="auto">
            <a:xfrm>
              <a:off x="1142976" y="3592956"/>
              <a:ext cx="1211044" cy="3996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>
                  <a:latin typeface="Calibri" pitchFamily="34" charset="0"/>
                </a:rPr>
                <a:t>Freshmen</a:t>
              </a:r>
              <a:endParaRPr lang="zh-CN" altLang="en-US">
                <a:latin typeface="Calibri" pitchFamily="34" charset="0"/>
              </a:endParaRPr>
            </a:p>
          </p:txBody>
        </p:sp>
      </p:grpSp>
      <p:grpSp>
        <p:nvGrpSpPr>
          <p:cNvPr id="4" name="组合 211"/>
          <p:cNvGrpSpPr>
            <a:grpSpLocks/>
          </p:cNvGrpSpPr>
          <p:nvPr/>
        </p:nvGrpSpPr>
        <p:grpSpPr bwMode="auto">
          <a:xfrm>
            <a:off x="2801938" y="3644900"/>
            <a:ext cx="1362075" cy="1004888"/>
            <a:chOff x="2808162" y="3283782"/>
            <a:chExt cx="1362425" cy="1004816"/>
          </a:xfrm>
        </p:grpSpPr>
        <p:sp>
          <p:nvSpPr>
            <p:cNvPr id="16" name="椭圆 15"/>
            <p:cNvSpPr/>
            <p:nvPr/>
          </p:nvSpPr>
          <p:spPr>
            <a:xfrm>
              <a:off x="2959013" y="3283782"/>
              <a:ext cx="984503" cy="100481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0513" name="TextBox 36"/>
            <p:cNvSpPr txBox="1">
              <a:spLocks noChangeArrowheads="1"/>
            </p:cNvSpPr>
            <p:nvPr/>
          </p:nvSpPr>
          <p:spPr bwMode="auto">
            <a:xfrm>
              <a:off x="2808162" y="3592956"/>
              <a:ext cx="1362425" cy="3996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>
                  <a:latin typeface="Calibri" pitchFamily="34" charset="0"/>
                </a:rPr>
                <a:t>Sophomore</a:t>
              </a:r>
              <a:endParaRPr lang="zh-CN" altLang="en-US">
                <a:latin typeface="Calibri" pitchFamily="34" charset="0"/>
              </a:endParaRPr>
            </a:p>
          </p:txBody>
        </p:sp>
      </p:grpSp>
      <p:grpSp>
        <p:nvGrpSpPr>
          <p:cNvPr id="5" name="组合 212"/>
          <p:cNvGrpSpPr>
            <a:grpSpLocks/>
          </p:cNvGrpSpPr>
          <p:nvPr/>
        </p:nvGrpSpPr>
        <p:grpSpPr bwMode="auto">
          <a:xfrm>
            <a:off x="4770438" y="3644900"/>
            <a:ext cx="984250" cy="1004888"/>
            <a:chOff x="4776109" y="3283782"/>
            <a:chExt cx="983973" cy="1004816"/>
          </a:xfrm>
        </p:grpSpPr>
        <p:sp>
          <p:nvSpPr>
            <p:cNvPr id="18" name="椭圆 17"/>
            <p:cNvSpPr/>
            <p:nvPr/>
          </p:nvSpPr>
          <p:spPr>
            <a:xfrm>
              <a:off x="4776109" y="3283782"/>
              <a:ext cx="983973" cy="1004816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0511" name="TextBox 37"/>
            <p:cNvSpPr txBox="1">
              <a:spLocks noChangeArrowheads="1"/>
            </p:cNvSpPr>
            <p:nvPr/>
          </p:nvSpPr>
          <p:spPr bwMode="auto">
            <a:xfrm>
              <a:off x="4851799" y="3592956"/>
              <a:ext cx="908283" cy="3996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>
                  <a:latin typeface="Calibri" pitchFamily="34" charset="0"/>
                </a:rPr>
                <a:t>Junior</a:t>
              </a:r>
              <a:endParaRPr lang="zh-CN" altLang="en-US">
                <a:latin typeface="Calibri" pitchFamily="34" charset="0"/>
              </a:endParaRPr>
            </a:p>
          </p:txBody>
        </p:sp>
      </p:grpSp>
      <p:cxnSp>
        <p:nvCxnSpPr>
          <p:cNvPr id="42" name="直接箭头连接符 41"/>
          <p:cNvCxnSpPr/>
          <p:nvPr/>
        </p:nvCxnSpPr>
        <p:spPr>
          <a:xfrm>
            <a:off x="5754688" y="4148138"/>
            <a:ext cx="755650" cy="15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6" name="组合 213"/>
          <p:cNvGrpSpPr>
            <a:grpSpLocks/>
          </p:cNvGrpSpPr>
          <p:nvPr/>
        </p:nvGrpSpPr>
        <p:grpSpPr bwMode="auto">
          <a:xfrm>
            <a:off x="6510338" y="3644900"/>
            <a:ext cx="984250" cy="1004888"/>
            <a:chOff x="6516985" y="3283782"/>
            <a:chExt cx="983973" cy="1004816"/>
          </a:xfrm>
        </p:grpSpPr>
        <p:sp>
          <p:nvSpPr>
            <p:cNvPr id="39" name="椭圆 38"/>
            <p:cNvSpPr/>
            <p:nvPr/>
          </p:nvSpPr>
          <p:spPr>
            <a:xfrm>
              <a:off x="6516985" y="3283782"/>
              <a:ext cx="983973" cy="100481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0509" name="TextBox 46"/>
            <p:cNvSpPr txBox="1">
              <a:spLocks noChangeArrowheads="1"/>
            </p:cNvSpPr>
            <p:nvPr/>
          </p:nvSpPr>
          <p:spPr bwMode="auto">
            <a:xfrm>
              <a:off x="6592675" y="3592956"/>
              <a:ext cx="908283" cy="3996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>
                  <a:latin typeface="Calibri" pitchFamily="34" charset="0"/>
                </a:rPr>
                <a:t>Senior</a:t>
              </a:r>
              <a:endParaRPr lang="zh-CN" altLang="en-US">
                <a:latin typeface="Calibri" pitchFamily="34" charset="0"/>
              </a:endParaRPr>
            </a:p>
          </p:txBody>
        </p:sp>
      </p:grpSp>
      <p:cxnSp>
        <p:nvCxnSpPr>
          <p:cNvPr id="54" name="曲线连接符 53"/>
          <p:cNvCxnSpPr/>
          <p:nvPr/>
        </p:nvCxnSpPr>
        <p:spPr>
          <a:xfrm rot="16200000" flipH="1">
            <a:off x="1804988" y="3544887"/>
            <a:ext cx="147638" cy="347663"/>
          </a:xfrm>
          <a:prstGeom prst="curvedConnector3">
            <a:avLst>
              <a:gd name="adj1" fmla="val -168083"/>
            </a:avLst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6" name="曲线连接符 55"/>
          <p:cNvCxnSpPr/>
          <p:nvPr/>
        </p:nvCxnSpPr>
        <p:spPr>
          <a:xfrm rot="16200000" flipH="1">
            <a:off x="3545681" y="3544094"/>
            <a:ext cx="147638" cy="349250"/>
          </a:xfrm>
          <a:prstGeom prst="curvedConnector3">
            <a:avLst>
              <a:gd name="adj1" fmla="val -168083"/>
            </a:avLst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8" name="曲线连接符 57"/>
          <p:cNvCxnSpPr/>
          <p:nvPr/>
        </p:nvCxnSpPr>
        <p:spPr>
          <a:xfrm rot="16200000" flipH="1">
            <a:off x="5362575" y="3544888"/>
            <a:ext cx="147638" cy="347662"/>
          </a:xfrm>
          <a:prstGeom prst="curvedConnector3">
            <a:avLst>
              <a:gd name="adj1" fmla="val -168083"/>
            </a:avLst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2" name="曲线连接符 61"/>
          <p:cNvCxnSpPr/>
          <p:nvPr/>
        </p:nvCxnSpPr>
        <p:spPr>
          <a:xfrm rot="16200000" flipH="1">
            <a:off x="7102475" y="3544888"/>
            <a:ext cx="147638" cy="347662"/>
          </a:xfrm>
          <a:prstGeom prst="curvedConnector3">
            <a:avLst>
              <a:gd name="adj1" fmla="val -168083"/>
            </a:avLst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7" name="组合 216"/>
          <p:cNvGrpSpPr>
            <a:grpSpLocks/>
          </p:cNvGrpSpPr>
          <p:nvPr/>
        </p:nvGrpSpPr>
        <p:grpSpPr bwMode="auto">
          <a:xfrm>
            <a:off x="3786188" y="1790700"/>
            <a:ext cx="1135062" cy="1004888"/>
            <a:chOff x="3786182" y="1790610"/>
            <a:chExt cx="1135354" cy="1004816"/>
          </a:xfrm>
        </p:grpSpPr>
        <p:sp>
          <p:nvSpPr>
            <p:cNvPr id="69" name="椭圆 68"/>
            <p:cNvSpPr/>
            <p:nvPr/>
          </p:nvSpPr>
          <p:spPr>
            <a:xfrm>
              <a:off x="3862402" y="1790610"/>
              <a:ext cx="982915" cy="1004816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0507" name="TextBox 172"/>
            <p:cNvSpPr txBox="1">
              <a:spLocks noChangeArrowheads="1"/>
            </p:cNvSpPr>
            <p:nvPr/>
          </p:nvSpPr>
          <p:spPr bwMode="auto">
            <a:xfrm>
              <a:off x="3786182" y="2099784"/>
              <a:ext cx="1135354" cy="3996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>
                  <a:latin typeface="Calibri" pitchFamily="34" charset="0"/>
                </a:rPr>
                <a:t>Stop Out</a:t>
              </a:r>
              <a:endParaRPr lang="zh-CN" altLang="en-US">
                <a:latin typeface="Calibri" pitchFamily="34" charset="0"/>
              </a:endParaRPr>
            </a:p>
          </p:txBody>
        </p:sp>
      </p:grpSp>
      <p:cxnSp>
        <p:nvCxnSpPr>
          <p:cNvPr id="189" name="形状 188"/>
          <p:cNvCxnSpPr>
            <a:endCxn id="20507" idx="1"/>
          </p:cNvCxnSpPr>
          <p:nvPr/>
        </p:nvCxnSpPr>
        <p:spPr>
          <a:xfrm rot="5400000" flipH="1" flipV="1">
            <a:off x="2173288" y="2179638"/>
            <a:ext cx="1492250" cy="1733550"/>
          </a:xfrm>
          <a:prstGeom prst="curvedConnector2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1" name="曲线连接符 190"/>
          <p:cNvCxnSpPr>
            <a:endCxn id="69" idx="3"/>
          </p:cNvCxnSpPr>
          <p:nvPr/>
        </p:nvCxnSpPr>
        <p:spPr>
          <a:xfrm rot="5400000" flipH="1" flipV="1">
            <a:off x="3226594" y="2866231"/>
            <a:ext cx="996950" cy="560388"/>
          </a:xfrm>
          <a:prstGeom prst="curvedConnector3">
            <a:avLst>
              <a:gd name="adj1" fmla="val 50000"/>
            </a:avLst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3" name="曲线连接符 192"/>
          <p:cNvCxnSpPr>
            <a:endCxn id="69" idx="5"/>
          </p:cNvCxnSpPr>
          <p:nvPr/>
        </p:nvCxnSpPr>
        <p:spPr>
          <a:xfrm rot="16200000" flipV="1">
            <a:off x="4483894" y="2866231"/>
            <a:ext cx="996950" cy="560388"/>
          </a:xfrm>
          <a:prstGeom prst="curvedConnector3">
            <a:avLst>
              <a:gd name="adj1" fmla="val 50000"/>
            </a:avLst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5" name="形状 194"/>
          <p:cNvCxnSpPr>
            <a:endCxn id="20507" idx="3"/>
          </p:cNvCxnSpPr>
          <p:nvPr/>
        </p:nvCxnSpPr>
        <p:spPr>
          <a:xfrm rot="16200000" flipV="1">
            <a:off x="5289551" y="1931987"/>
            <a:ext cx="1344612" cy="2081213"/>
          </a:xfrm>
          <a:prstGeom prst="curvedConnector2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7" name="曲线连接符 196"/>
          <p:cNvCxnSpPr/>
          <p:nvPr/>
        </p:nvCxnSpPr>
        <p:spPr>
          <a:xfrm rot="16200000" flipH="1">
            <a:off x="2456657" y="4099719"/>
            <a:ext cx="1144587" cy="1952625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9" name="曲线连接符 198"/>
          <p:cNvCxnSpPr/>
          <p:nvPr/>
        </p:nvCxnSpPr>
        <p:spPr>
          <a:xfrm rot="16200000" flipH="1">
            <a:off x="3474244" y="4620419"/>
            <a:ext cx="850900" cy="909638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1" name="曲线连接符 200"/>
          <p:cNvCxnSpPr/>
          <p:nvPr/>
        </p:nvCxnSpPr>
        <p:spPr>
          <a:xfrm rot="5400000">
            <a:off x="4383088" y="4621213"/>
            <a:ext cx="850900" cy="90805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3" name="曲线连接符 202"/>
          <p:cNvCxnSpPr/>
          <p:nvPr/>
        </p:nvCxnSpPr>
        <p:spPr>
          <a:xfrm rot="5400000">
            <a:off x="5106194" y="4099719"/>
            <a:ext cx="1144587" cy="1952625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6" name="曲线连接符 205"/>
          <p:cNvCxnSpPr/>
          <p:nvPr/>
        </p:nvCxnSpPr>
        <p:spPr>
          <a:xfrm rot="5400000" flipH="1" flipV="1">
            <a:off x="4454525" y="6257926"/>
            <a:ext cx="147637" cy="347662"/>
          </a:xfrm>
          <a:prstGeom prst="curvedConnector3">
            <a:avLst>
              <a:gd name="adj1" fmla="val -168083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6" name="曲线连接符 215"/>
          <p:cNvCxnSpPr>
            <a:stCxn id="69" idx="0"/>
            <a:endCxn id="69" idx="7"/>
          </p:cNvCxnSpPr>
          <p:nvPr/>
        </p:nvCxnSpPr>
        <p:spPr>
          <a:xfrm rot="16200000" flipH="1">
            <a:off x="4454525" y="1690688"/>
            <a:ext cx="147638" cy="347662"/>
          </a:xfrm>
          <a:prstGeom prst="curvedConnector3">
            <a:avLst>
              <a:gd name="adj1" fmla="val -155350"/>
            </a:avLst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State Transition Probabilities</a:t>
            </a:r>
          </a:p>
        </p:txBody>
      </p:sp>
      <p:graphicFrame>
        <p:nvGraphicFramePr>
          <p:cNvPr id="1909855" name="Group 95"/>
          <p:cNvGraphicFramePr>
            <a:graphicFrameLocks noGrp="1"/>
          </p:cNvGraphicFramePr>
          <p:nvPr>
            <p:ph sz="half" idx="2"/>
          </p:nvPr>
        </p:nvGraphicFramePr>
        <p:xfrm>
          <a:off x="1614488" y="1833563"/>
          <a:ext cx="4935855" cy="3570289"/>
        </p:xfrm>
        <a:graphic>
          <a:graphicData uri="http://schemas.openxmlformats.org/drawingml/2006/table">
            <a:tbl>
              <a:tblPr/>
              <a:tblGrid>
                <a:gridCol w="638175"/>
                <a:gridCol w="208280"/>
                <a:gridCol w="620713"/>
                <a:gridCol w="554037"/>
                <a:gridCol w="566738"/>
                <a:gridCol w="552450"/>
                <a:gridCol w="519112"/>
                <a:gridCol w="636588"/>
                <a:gridCol w="639762"/>
              </a:tblGrid>
              <a:tr h="509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Fr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So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Jr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Sr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S/O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Gr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2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Fr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.65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.14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.01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So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.25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.6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.13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.02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0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TP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=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Jr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.3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.55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.12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.03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Sr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.4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.05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.55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S/O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0.1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0.4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0.1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0.3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Gr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Enrollment Assessment</a:t>
            </a:r>
            <a:endParaRPr lang="zh-CN" altLang="en-US" smtClean="0"/>
          </a:p>
        </p:txBody>
      </p:sp>
      <p:grpSp>
        <p:nvGrpSpPr>
          <p:cNvPr id="22531" name="组合 51"/>
          <p:cNvGrpSpPr>
            <a:grpSpLocks/>
          </p:cNvGrpSpPr>
          <p:nvPr/>
        </p:nvGrpSpPr>
        <p:grpSpPr bwMode="auto">
          <a:xfrm>
            <a:off x="1357313" y="1428750"/>
            <a:ext cx="6327775" cy="2138363"/>
            <a:chOff x="1143038" y="1790610"/>
            <a:chExt cx="6394072" cy="4714908"/>
          </a:xfrm>
        </p:grpSpPr>
        <p:grpSp>
          <p:nvGrpSpPr>
            <p:cNvPr id="22599" name="组合 4"/>
            <p:cNvGrpSpPr>
              <a:grpSpLocks/>
            </p:cNvGrpSpPr>
            <p:nvPr/>
          </p:nvGrpSpPr>
          <p:grpSpPr bwMode="auto">
            <a:xfrm>
              <a:off x="3813751" y="5500702"/>
              <a:ext cx="1135354" cy="1004816"/>
              <a:chOff x="3455012" y="4786322"/>
              <a:chExt cx="1071570" cy="928694"/>
            </a:xfrm>
          </p:grpSpPr>
          <p:sp>
            <p:nvSpPr>
              <p:cNvPr id="6" name="椭圆 5"/>
              <p:cNvSpPr/>
              <p:nvPr/>
            </p:nvSpPr>
            <p:spPr>
              <a:xfrm>
                <a:off x="3500590" y="4786532"/>
                <a:ext cx="929604" cy="928484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2633" name="TextBox 6"/>
              <p:cNvSpPr txBox="1">
                <a:spLocks noChangeArrowheads="1"/>
              </p:cNvSpPr>
              <p:nvPr/>
            </p:nvSpPr>
            <p:spPr bwMode="auto">
              <a:xfrm>
                <a:off x="3455012" y="4987138"/>
                <a:ext cx="1071570" cy="3693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>
                    <a:latin typeface="Calibri" pitchFamily="34" charset="0"/>
                  </a:rPr>
                  <a:t>Graduate</a:t>
                </a:r>
                <a:endParaRPr lang="zh-CN" altLang="en-US">
                  <a:latin typeface="Calibri" pitchFamily="34" charset="0"/>
                </a:endParaRPr>
              </a:p>
            </p:txBody>
          </p:sp>
        </p:grpSp>
        <p:cxnSp>
          <p:nvCxnSpPr>
            <p:cNvPr id="8" name="直接箭头连接符 7"/>
            <p:cNvCxnSpPr/>
            <p:nvPr/>
          </p:nvCxnSpPr>
          <p:spPr>
            <a:xfrm>
              <a:off x="2196953" y="4149814"/>
              <a:ext cx="757151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/>
            <p:nvPr/>
          </p:nvCxnSpPr>
          <p:spPr>
            <a:xfrm>
              <a:off x="3937437" y="4149814"/>
              <a:ext cx="83254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2602" name="组合 9"/>
            <p:cNvGrpSpPr>
              <a:grpSpLocks/>
            </p:cNvGrpSpPr>
            <p:nvPr/>
          </p:nvGrpSpPr>
          <p:grpSpPr bwMode="auto">
            <a:xfrm>
              <a:off x="1143038" y="3645656"/>
              <a:ext cx="1211044" cy="1004816"/>
              <a:chOff x="1148991" y="3283782"/>
              <a:chExt cx="1211044" cy="1004816"/>
            </a:xfrm>
          </p:grpSpPr>
          <p:sp>
            <p:nvSpPr>
              <p:cNvPr id="11" name="椭圆 10"/>
              <p:cNvSpPr/>
              <p:nvPr/>
            </p:nvSpPr>
            <p:spPr>
              <a:xfrm>
                <a:off x="1217968" y="3283897"/>
                <a:ext cx="984938" cy="1004589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2631" name="TextBox 11"/>
              <p:cNvSpPr txBox="1">
                <a:spLocks noChangeArrowheads="1"/>
              </p:cNvSpPr>
              <p:nvPr/>
            </p:nvSpPr>
            <p:spPr bwMode="auto">
              <a:xfrm>
                <a:off x="1148991" y="3466010"/>
                <a:ext cx="1211044" cy="3996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>
                    <a:latin typeface="Calibri" pitchFamily="34" charset="0"/>
                  </a:rPr>
                  <a:t>Freshmen</a:t>
                </a:r>
                <a:endParaRPr lang="zh-CN" altLang="en-US">
                  <a:latin typeface="Calibri" pitchFamily="34" charset="0"/>
                </a:endParaRPr>
              </a:p>
            </p:txBody>
          </p:sp>
        </p:grpSp>
        <p:grpSp>
          <p:nvGrpSpPr>
            <p:cNvPr id="22603" name="组合 12"/>
            <p:cNvGrpSpPr>
              <a:grpSpLocks/>
            </p:cNvGrpSpPr>
            <p:nvPr/>
          </p:nvGrpSpPr>
          <p:grpSpPr bwMode="auto">
            <a:xfrm>
              <a:off x="2803211" y="3645656"/>
              <a:ext cx="1362425" cy="1004816"/>
              <a:chOff x="2809164" y="3283782"/>
              <a:chExt cx="1362425" cy="1004816"/>
            </a:xfrm>
          </p:grpSpPr>
          <p:sp>
            <p:nvSpPr>
              <p:cNvPr id="14" name="椭圆 13"/>
              <p:cNvSpPr/>
              <p:nvPr/>
            </p:nvSpPr>
            <p:spPr>
              <a:xfrm>
                <a:off x="2960056" y="3283897"/>
                <a:ext cx="983333" cy="100458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2629" name="TextBox 14"/>
              <p:cNvSpPr txBox="1">
                <a:spLocks noChangeArrowheads="1"/>
              </p:cNvSpPr>
              <p:nvPr/>
            </p:nvSpPr>
            <p:spPr bwMode="auto">
              <a:xfrm>
                <a:off x="2809164" y="3466010"/>
                <a:ext cx="1362425" cy="3996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>
                    <a:latin typeface="Calibri" pitchFamily="34" charset="0"/>
                  </a:rPr>
                  <a:t>Sophomore</a:t>
                </a:r>
                <a:endParaRPr lang="zh-CN" altLang="en-US">
                  <a:latin typeface="Calibri" pitchFamily="34" charset="0"/>
                </a:endParaRPr>
              </a:p>
            </p:txBody>
          </p:sp>
        </p:grpSp>
        <p:grpSp>
          <p:nvGrpSpPr>
            <p:cNvPr id="22604" name="组合 15"/>
            <p:cNvGrpSpPr>
              <a:grpSpLocks/>
            </p:cNvGrpSpPr>
            <p:nvPr/>
          </p:nvGrpSpPr>
          <p:grpSpPr bwMode="auto">
            <a:xfrm>
              <a:off x="4770156" y="3645656"/>
              <a:ext cx="1034600" cy="1004816"/>
              <a:chOff x="4776109" y="3283782"/>
              <a:chExt cx="1034600" cy="1004816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4775934" y="3283897"/>
                <a:ext cx="983333" cy="1004589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2627" name="TextBox 17"/>
              <p:cNvSpPr txBox="1">
                <a:spLocks noChangeArrowheads="1"/>
              </p:cNvSpPr>
              <p:nvPr/>
            </p:nvSpPr>
            <p:spPr bwMode="auto">
              <a:xfrm>
                <a:off x="4902426" y="3466010"/>
                <a:ext cx="908283" cy="3996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>
                    <a:latin typeface="Calibri" pitchFamily="34" charset="0"/>
                  </a:rPr>
                  <a:t>Junior</a:t>
                </a:r>
                <a:endParaRPr lang="zh-CN" altLang="en-US">
                  <a:latin typeface="Calibri" pitchFamily="34" charset="0"/>
                </a:endParaRPr>
              </a:p>
            </p:txBody>
          </p:sp>
        </p:grpSp>
        <p:cxnSp>
          <p:nvCxnSpPr>
            <p:cNvPr id="19" name="直接箭头连接符 18"/>
            <p:cNvCxnSpPr/>
            <p:nvPr/>
          </p:nvCxnSpPr>
          <p:spPr>
            <a:xfrm>
              <a:off x="5754918" y="4149814"/>
              <a:ext cx="75554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2606" name="组合 19"/>
            <p:cNvGrpSpPr>
              <a:grpSpLocks/>
            </p:cNvGrpSpPr>
            <p:nvPr/>
          </p:nvGrpSpPr>
          <p:grpSpPr bwMode="auto">
            <a:xfrm>
              <a:off x="6511032" y="3645656"/>
              <a:ext cx="1026078" cy="1004816"/>
              <a:chOff x="6516985" y="3283782"/>
              <a:chExt cx="1026078" cy="1004816"/>
            </a:xfrm>
          </p:grpSpPr>
          <p:sp>
            <p:nvSpPr>
              <p:cNvPr id="21" name="椭圆 20"/>
              <p:cNvSpPr/>
              <p:nvPr/>
            </p:nvSpPr>
            <p:spPr>
              <a:xfrm>
                <a:off x="6516418" y="3283897"/>
                <a:ext cx="984937" cy="1004589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2625" name="TextBox 21"/>
              <p:cNvSpPr txBox="1">
                <a:spLocks noChangeArrowheads="1"/>
              </p:cNvSpPr>
              <p:nvPr/>
            </p:nvSpPr>
            <p:spPr bwMode="auto">
              <a:xfrm>
                <a:off x="6634780" y="3466010"/>
                <a:ext cx="908283" cy="3996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>
                    <a:latin typeface="Calibri" pitchFamily="34" charset="0"/>
                  </a:rPr>
                  <a:t>Senior</a:t>
                </a:r>
                <a:endParaRPr lang="zh-CN" altLang="en-US">
                  <a:latin typeface="Calibri" pitchFamily="34" charset="0"/>
                </a:endParaRPr>
              </a:p>
            </p:txBody>
          </p:sp>
        </p:grpSp>
        <p:cxnSp>
          <p:nvCxnSpPr>
            <p:cNvPr id="23" name="曲线连接符 22"/>
            <p:cNvCxnSpPr/>
            <p:nvPr/>
          </p:nvCxnSpPr>
          <p:spPr>
            <a:xfrm rot="16200000" flipH="1">
              <a:off x="1805026" y="3545228"/>
              <a:ext cx="147013" cy="348096"/>
            </a:xfrm>
            <a:prstGeom prst="curvedConnector3">
              <a:avLst>
                <a:gd name="adj1" fmla="val -168083"/>
              </a:avLst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曲线连接符 23"/>
            <p:cNvCxnSpPr/>
            <p:nvPr/>
          </p:nvCxnSpPr>
          <p:spPr>
            <a:xfrm rot="16200000" flipH="1">
              <a:off x="3545509" y="3545229"/>
              <a:ext cx="147013" cy="348097"/>
            </a:xfrm>
            <a:prstGeom prst="curvedConnector3">
              <a:avLst>
                <a:gd name="adj1" fmla="val -168083"/>
              </a:avLst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曲线连接符 24"/>
            <p:cNvCxnSpPr/>
            <p:nvPr/>
          </p:nvCxnSpPr>
          <p:spPr>
            <a:xfrm rot="16200000" flipH="1">
              <a:off x="5362992" y="3545228"/>
              <a:ext cx="147013" cy="348096"/>
            </a:xfrm>
            <a:prstGeom prst="curvedConnector3">
              <a:avLst>
                <a:gd name="adj1" fmla="val -168083"/>
              </a:avLst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" name="曲线连接符 25"/>
            <p:cNvCxnSpPr/>
            <p:nvPr/>
          </p:nvCxnSpPr>
          <p:spPr>
            <a:xfrm rot="16200000" flipH="1">
              <a:off x="7103475" y="3545229"/>
              <a:ext cx="147013" cy="348097"/>
            </a:xfrm>
            <a:prstGeom prst="curvedConnector3">
              <a:avLst>
                <a:gd name="adj1" fmla="val -168083"/>
              </a:avLst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2611" name="组合 26"/>
            <p:cNvGrpSpPr>
              <a:grpSpLocks/>
            </p:cNvGrpSpPr>
            <p:nvPr/>
          </p:nvGrpSpPr>
          <p:grpSpPr bwMode="auto">
            <a:xfrm>
              <a:off x="3813752" y="1790610"/>
              <a:ext cx="1135354" cy="1004816"/>
              <a:chOff x="3813752" y="1790610"/>
              <a:chExt cx="1135354" cy="1004816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3862042" y="1790610"/>
                <a:ext cx="984937" cy="1004589"/>
              </a:xfrm>
              <a:prstGeom prst="ellipse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2623" name="TextBox 28"/>
              <p:cNvSpPr txBox="1">
                <a:spLocks noChangeArrowheads="1"/>
              </p:cNvSpPr>
              <p:nvPr/>
            </p:nvSpPr>
            <p:spPr bwMode="auto">
              <a:xfrm>
                <a:off x="3813752" y="1937791"/>
                <a:ext cx="1135354" cy="3996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>
                    <a:latin typeface="Calibri" pitchFamily="34" charset="0"/>
                  </a:rPr>
                  <a:t>Stop Out</a:t>
                </a:r>
                <a:endParaRPr lang="zh-CN" altLang="en-US">
                  <a:latin typeface="Calibri" pitchFamily="34" charset="0"/>
                </a:endParaRPr>
              </a:p>
            </p:txBody>
          </p:sp>
        </p:grpSp>
        <p:cxnSp>
          <p:nvCxnSpPr>
            <p:cNvPr id="30" name="形状 29"/>
            <p:cNvCxnSpPr>
              <a:endCxn id="22623" idx="1"/>
            </p:cNvCxnSpPr>
            <p:nvPr/>
          </p:nvCxnSpPr>
          <p:spPr>
            <a:xfrm rot="5400000" flipH="1" flipV="1">
              <a:off x="2199571" y="2017421"/>
              <a:ext cx="1494628" cy="1734067"/>
            </a:xfrm>
            <a:prstGeom prst="curvedConnector2">
              <a:avLst/>
            </a:prstGeom>
            <a:ln>
              <a:headEnd type="arrow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曲线连接符 30"/>
            <p:cNvCxnSpPr>
              <a:endCxn id="28" idx="3"/>
            </p:cNvCxnSpPr>
            <p:nvPr/>
          </p:nvCxnSpPr>
          <p:spPr>
            <a:xfrm rot="5400000" flipH="1" flipV="1">
              <a:off x="3226898" y="2866254"/>
              <a:ext cx="997585" cy="561446"/>
            </a:xfrm>
            <a:prstGeom prst="curvedConnector3">
              <a:avLst>
                <a:gd name="adj1" fmla="val 50000"/>
              </a:avLst>
            </a:prstGeom>
            <a:ln>
              <a:headEnd type="arrow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曲线连接符 31"/>
            <p:cNvCxnSpPr>
              <a:endCxn id="28" idx="5"/>
            </p:cNvCxnSpPr>
            <p:nvPr/>
          </p:nvCxnSpPr>
          <p:spPr>
            <a:xfrm rot="16200000" flipV="1">
              <a:off x="4482934" y="2866254"/>
              <a:ext cx="997585" cy="561446"/>
            </a:xfrm>
            <a:prstGeom prst="curvedConnector3">
              <a:avLst>
                <a:gd name="adj1" fmla="val 50000"/>
              </a:avLst>
            </a:prstGeom>
            <a:ln>
              <a:headEnd type="arrow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形状 32"/>
            <p:cNvCxnSpPr>
              <a:endCxn id="22623" idx="3"/>
            </p:cNvCxnSpPr>
            <p:nvPr/>
          </p:nvCxnSpPr>
          <p:spPr>
            <a:xfrm rot="16200000" flipV="1">
              <a:off x="5316116" y="1770670"/>
              <a:ext cx="1347615" cy="2080560"/>
            </a:xfrm>
            <a:prstGeom prst="curvedConnector2">
              <a:avLst/>
            </a:prstGeom>
            <a:ln>
              <a:headEnd type="arrow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曲线连接符 33"/>
            <p:cNvCxnSpPr/>
            <p:nvPr/>
          </p:nvCxnSpPr>
          <p:spPr>
            <a:xfrm rot="16200000" flipH="1">
              <a:off x="2457199" y="4098726"/>
              <a:ext cx="1144598" cy="1953833"/>
            </a:xfrm>
            <a:prstGeom prst="curved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曲线连接符 34"/>
            <p:cNvCxnSpPr/>
            <p:nvPr/>
          </p:nvCxnSpPr>
          <p:spPr>
            <a:xfrm rot="16200000" flipH="1">
              <a:off x="3474454" y="4620871"/>
              <a:ext cx="850572" cy="909544"/>
            </a:xfrm>
            <a:prstGeom prst="curved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曲线连接符 35"/>
            <p:cNvCxnSpPr/>
            <p:nvPr/>
          </p:nvCxnSpPr>
          <p:spPr>
            <a:xfrm rot="5400000">
              <a:off x="4383195" y="4621673"/>
              <a:ext cx="850572" cy="907939"/>
            </a:xfrm>
            <a:prstGeom prst="curved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曲线连接符 36"/>
            <p:cNvCxnSpPr/>
            <p:nvPr/>
          </p:nvCxnSpPr>
          <p:spPr>
            <a:xfrm rot="5400000">
              <a:off x="5105622" y="4098726"/>
              <a:ext cx="1144598" cy="1953833"/>
            </a:xfrm>
            <a:prstGeom prst="curved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曲线连接符 37"/>
            <p:cNvCxnSpPr/>
            <p:nvPr/>
          </p:nvCxnSpPr>
          <p:spPr>
            <a:xfrm rot="5400000" flipH="1" flipV="1">
              <a:off x="4454251" y="6258766"/>
              <a:ext cx="147013" cy="346493"/>
            </a:xfrm>
            <a:prstGeom prst="curvedConnector3">
              <a:avLst>
                <a:gd name="adj1" fmla="val -168083"/>
              </a:avLst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9" name="曲线连接符 38"/>
            <p:cNvCxnSpPr>
              <a:stCxn id="28" idx="0"/>
              <a:endCxn id="28" idx="7"/>
            </p:cNvCxnSpPr>
            <p:nvPr/>
          </p:nvCxnSpPr>
          <p:spPr>
            <a:xfrm rot="16200000" flipH="1">
              <a:off x="4454251" y="1690871"/>
              <a:ext cx="147013" cy="346493"/>
            </a:xfrm>
            <a:prstGeom prst="curvedConnector3">
              <a:avLst>
                <a:gd name="adj1" fmla="val -155350"/>
              </a:avLst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2532" name="TextBox 54"/>
          <p:cNvSpPr txBox="1">
            <a:spLocks noChangeArrowheads="1"/>
          </p:cNvSpPr>
          <p:nvPr/>
        </p:nvSpPr>
        <p:spPr bwMode="auto">
          <a:xfrm>
            <a:off x="6072188" y="4500563"/>
            <a:ext cx="3000375" cy="1754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latin typeface="Calibri" pitchFamily="34" charset="0"/>
              </a:rPr>
              <a:t>Given:</a:t>
            </a:r>
          </a:p>
          <a:p>
            <a:r>
              <a:rPr lang="en-US" altLang="zh-CN">
                <a:latin typeface="Calibri" pitchFamily="34" charset="0"/>
              </a:rPr>
              <a:t>Transition probability table &amp; Initial enrollment estimation, </a:t>
            </a:r>
          </a:p>
          <a:p>
            <a:endParaRPr lang="en-US" altLang="zh-CN">
              <a:latin typeface="Calibri" pitchFamily="34" charset="0"/>
            </a:endParaRPr>
          </a:p>
          <a:p>
            <a:r>
              <a:rPr lang="en-US" altLang="zh-CN">
                <a:latin typeface="Calibri" pitchFamily="34" charset="0"/>
              </a:rPr>
              <a:t>we can estimate the number of students at each time point</a:t>
            </a:r>
          </a:p>
        </p:txBody>
      </p:sp>
      <p:graphicFrame>
        <p:nvGraphicFramePr>
          <p:cNvPr id="56" name="Group 95"/>
          <p:cNvGraphicFramePr>
            <a:graphicFrameLocks noGrp="1"/>
          </p:cNvGraphicFramePr>
          <p:nvPr>
            <p:ph sz="half" idx="2"/>
          </p:nvPr>
        </p:nvGraphicFramePr>
        <p:xfrm>
          <a:off x="285750" y="4071938"/>
          <a:ext cx="5500688" cy="2450592"/>
        </p:xfrm>
        <a:graphic>
          <a:graphicData uri="http://schemas.openxmlformats.org/drawingml/2006/table">
            <a:tbl>
              <a:tblPr/>
              <a:tblGrid>
                <a:gridCol w="687388"/>
                <a:gridCol w="404812"/>
                <a:gridCol w="668338"/>
                <a:gridCol w="598487"/>
                <a:gridCol w="611188"/>
                <a:gridCol w="595312"/>
                <a:gridCol w="558800"/>
                <a:gridCol w="687388"/>
                <a:gridCol w="688975"/>
              </a:tblGrid>
              <a:tr h="249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Fr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So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Jr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Sr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S/O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Gr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9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Fr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.65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.14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.01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9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So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.25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.6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.13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.02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9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TP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=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Jr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.3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.55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.12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.03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9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Sr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.4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.05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.55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9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S/O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0.1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0.4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0.1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0.3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9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Gr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Example 3: </a:t>
            </a:r>
            <a:br>
              <a:rPr lang="en-US" altLang="zh-CN" smtClean="0"/>
            </a:br>
            <a:r>
              <a:rPr lang="en-US" altLang="zh-CN" smtClean="0"/>
              <a:t>Sequence Generation</a:t>
            </a:r>
            <a:r>
              <a:rPr lang="en-US" altLang="zh-CN" baseline="30000" smtClean="0"/>
              <a:t>[3]</a:t>
            </a:r>
            <a:r>
              <a:rPr lang="en-US" altLang="zh-CN" smtClean="0"/>
              <a:t> </a:t>
            </a:r>
            <a:endParaRPr lang="zh-CN" altLang="en-US" smtClean="0"/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smtClean="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Sequence Generation</a:t>
            </a:r>
            <a:endParaRPr lang="zh-CN" altLang="en-US" smtClean="0"/>
          </a:p>
        </p:txBody>
      </p:sp>
      <p:pic>
        <p:nvPicPr>
          <p:cNvPr id="24579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285875" y="1571625"/>
            <a:ext cx="6715125" cy="506571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45820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/>
              <a:t>Markov Chains as Models of</a:t>
            </a:r>
            <a:br>
              <a:rPr lang="en-US" altLang="zh-CN"/>
            </a:br>
            <a:r>
              <a:rPr lang="en-US" altLang="zh-CN"/>
              <a:t>Sequence Generation</a:t>
            </a:r>
          </a:p>
        </p:txBody>
      </p:sp>
      <p:sp>
        <p:nvSpPr>
          <p:cNvPr id="7179" name="Rectangle 3"/>
          <p:cNvSpPr>
            <a:spLocks noChangeArrowheads="1"/>
          </p:cNvSpPr>
          <p:nvPr/>
        </p:nvSpPr>
        <p:spPr bwMode="auto">
          <a:xfrm>
            <a:off x="457200" y="2473325"/>
            <a:ext cx="7204075" cy="423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altLang="zh-CN"/>
              <a:t>0</a:t>
            </a:r>
            <a:r>
              <a:rPr lang="en-US" altLang="zh-CN" baseline="30000"/>
              <a:t>th</a:t>
            </a:r>
            <a:r>
              <a:rPr lang="en-US" altLang="zh-CN"/>
              <a:t>-order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altLang="zh-CN"/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altLang="zh-CN"/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altLang="zh-CN"/>
              <a:t>1</a:t>
            </a:r>
            <a:r>
              <a:rPr lang="en-US" altLang="zh-CN" baseline="30000"/>
              <a:t>st</a:t>
            </a:r>
            <a:r>
              <a:rPr lang="en-US" altLang="zh-CN"/>
              <a:t>-order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altLang="zh-CN"/>
              <a:t>1</a:t>
            </a:r>
            <a:r>
              <a:rPr lang="en-US" altLang="zh-CN" baseline="30000"/>
              <a:t>th</a:t>
            </a:r>
            <a:r>
              <a:rPr lang="en-US" altLang="zh-CN"/>
              <a:t>-order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altLang="zh-CN"/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altLang="zh-CN"/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altLang="zh-CN"/>
              <a:t>2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altLang="zh-CN"/>
              <a:t>2</a:t>
            </a:r>
            <a:r>
              <a:rPr lang="en-US" altLang="zh-CN" baseline="30000"/>
              <a:t>nd</a:t>
            </a:r>
            <a:r>
              <a:rPr lang="en-US" altLang="zh-CN"/>
              <a:t>-order</a:t>
            </a:r>
          </a:p>
        </p:txBody>
      </p:sp>
      <p:graphicFrame>
        <p:nvGraphicFramePr>
          <p:cNvPr id="7170" name="Object 2"/>
          <p:cNvGraphicFramePr>
            <a:graphicFrameLocks noChangeAspect="1"/>
          </p:cNvGraphicFramePr>
          <p:nvPr/>
        </p:nvGraphicFramePr>
        <p:xfrm>
          <a:off x="533400" y="4181475"/>
          <a:ext cx="7194550" cy="941388"/>
        </p:xfrm>
        <a:graphic>
          <a:graphicData uri="http://schemas.openxmlformats.org/presentationml/2006/ole">
            <p:oleObj spid="_x0000_s7170" name="Equation" r:id="rId4" imgW="3301920" imgH="431640" progId="Equation.3">
              <p:embed/>
            </p:oleObj>
          </a:graphicData>
        </a:graphic>
      </p:graphicFrame>
      <p:graphicFrame>
        <p:nvGraphicFramePr>
          <p:cNvPr id="7171" name="Object 3"/>
          <p:cNvGraphicFramePr>
            <a:graphicFrameLocks noChangeAspect="1"/>
          </p:cNvGraphicFramePr>
          <p:nvPr/>
        </p:nvGraphicFramePr>
        <p:xfrm>
          <a:off x="533400" y="5491163"/>
          <a:ext cx="8308975" cy="909637"/>
        </p:xfrm>
        <a:graphic>
          <a:graphicData uri="http://schemas.openxmlformats.org/presentationml/2006/ole">
            <p:oleObj spid="_x0000_s7171" name="Equation" r:id="rId5" imgW="3949560" imgH="431640" progId="Equation.3">
              <p:embed/>
            </p:oleObj>
          </a:graphicData>
        </a:graphic>
      </p:graphicFrame>
      <p:graphicFrame>
        <p:nvGraphicFramePr>
          <p:cNvPr id="7172" name="Object 4"/>
          <p:cNvGraphicFramePr>
            <a:graphicFrameLocks noChangeAspect="1"/>
          </p:cNvGraphicFramePr>
          <p:nvPr/>
        </p:nvGraphicFramePr>
        <p:xfrm>
          <a:off x="533400" y="2873375"/>
          <a:ext cx="5008563" cy="941388"/>
        </p:xfrm>
        <a:graphic>
          <a:graphicData uri="http://schemas.openxmlformats.org/presentationml/2006/ole">
            <p:oleObj spid="_x0000_s7172" name="Equation" r:id="rId6" imgW="2298600" imgH="431640" progId="Equation.3">
              <p:embed/>
            </p:oleObj>
          </a:graphicData>
        </a:graphic>
      </p:graphicFrame>
      <p:graphicFrame>
        <p:nvGraphicFramePr>
          <p:cNvPr id="7173" name="Object 5"/>
          <p:cNvGraphicFramePr>
            <a:graphicFrameLocks noChangeAspect="1"/>
          </p:cNvGraphicFramePr>
          <p:nvPr/>
        </p:nvGraphicFramePr>
        <p:xfrm>
          <a:off x="2795588" y="1600200"/>
          <a:ext cx="2767012" cy="744538"/>
        </p:xfrm>
        <a:graphic>
          <a:graphicData uri="http://schemas.openxmlformats.org/presentationml/2006/ole">
            <p:oleObj spid="_x0000_s7173" name="Equation" r:id="rId7" imgW="850680" imgH="228600" progId="Equation.3">
              <p:embed/>
            </p:oleObj>
          </a:graphicData>
        </a:graphic>
      </p:graphicFrame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492125" y="1682750"/>
            <a:ext cx="8575675" cy="4718050"/>
            <a:chOff x="310" y="1060"/>
            <a:chExt cx="5402" cy="2972"/>
          </a:xfrm>
        </p:grpSpPr>
        <p:graphicFrame>
          <p:nvGraphicFramePr>
            <p:cNvPr id="7174" name="Object 6"/>
            <p:cNvGraphicFramePr>
              <a:graphicFrameLocks noChangeAspect="1"/>
            </p:cNvGraphicFramePr>
            <p:nvPr/>
          </p:nvGraphicFramePr>
          <p:xfrm>
            <a:off x="342" y="2634"/>
            <a:ext cx="4794" cy="593"/>
          </p:xfrm>
          <a:graphic>
            <a:graphicData uri="http://schemas.openxmlformats.org/presentationml/2006/ole">
              <p:oleObj spid="_x0000_s7174" name="Equation" r:id="rId8" imgW="3492360" imgH="431640" progId="Equation.3">
                <p:embed/>
              </p:oleObj>
            </a:graphicData>
          </a:graphic>
        </p:graphicFrame>
        <p:graphicFrame>
          <p:nvGraphicFramePr>
            <p:cNvPr id="7175" name="Object 7"/>
            <p:cNvGraphicFramePr>
              <a:graphicFrameLocks noChangeAspect="1"/>
            </p:cNvGraphicFramePr>
            <p:nvPr/>
          </p:nvGraphicFramePr>
          <p:xfrm>
            <a:off x="310" y="3459"/>
            <a:ext cx="5402" cy="573"/>
          </p:xfrm>
          <a:graphic>
            <a:graphicData uri="http://schemas.openxmlformats.org/presentationml/2006/ole">
              <p:oleObj spid="_x0000_s7175" name="Equation" r:id="rId9" imgW="4076640" imgH="431640" progId="Equation.3">
                <p:embed/>
              </p:oleObj>
            </a:graphicData>
          </a:graphic>
        </p:graphicFrame>
        <p:graphicFrame>
          <p:nvGraphicFramePr>
            <p:cNvPr id="7176" name="Object 8"/>
            <p:cNvGraphicFramePr>
              <a:graphicFrameLocks noChangeAspect="1"/>
            </p:cNvGraphicFramePr>
            <p:nvPr/>
          </p:nvGraphicFramePr>
          <p:xfrm>
            <a:off x="341" y="1810"/>
            <a:ext cx="3835" cy="593"/>
          </p:xfrm>
          <a:graphic>
            <a:graphicData uri="http://schemas.openxmlformats.org/presentationml/2006/ole">
              <p:oleObj spid="_x0000_s7176" name="Equation" r:id="rId10" imgW="2793960" imgH="431640" progId="Equation.3">
                <p:embed/>
              </p:oleObj>
            </a:graphicData>
          </a:graphic>
        </p:graphicFrame>
        <p:graphicFrame>
          <p:nvGraphicFramePr>
            <p:cNvPr id="7177" name="Object 9"/>
            <p:cNvGraphicFramePr>
              <a:graphicFrameLocks noChangeAspect="1"/>
            </p:cNvGraphicFramePr>
            <p:nvPr/>
          </p:nvGraphicFramePr>
          <p:xfrm>
            <a:off x="1776" y="1060"/>
            <a:ext cx="1431" cy="365"/>
          </p:xfrm>
          <a:graphic>
            <a:graphicData uri="http://schemas.openxmlformats.org/presentationml/2006/ole">
              <p:oleObj spid="_x0000_s7177" name="Equation" r:id="rId11" imgW="698400" imgH="177480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A Fifth Order Markov Chain</a:t>
            </a:r>
            <a:br>
              <a:rPr lang="en-US" altLang="zh-CN" smtClean="0"/>
            </a:br>
            <a:endParaRPr lang="en-US" altLang="zh-CN" smtClean="0"/>
          </a:p>
        </p:txBody>
      </p:sp>
      <p:pic>
        <p:nvPicPr>
          <p:cNvPr id="25603" name="Picture 4"/>
          <p:cNvPicPr>
            <a:picLocks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755650" y="1341438"/>
            <a:ext cx="7777163" cy="5021262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Example 4: </a:t>
            </a:r>
            <a:br>
              <a:rPr lang="en-US" altLang="zh-CN" smtClean="0"/>
            </a:br>
            <a:r>
              <a:rPr lang="en-US" altLang="zh-CN" smtClean="0"/>
              <a:t>Rank the web page</a:t>
            </a:r>
            <a:endParaRPr lang="zh-CN" altLang="en-US" smtClean="0"/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smtClean="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PageRank</a:t>
            </a:r>
          </a:p>
        </p:txBody>
      </p:sp>
      <p:pic>
        <p:nvPicPr>
          <p:cNvPr id="27651" name="Picture 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071563" y="-633413"/>
            <a:ext cx="11287126" cy="8124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2" name="Text Box 12"/>
          <p:cNvSpPr txBox="1">
            <a:spLocks noChangeArrowheads="1"/>
          </p:cNvSpPr>
          <p:nvPr/>
        </p:nvSpPr>
        <p:spPr bwMode="auto">
          <a:xfrm>
            <a:off x="0" y="533400"/>
            <a:ext cx="28194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0000"/>
                </a:solidFill>
                <a:latin typeface="Calibri" pitchFamily="34" charset="0"/>
              </a:rPr>
              <a:t>How to rank the importance of web pages?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PageRank</a:t>
            </a:r>
          </a:p>
        </p:txBody>
      </p:sp>
      <p:pic>
        <p:nvPicPr>
          <p:cNvPr id="28675" name="Picture 5" descr="744px-PageRanks-Exampl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1219200"/>
            <a:ext cx="6248400" cy="503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6" name="Rectangle 6"/>
          <p:cNvSpPr>
            <a:spLocks noChangeArrowheads="1"/>
          </p:cNvSpPr>
          <p:nvPr/>
        </p:nvSpPr>
        <p:spPr bwMode="auto">
          <a:xfrm>
            <a:off x="1524000" y="6324600"/>
            <a:ext cx="6178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Calibri" pitchFamily="34" charset="0"/>
              </a:rPr>
              <a:t>http://en.wikipedia.org/wiki/Image:PageRanks-Example.svg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PageRank: Markov Chain</a:t>
            </a:r>
          </a:p>
        </p:txBody>
      </p:sp>
      <p:sp>
        <p:nvSpPr>
          <p:cNvPr id="29699" name="Text Box 5"/>
          <p:cNvSpPr txBox="1">
            <a:spLocks noChangeArrowheads="1"/>
          </p:cNvSpPr>
          <p:nvPr/>
        </p:nvSpPr>
        <p:spPr bwMode="auto">
          <a:xfrm>
            <a:off x="441325" y="1387475"/>
            <a:ext cx="8377238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>
                <a:latin typeface="Calibri" pitchFamily="34" charset="0"/>
              </a:rPr>
              <a:t>For N pages, say p1,…,pN</a:t>
            </a:r>
          </a:p>
          <a:p>
            <a:endParaRPr lang="en-US" altLang="zh-CN" sz="3200">
              <a:latin typeface="Calibri" pitchFamily="34" charset="0"/>
            </a:endParaRPr>
          </a:p>
          <a:p>
            <a:r>
              <a:rPr lang="en-US" altLang="zh-CN" sz="3200">
                <a:latin typeface="Calibri" pitchFamily="34" charset="0"/>
              </a:rPr>
              <a:t>Write the Equation to compute PageRank as:</a:t>
            </a:r>
          </a:p>
        </p:txBody>
      </p:sp>
      <p:sp>
        <p:nvSpPr>
          <p:cNvPr id="2970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pic>
        <p:nvPicPr>
          <p:cNvPr id="29701" name="Picture 6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33400" y="3352800"/>
            <a:ext cx="8001000" cy="2471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2" name="Rectangle 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sp>
        <p:nvSpPr>
          <p:cNvPr id="29703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pic>
        <p:nvPicPr>
          <p:cNvPr id="29704" name="Picture 10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114800" y="5867400"/>
            <a:ext cx="36576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5" name="TextBox 13"/>
          <p:cNvSpPr txBox="1">
            <a:spLocks noChangeArrowheads="1"/>
          </p:cNvSpPr>
          <p:nvPr/>
        </p:nvSpPr>
        <p:spPr bwMode="auto">
          <a:xfrm>
            <a:off x="609600" y="6096000"/>
            <a:ext cx="3352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latin typeface="Calibri" pitchFamily="34" charset="0"/>
              </a:rPr>
              <a:t>where </a:t>
            </a:r>
            <a:r>
              <a:rPr lang="en-US" altLang="zh-CN" i="1">
                <a:latin typeface="Times New Roman" pitchFamily="18" charset="0"/>
              </a:rPr>
              <a:t>l(i,j)</a:t>
            </a:r>
            <a:r>
              <a:rPr lang="en-US" altLang="zh-CN">
                <a:latin typeface="Calibri" pitchFamily="34" charset="0"/>
              </a:rPr>
              <a:t> is define to be:</a:t>
            </a:r>
            <a:endParaRPr lang="zh-CN" altLang="en-US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PageRank: Markov Chain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524000"/>
            <a:ext cx="4038600" cy="457200"/>
          </a:xfrm>
        </p:spPr>
        <p:txBody>
          <a:bodyPr/>
          <a:lstStyle/>
          <a:p>
            <a:pPr eaLnBrk="1" hangingPunct="1"/>
            <a:r>
              <a:rPr lang="en-US" altLang="zh-CN" sz="2400" smtClean="0"/>
              <a:t>Written in Matrix Form:</a:t>
            </a:r>
          </a:p>
        </p:txBody>
      </p:sp>
      <p:graphicFrame>
        <p:nvGraphicFramePr>
          <p:cNvPr id="8194" name="Object 9"/>
          <p:cNvGraphicFramePr>
            <a:graphicFrameLocks noChangeAspect="1"/>
          </p:cNvGraphicFramePr>
          <p:nvPr>
            <p:ph sz="quarter" idx="3"/>
          </p:nvPr>
        </p:nvGraphicFramePr>
        <p:xfrm>
          <a:off x="785813" y="2357438"/>
          <a:ext cx="7685087" cy="2130425"/>
        </p:xfrm>
        <a:graphic>
          <a:graphicData uri="http://schemas.openxmlformats.org/presentationml/2006/ole">
            <p:oleObj spid="_x0000_s8194" name="Equation" r:id="rId4" imgW="4305240" imgH="119376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Example 5: </a:t>
            </a:r>
            <a:br>
              <a:rPr lang="en-US" altLang="zh-CN" smtClean="0"/>
            </a:br>
            <a:r>
              <a:rPr lang="en-US" altLang="zh-CN" smtClean="0"/>
              <a:t>Life Cycle Analysis</a:t>
            </a:r>
            <a:r>
              <a:rPr lang="en-US" altLang="zh-CN" baseline="30000" smtClean="0"/>
              <a:t>[4]</a:t>
            </a:r>
            <a:endParaRPr lang="zh-CN" altLang="en-US" baseline="30000" smtClean="0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zh-CN" altLang="en-US" smtClean="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How to model life cycles of Whales?</a:t>
            </a:r>
            <a:endParaRPr lang="zh-CN" altLang="en-US" smtClean="0"/>
          </a:p>
        </p:txBody>
      </p:sp>
      <p:pic>
        <p:nvPicPr>
          <p:cNvPr id="3174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" y="1214438"/>
            <a:ext cx="8021638" cy="535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48" name="矩形 4"/>
          <p:cNvSpPr>
            <a:spLocks noChangeArrowheads="1"/>
          </p:cNvSpPr>
          <p:nvPr/>
        </p:nvSpPr>
        <p:spPr bwMode="auto">
          <a:xfrm>
            <a:off x="500063" y="6488113"/>
            <a:ext cx="81438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http://www.specieslist.com/images/external/Humpback_Whale_underwater.jpg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Life cycle analysis</a:t>
            </a:r>
            <a:endParaRPr lang="zh-CN" altLang="en-US" smtClean="0"/>
          </a:p>
        </p:txBody>
      </p:sp>
      <p:cxnSp>
        <p:nvCxnSpPr>
          <p:cNvPr id="11" name="直接箭头连接符 10"/>
          <p:cNvCxnSpPr>
            <a:stCxn id="5" idx="6"/>
            <a:endCxn id="6" idx="2"/>
          </p:cNvCxnSpPr>
          <p:nvPr/>
        </p:nvCxnSpPr>
        <p:spPr>
          <a:xfrm>
            <a:off x="1857375" y="4108450"/>
            <a:ext cx="500063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6" idx="6"/>
            <a:endCxn id="7" idx="2"/>
          </p:cNvCxnSpPr>
          <p:nvPr/>
        </p:nvCxnSpPr>
        <p:spPr>
          <a:xfrm>
            <a:off x="3429000" y="4108450"/>
            <a:ext cx="500063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7" idx="6"/>
            <a:endCxn id="8" idx="2"/>
          </p:cNvCxnSpPr>
          <p:nvPr/>
        </p:nvCxnSpPr>
        <p:spPr>
          <a:xfrm>
            <a:off x="5000625" y="4108450"/>
            <a:ext cx="428625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8" idx="6"/>
            <a:endCxn id="9" idx="2"/>
          </p:cNvCxnSpPr>
          <p:nvPr/>
        </p:nvCxnSpPr>
        <p:spPr>
          <a:xfrm>
            <a:off x="6500813" y="4108450"/>
            <a:ext cx="428625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形状 22"/>
          <p:cNvCxnSpPr>
            <a:stCxn id="5" idx="4"/>
            <a:endCxn id="18" idx="2"/>
          </p:cNvCxnSpPr>
          <p:nvPr/>
        </p:nvCxnSpPr>
        <p:spPr>
          <a:xfrm rot="16200000" flipH="1">
            <a:off x="2070894" y="3893344"/>
            <a:ext cx="1108075" cy="2608263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曲线连接符 24"/>
          <p:cNvCxnSpPr>
            <a:stCxn id="6" idx="4"/>
            <a:endCxn id="18" idx="1"/>
          </p:cNvCxnSpPr>
          <p:nvPr/>
        </p:nvCxnSpPr>
        <p:spPr>
          <a:xfrm rot="16200000" flipH="1">
            <a:off x="3124994" y="4410869"/>
            <a:ext cx="728662" cy="11938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曲线连接符 26"/>
          <p:cNvCxnSpPr>
            <a:stCxn id="7" idx="4"/>
            <a:endCxn id="18" idx="0"/>
          </p:cNvCxnSpPr>
          <p:nvPr/>
        </p:nvCxnSpPr>
        <p:spPr>
          <a:xfrm rot="5400000">
            <a:off x="4179094" y="4929981"/>
            <a:ext cx="571500" cy="1588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9" name="曲线连接符 28"/>
          <p:cNvCxnSpPr>
            <a:stCxn id="8" idx="4"/>
            <a:endCxn id="18" idx="7"/>
          </p:cNvCxnSpPr>
          <p:nvPr/>
        </p:nvCxnSpPr>
        <p:spPr>
          <a:xfrm rot="5400000">
            <a:off x="5040313" y="4446588"/>
            <a:ext cx="728662" cy="1122362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" name="形状 30"/>
          <p:cNvCxnSpPr>
            <a:stCxn id="9" idx="4"/>
            <a:endCxn id="18" idx="6"/>
          </p:cNvCxnSpPr>
          <p:nvPr/>
        </p:nvCxnSpPr>
        <p:spPr>
          <a:xfrm rot="5400000">
            <a:off x="5679281" y="3964782"/>
            <a:ext cx="1108075" cy="2465388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曲线连接符 32"/>
          <p:cNvCxnSpPr>
            <a:stCxn id="18" idx="4"/>
            <a:endCxn id="18" idx="5"/>
          </p:cNvCxnSpPr>
          <p:nvPr/>
        </p:nvCxnSpPr>
        <p:spPr>
          <a:xfrm rot="5400000" flipH="1" flipV="1">
            <a:off x="4575176" y="6018212"/>
            <a:ext cx="157162" cy="379413"/>
          </a:xfrm>
          <a:prstGeom prst="curvedConnector3">
            <a:avLst>
              <a:gd name="adj1" fmla="val -145672"/>
            </a:avLst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5" name="曲线连接符 34"/>
          <p:cNvCxnSpPr>
            <a:stCxn id="6" idx="0"/>
            <a:endCxn id="6" idx="7"/>
          </p:cNvCxnSpPr>
          <p:nvPr/>
        </p:nvCxnSpPr>
        <p:spPr>
          <a:xfrm rot="16200000" flipH="1">
            <a:off x="3003550" y="3460750"/>
            <a:ext cx="157163" cy="379413"/>
          </a:xfrm>
          <a:prstGeom prst="curvedConnector3">
            <a:avLst>
              <a:gd name="adj1" fmla="val -145672"/>
            </a:avLst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" name="曲线连接符 36"/>
          <p:cNvCxnSpPr>
            <a:stCxn id="7" idx="0"/>
            <a:endCxn id="7" idx="7"/>
          </p:cNvCxnSpPr>
          <p:nvPr/>
        </p:nvCxnSpPr>
        <p:spPr>
          <a:xfrm rot="16200000" flipH="1">
            <a:off x="4575175" y="3460750"/>
            <a:ext cx="157163" cy="379413"/>
          </a:xfrm>
          <a:prstGeom prst="curvedConnector3">
            <a:avLst>
              <a:gd name="adj1" fmla="val -145672"/>
            </a:avLst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9" name="曲线连接符 38"/>
          <p:cNvCxnSpPr>
            <a:stCxn id="8" idx="0"/>
            <a:endCxn id="8" idx="7"/>
          </p:cNvCxnSpPr>
          <p:nvPr/>
        </p:nvCxnSpPr>
        <p:spPr>
          <a:xfrm rot="16200000" flipH="1">
            <a:off x="6076156" y="3461544"/>
            <a:ext cx="157163" cy="377825"/>
          </a:xfrm>
          <a:prstGeom prst="curvedConnector3">
            <a:avLst>
              <a:gd name="adj1" fmla="val -145672"/>
            </a:avLst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1" name="曲线连接符 40"/>
          <p:cNvCxnSpPr>
            <a:stCxn id="9" idx="0"/>
            <a:endCxn id="7" idx="0"/>
          </p:cNvCxnSpPr>
          <p:nvPr/>
        </p:nvCxnSpPr>
        <p:spPr>
          <a:xfrm rot="16200000" flipV="1">
            <a:off x="5965032" y="2072481"/>
            <a:ext cx="1588" cy="3000375"/>
          </a:xfrm>
          <a:prstGeom prst="curvedConnector3">
            <a:avLst>
              <a:gd name="adj1" fmla="val 62080435"/>
            </a:avLst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3" name="组合 49"/>
          <p:cNvGrpSpPr>
            <a:grpSpLocks/>
          </p:cNvGrpSpPr>
          <p:nvPr/>
        </p:nvGrpSpPr>
        <p:grpSpPr bwMode="auto">
          <a:xfrm>
            <a:off x="785813" y="3571875"/>
            <a:ext cx="1071562" cy="1071563"/>
            <a:chOff x="785786" y="3571876"/>
            <a:chExt cx="1071570" cy="1071570"/>
          </a:xfrm>
        </p:grpSpPr>
        <p:sp>
          <p:nvSpPr>
            <p:cNvPr id="5" name="椭圆 4"/>
            <p:cNvSpPr/>
            <p:nvPr/>
          </p:nvSpPr>
          <p:spPr>
            <a:xfrm>
              <a:off x="785786" y="3571876"/>
              <a:ext cx="1071570" cy="107157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2804" name="TextBox 43"/>
            <p:cNvSpPr txBox="1">
              <a:spLocks noChangeArrowheads="1"/>
            </p:cNvSpPr>
            <p:nvPr/>
          </p:nvSpPr>
          <p:spPr bwMode="auto">
            <a:xfrm>
              <a:off x="1000100" y="3929066"/>
              <a:ext cx="64294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/>
                <a:t>calf</a:t>
              </a:r>
              <a:endParaRPr lang="zh-CN" altLang="en-US"/>
            </a:p>
          </p:txBody>
        </p:sp>
      </p:grpSp>
      <p:grpSp>
        <p:nvGrpSpPr>
          <p:cNvPr id="4" name="组合 50"/>
          <p:cNvGrpSpPr>
            <a:grpSpLocks/>
          </p:cNvGrpSpPr>
          <p:nvPr/>
        </p:nvGrpSpPr>
        <p:grpSpPr bwMode="auto">
          <a:xfrm>
            <a:off x="2357438" y="3571875"/>
            <a:ext cx="1143000" cy="1071563"/>
            <a:chOff x="2357422" y="3571876"/>
            <a:chExt cx="1143008" cy="1071570"/>
          </a:xfrm>
        </p:grpSpPr>
        <p:sp>
          <p:nvSpPr>
            <p:cNvPr id="6" name="椭圆 5"/>
            <p:cNvSpPr/>
            <p:nvPr/>
          </p:nvSpPr>
          <p:spPr>
            <a:xfrm>
              <a:off x="2357422" y="3571876"/>
              <a:ext cx="1071569" cy="107157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2802" name="TextBox 44"/>
            <p:cNvSpPr txBox="1">
              <a:spLocks noChangeArrowheads="1"/>
            </p:cNvSpPr>
            <p:nvPr/>
          </p:nvSpPr>
          <p:spPr bwMode="auto">
            <a:xfrm>
              <a:off x="2357422" y="3929066"/>
              <a:ext cx="114300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/>
                <a:t>immature</a:t>
              </a:r>
              <a:endParaRPr lang="zh-CN" altLang="en-US"/>
            </a:p>
          </p:txBody>
        </p:sp>
      </p:grpSp>
      <p:grpSp>
        <p:nvGrpSpPr>
          <p:cNvPr id="10" name="组合 51"/>
          <p:cNvGrpSpPr>
            <a:grpSpLocks/>
          </p:cNvGrpSpPr>
          <p:nvPr/>
        </p:nvGrpSpPr>
        <p:grpSpPr bwMode="auto">
          <a:xfrm>
            <a:off x="3929063" y="3571875"/>
            <a:ext cx="1071562" cy="1071563"/>
            <a:chOff x="3929058" y="3571876"/>
            <a:chExt cx="1071570" cy="1071570"/>
          </a:xfrm>
        </p:grpSpPr>
        <p:sp>
          <p:nvSpPr>
            <p:cNvPr id="7" name="椭圆 6"/>
            <p:cNvSpPr/>
            <p:nvPr/>
          </p:nvSpPr>
          <p:spPr>
            <a:xfrm>
              <a:off x="3929058" y="3571876"/>
              <a:ext cx="1071570" cy="107157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2800" name="TextBox 45"/>
            <p:cNvSpPr txBox="1">
              <a:spLocks noChangeArrowheads="1"/>
            </p:cNvSpPr>
            <p:nvPr/>
          </p:nvSpPr>
          <p:spPr bwMode="auto">
            <a:xfrm>
              <a:off x="4000496" y="3929066"/>
              <a:ext cx="92869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/>
                <a:t>mature</a:t>
              </a:r>
              <a:endParaRPr lang="zh-CN" altLang="en-US"/>
            </a:p>
          </p:txBody>
        </p:sp>
      </p:grpSp>
      <p:grpSp>
        <p:nvGrpSpPr>
          <p:cNvPr id="12" name="组合 52"/>
          <p:cNvGrpSpPr>
            <a:grpSpLocks/>
          </p:cNvGrpSpPr>
          <p:nvPr/>
        </p:nvGrpSpPr>
        <p:grpSpPr bwMode="auto">
          <a:xfrm>
            <a:off x="5429250" y="3571875"/>
            <a:ext cx="1071563" cy="1071563"/>
            <a:chOff x="5429256" y="3571876"/>
            <a:chExt cx="1071570" cy="1071570"/>
          </a:xfrm>
        </p:grpSpPr>
        <p:sp>
          <p:nvSpPr>
            <p:cNvPr id="8" name="椭圆 7"/>
            <p:cNvSpPr/>
            <p:nvPr/>
          </p:nvSpPr>
          <p:spPr>
            <a:xfrm>
              <a:off x="5429256" y="3571876"/>
              <a:ext cx="1071570" cy="1071570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2798" name="TextBox 46"/>
            <p:cNvSpPr txBox="1">
              <a:spLocks noChangeArrowheads="1"/>
            </p:cNvSpPr>
            <p:nvPr/>
          </p:nvSpPr>
          <p:spPr bwMode="auto">
            <a:xfrm>
              <a:off x="5643570" y="3929066"/>
              <a:ext cx="71438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/>
                <a:t>mom</a:t>
              </a:r>
              <a:endParaRPr lang="zh-CN" altLang="en-US"/>
            </a:p>
          </p:txBody>
        </p:sp>
      </p:grpSp>
      <p:grpSp>
        <p:nvGrpSpPr>
          <p:cNvPr id="14" name="组合 53"/>
          <p:cNvGrpSpPr>
            <a:grpSpLocks/>
          </p:cNvGrpSpPr>
          <p:nvPr/>
        </p:nvGrpSpPr>
        <p:grpSpPr bwMode="auto">
          <a:xfrm>
            <a:off x="6858000" y="3571875"/>
            <a:ext cx="1285875" cy="1071563"/>
            <a:chOff x="6858016" y="3571876"/>
            <a:chExt cx="1285884" cy="1071570"/>
          </a:xfrm>
        </p:grpSpPr>
        <p:sp>
          <p:nvSpPr>
            <p:cNvPr id="9" name="椭圆 8"/>
            <p:cNvSpPr/>
            <p:nvPr/>
          </p:nvSpPr>
          <p:spPr>
            <a:xfrm>
              <a:off x="6929455" y="3571876"/>
              <a:ext cx="1071569" cy="1071570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2796" name="TextBox 47"/>
            <p:cNvSpPr txBox="1">
              <a:spLocks noChangeArrowheads="1"/>
            </p:cNvSpPr>
            <p:nvPr/>
          </p:nvSpPr>
          <p:spPr bwMode="auto">
            <a:xfrm>
              <a:off x="6858016" y="3929066"/>
              <a:ext cx="128588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/>
                <a:t>Post-mom</a:t>
              </a:r>
              <a:endParaRPr lang="zh-CN" altLang="en-US"/>
            </a:p>
          </p:txBody>
        </p:sp>
      </p:grpSp>
      <p:grpSp>
        <p:nvGrpSpPr>
          <p:cNvPr id="16" name="组合 54"/>
          <p:cNvGrpSpPr>
            <a:grpSpLocks/>
          </p:cNvGrpSpPr>
          <p:nvPr/>
        </p:nvGrpSpPr>
        <p:grpSpPr bwMode="auto">
          <a:xfrm>
            <a:off x="3929063" y="5214938"/>
            <a:ext cx="1071562" cy="1071562"/>
            <a:chOff x="3929058" y="5214950"/>
            <a:chExt cx="1071570" cy="1071570"/>
          </a:xfrm>
        </p:grpSpPr>
        <p:sp>
          <p:nvSpPr>
            <p:cNvPr id="18" name="椭圆 17"/>
            <p:cNvSpPr/>
            <p:nvPr/>
          </p:nvSpPr>
          <p:spPr>
            <a:xfrm>
              <a:off x="3929058" y="5214950"/>
              <a:ext cx="1071570" cy="107157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2794" name="TextBox 48"/>
            <p:cNvSpPr txBox="1">
              <a:spLocks noChangeArrowheads="1"/>
            </p:cNvSpPr>
            <p:nvPr/>
          </p:nvSpPr>
          <p:spPr bwMode="auto">
            <a:xfrm>
              <a:off x="4071934" y="5572140"/>
              <a:ext cx="71438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/>
                <a:t>dead</a:t>
              </a:r>
              <a:endParaRPr lang="zh-CN" altLang="en-US"/>
            </a:p>
          </p:txBody>
        </p:sp>
      </p:grpSp>
      <p:pic>
        <p:nvPicPr>
          <p:cNvPr id="32791" name="Picture 6" descr="Right-Whale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625" y="1357313"/>
            <a:ext cx="2428875" cy="1820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7" name="TextBox 56"/>
          <p:cNvSpPr txBox="1">
            <a:spLocks noChangeArrowheads="1"/>
          </p:cNvSpPr>
          <p:nvPr/>
        </p:nvSpPr>
        <p:spPr bwMode="auto">
          <a:xfrm>
            <a:off x="3429000" y="1500188"/>
            <a:ext cx="5500688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/>
              <a:t>In real application, we need to specify or learn the transition probability table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 rtlCol="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rPr>
              <a:t>June 2006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rPr>
              <a:t>Hal Caswell -- Markov Anniversary Meeting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34DAB-BAA5-4493-8335-9EB34342AC91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CN" sz="3200" smtClean="0"/>
              <a:t>Application: The North Atlantic right whale </a:t>
            </a:r>
            <a:br>
              <a:rPr lang="en-US" altLang="zh-CN" sz="3200" smtClean="0"/>
            </a:br>
            <a:r>
              <a:rPr lang="en-US" altLang="zh-CN" sz="3200" smtClean="0"/>
              <a:t>(</a:t>
            </a:r>
            <a:r>
              <a:rPr lang="en-US" altLang="zh-CN" sz="3200" i="1" smtClean="0"/>
              <a:t>Eubalaena glacialis</a:t>
            </a:r>
            <a:r>
              <a:rPr lang="en-US" altLang="zh-CN" sz="3200" smtClean="0"/>
              <a:t>)</a:t>
            </a:r>
          </a:p>
        </p:txBody>
      </p:sp>
      <p:pic>
        <p:nvPicPr>
          <p:cNvPr id="33798" name="Picture 3" descr="whale"/>
          <p:cNvPicPr>
            <a:picLocks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371600" y="1600200"/>
            <a:ext cx="6477000" cy="4791075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/>
          <p:cNvSpPr>
            <a:spLocks noGrp="1"/>
          </p:cNvSpPr>
          <p:nvPr>
            <p:ph type="dt" sz="quarter" idx="10"/>
          </p:nvPr>
        </p:nvSpPr>
        <p:spPr/>
        <p:txBody>
          <a:bodyPr rtlCol="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rPr>
              <a:t>June 2006</a:t>
            </a:r>
          </a:p>
        </p:txBody>
      </p:sp>
      <p:sp>
        <p:nvSpPr>
          <p:cNvPr id="1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rPr>
              <a:t>Hal Caswell -- Markov Anniversary Meeting</a:t>
            </a:r>
          </a:p>
        </p:txBody>
      </p:sp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F28C-DE88-450B-9629-8A183EBE7039}" type="slidenum">
              <a:rPr lang="en-US" altLang="zh-CN"/>
              <a:pPr/>
              <a:t>31</a:t>
            </a:fld>
            <a:endParaRPr lang="en-US" altLang="zh-CN"/>
          </a:p>
        </p:txBody>
      </p:sp>
      <p:pic>
        <p:nvPicPr>
          <p:cNvPr id="34821" name="Picture 2" descr="right whale ma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152400"/>
            <a:ext cx="4978400" cy="649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822" name="Line 3"/>
          <p:cNvSpPr>
            <a:spLocks noChangeShapeType="1"/>
          </p:cNvSpPr>
          <p:nvPr/>
        </p:nvSpPr>
        <p:spPr bwMode="auto">
          <a:xfrm flipH="1" flipV="1">
            <a:off x="1600200" y="4267200"/>
            <a:ext cx="1447800" cy="457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23" name="Line 4"/>
          <p:cNvSpPr>
            <a:spLocks noChangeShapeType="1"/>
          </p:cNvSpPr>
          <p:nvPr/>
        </p:nvSpPr>
        <p:spPr bwMode="auto">
          <a:xfrm flipV="1">
            <a:off x="4648200" y="1828800"/>
            <a:ext cx="152400" cy="11430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24" name="Line 5"/>
          <p:cNvSpPr>
            <a:spLocks noChangeShapeType="1"/>
          </p:cNvSpPr>
          <p:nvPr/>
        </p:nvSpPr>
        <p:spPr bwMode="auto">
          <a:xfrm flipH="1" flipV="1">
            <a:off x="4038600" y="1600200"/>
            <a:ext cx="381000" cy="14478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25" name="Line 6"/>
          <p:cNvSpPr>
            <a:spLocks noChangeShapeType="1"/>
          </p:cNvSpPr>
          <p:nvPr/>
        </p:nvSpPr>
        <p:spPr bwMode="auto">
          <a:xfrm flipH="1" flipV="1">
            <a:off x="3657600" y="1981200"/>
            <a:ext cx="457200" cy="10668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26" name="Oval 7"/>
          <p:cNvSpPr>
            <a:spLocks noChangeArrowheads="1"/>
          </p:cNvSpPr>
          <p:nvPr/>
        </p:nvSpPr>
        <p:spPr bwMode="auto">
          <a:xfrm>
            <a:off x="2819400" y="4419600"/>
            <a:ext cx="1524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7" name="Text Box 8"/>
          <p:cNvSpPr txBox="1">
            <a:spLocks noChangeArrowheads="1"/>
          </p:cNvSpPr>
          <p:nvPr/>
        </p:nvSpPr>
        <p:spPr bwMode="auto">
          <a:xfrm>
            <a:off x="3048000" y="4572000"/>
            <a:ext cx="11350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2"/>
                </a:solidFill>
                <a:latin typeface="Helvetica" pitchFamily="34" charset="0"/>
              </a:rPr>
              <a:t>calving</a:t>
            </a:r>
          </a:p>
        </p:txBody>
      </p:sp>
      <p:sp>
        <p:nvSpPr>
          <p:cNvPr id="34828" name="Oval 9"/>
          <p:cNvSpPr>
            <a:spLocks noChangeArrowheads="1"/>
          </p:cNvSpPr>
          <p:nvPr/>
        </p:nvSpPr>
        <p:spPr bwMode="auto">
          <a:xfrm>
            <a:off x="3810000" y="2895600"/>
            <a:ext cx="12192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9" name="Text Box 10"/>
          <p:cNvSpPr txBox="1">
            <a:spLocks noChangeArrowheads="1"/>
          </p:cNvSpPr>
          <p:nvPr/>
        </p:nvSpPr>
        <p:spPr bwMode="auto">
          <a:xfrm>
            <a:off x="3886200" y="3048000"/>
            <a:ext cx="11858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2"/>
                </a:solidFill>
                <a:latin typeface="Helvetica" pitchFamily="34" charset="0"/>
              </a:rPr>
              <a:t>feeding</a:t>
            </a:r>
          </a:p>
        </p:txBody>
      </p:sp>
      <p:sp>
        <p:nvSpPr>
          <p:cNvPr id="34830" name="Text Box 11"/>
          <p:cNvSpPr txBox="1">
            <a:spLocks noChangeArrowheads="1"/>
          </p:cNvSpPr>
          <p:nvPr/>
        </p:nvSpPr>
        <p:spPr bwMode="auto">
          <a:xfrm>
            <a:off x="5791200" y="838200"/>
            <a:ext cx="2835275" cy="447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latin typeface="Helvetica" pitchFamily="34" charset="0"/>
              </a:rPr>
              <a:t>Endangered, by any standard</a:t>
            </a:r>
          </a:p>
          <a:p>
            <a:endParaRPr lang="en-US" altLang="zh-CN">
              <a:latin typeface="Helvetica" pitchFamily="34" charset="0"/>
            </a:endParaRPr>
          </a:p>
          <a:p>
            <a:r>
              <a:rPr lang="en-US" altLang="zh-CN">
                <a:latin typeface="Helvetica" pitchFamily="34" charset="0"/>
              </a:rPr>
              <a:t>N &lt; 300 individuals</a:t>
            </a:r>
          </a:p>
          <a:p>
            <a:endParaRPr lang="en-US" altLang="zh-CN">
              <a:latin typeface="Helvetica" pitchFamily="34" charset="0"/>
            </a:endParaRPr>
          </a:p>
          <a:p>
            <a:r>
              <a:rPr lang="en-US" altLang="zh-CN">
                <a:latin typeface="Helvetica" pitchFamily="34" charset="0"/>
              </a:rPr>
              <a:t>Minimal recovery since 1935</a:t>
            </a:r>
          </a:p>
          <a:p>
            <a:endParaRPr lang="en-US" altLang="zh-CN">
              <a:latin typeface="Helvetica" pitchFamily="34" charset="0"/>
            </a:endParaRPr>
          </a:p>
          <a:p>
            <a:r>
              <a:rPr lang="en-US" altLang="zh-CN">
                <a:latin typeface="Helvetica" pitchFamily="34" charset="0"/>
              </a:rPr>
              <a:t>Ship strikes</a:t>
            </a:r>
          </a:p>
          <a:p>
            <a:endParaRPr lang="en-US" altLang="zh-CN">
              <a:latin typeface="Helvetica" pitchFamily="34" charset="0"/>
            </a:endParaRPr>
          </a:p>
          <a:p>
            <a:r>
              <a:rPr lang="en-US" altLang="zh-CN">
                <a:latin typeface="Helvetica" pitchFamily="34" charset="0"/>
              </a:rPr>
              <a:t>Entanglement with fishing gear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>
            <a:spLocks noGrp="1"/>
          </p:cNvSpPr>
          <p:nvPr>
            <p:ph type="dt" sz="quarter" idx="10"/>
          </p:nvPr>
        </p:nvSpPr>
        <p:spPr/>
        <p:txBody>
          <a:bodyPr rtlCol="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rPr>
              <a:t>June 2006</a:t>
            </a:r>
          </a:p>
        </p:txBody>
      </p:sp>
      <p:sp>
        <p:nvSpPr>
          <p:cNvPr id="10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rPr>
              <a:t>Hal Caswell -- Markov Anniversary Meeting</a:t>
            </a:r>
          </a:p>
        </p:txBody>
      </p:sp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2E04F-336D-4DA1-A8C7-7DC636453C28}" type="slidenum">
              <a:rPr lang="en-US" altLang="zh-CN"/>
              <a:pPr/>
              <a:t>32</a:t>
            </a:fld>
            <a:endParaRPr lang="en-US" altLang="zh-CN"/>
          </a:p>
        </p:txBody>
      </p:sp>
      <p:pic>
        <p:nvPicPr>
          <p:cNvPr id="35845" name="Picture 2" descr="203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3581400"/>
            <a:ext cx="3810000" cy="2189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46" name="Picture 3" descr="2030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" y="1676400"/>
            <a:ext cx="3810000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47" name="Picture 4" descr="staccato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76800" y="1676400"/>
            <a:ext cx="2971800" cy="1852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48" name="Picture 5" descr="dorsal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953000" y="3962400"/>
            <a:ext cx="3124200" cy="177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849" name="Text Box 6"/>
          <p:cNvSpPr txBox="1">
            <a:spLocks noChangeArrowheads="1"/>
          </p:cNvSpPr>
          <p:nvPr/>
        </p:nvSpPr>
        <p:spPr bwMode="auto">
          <a:xfrm>
            <a:off x="609600" y="6019800"/>
            <a:ext cx="1957388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1400">
                <a:latin typeface="Times New Roman" pitchFamily="18" charset="0"/>
              </a:rPr>
              <a:t>2030: died October 1999</a:t>
            </a:r>
          </a:p>
          <a:p>
            <a:pPr eaLnBrk="0" hangingPunct="0"/>
            <a:r>
              <a:rPr lang="en-US" altLang="zh-CN" sz="1400">
                <a:latin typeface="Times New Roman" pitchFamily="18" charset="0"/>
              </a:rPr>
              <a:t>entanglement</a:t>
            </a:r>
          </a:p>
        </p:txBody>
      </p:sp>
      <p:sp>
        <p:nvSpPr>
          <p:cNvPr id="35850" name="Text Box 7"/>
          <p:cNvSpPr txBox="1">
            <a:spLocks noChangeArrowheads="1"/>
          </p:cNvSpPr>
          <p:nvPr/>
        </p:nvSpPr>
        <p:spPr bwMode="auto">
          <a:xfrm>
            <a:off x="5029200" y="5943600"/>
            <a:ext cx="426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1400">
                <a:latin typeface="Times New Roman" pitchFamily="18" charset="0"/>
              </a:rPr>
              <a:t>1014 “Staccato” died April 1999  ship strike</a:t>
            </a:r>
          </a:p>
        </p:txBody>
      </p:sp>
      <p:sp>
        <p:nvSpPr>
          <p:cNvPr id="35851" name="Text Box 8"/>
          <p:cNvSpPr txBox="1">
            <a:spLocks noChangeArrowheads="1"/>
          </p:cNvSpPr>
          <p:nvPr/>
        </p:nvSpPr>
        <p:spPr bwMode="auto">
          <a:xfrm>
            <a:off x="2103438" y="422275"/>
            <a:ext cx="51689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solidFill>
                  <a:schemeClr val="tx2"/>
                </a:solidFill>
                <a:latin typeface="Helvetica" pitchFamily="34" charset="0"/>
              </a:rPr>
              <a:t>Mortality and serious injury </a:t>
            </a:r>
          </a:p>
          <a:p>
            <a:pPr algn="ctr"/>
            <a:r>
              <a:rPr lang="en-US" altLang="zh-CN">
                <a:solidFill>
                  <a:schemeClr val="tx2"/>
                </a:solidFill>
                <a:latin typeface="Helvetica" pitchFamily="34" charset="0"/>
              </a:rPr>
              <a:t>due to entanglement and ship strikes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日期占位符 1"/>
          <p:cNvSpPr>
            <a:spLocks noGrp="1"/>
          </p:cNvSpPr>
          <p:nvPr>
            <p:ph type="dt" sz="quarter" idx="10"/>
          </p:nvPr>
        </p:nvSpPr>
        <p:spPr/>
        <p:txBody>
          <a:bodyPr rtlCol="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rPr>
              <a:t>June 2006</a:t>
            </a:r>
          </a:p>
        </p:txBody>
      </p:sp>
      <p:sp>
        <p:nvSpPr>
          <p:cNvPr id="115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rPr>
              <a:t>Hal Caswell -- Markov Anniversary Meeting</a:t>
            </a:r>
          </a:p>
        </p:txBody>
      </p:sp>
      <p:sp>
        <p:nvSpPr>
          <p:cNvPr id="1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0B22-5F8F-4620-A01D-B21B1B1C30CB}" type="slidenum">
              <a:rPr lang="en-US" altLang="zh-CN"/>
              <a:pPr/>
              <a:t>33</a:t>
            </a:fld>
            <a:endParaRPr lang="en-US" altLang="zh-CN"/>
          </a:p>
        </p:txBody>
      </p:sp>
      <p:grpSp>
        <p:nvGrpSpPr>
          <p:cNvPr id="36869" name="Group 113"/>
          <p:cNvGrpSpPr>
            <a:grpSpLocks/>
          </p:cNvGrpSpPr>
          <p:nvPr/>
        </p:nvGrpSpPr>
        <p:grpSpPr bwMode="auto">
          <a:xfrm>
            <a:off x="577850" y="598488"/>
            <a:ext cx="7615238" cy="6065837"/>
            <a:chOff x="364" y="377"/>
            <a:chExt cx="4797" cy="3821"/>
          </a:xfrm>
        </p:grpSpPr>
        <p:sp>
          <p:nvSpPr>
            <p:cNvPr id="36871" name="Rectangle 3"/>
            <p:cNvSpPr>
              <a:spLocks noChangeArrowheads="1"/>
            </p:cNvSpPr>
            <p:nvPr/>
          </p:nvSpPr>
          <p:spPr bwMode="auto">
            <a:xfrm>
              <a:off x="1118" y="452"/>
              <a:ext cx="4042" cy="3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2" name="Rectangle 4"/>
            <p:cNvSpPr>
              <a:spLocks noChangeArrowheads="1"/>
            </p:cNvSpPr>
            <p:nvPr/>
          </p:nvSpPr>
          <p:spPr bwMode="auto">
            <a:xfrm>
              <a:off x="1118" y="452"/>
              <a:ext cx="4042" cy="3193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3" name="Line 5"/>
            <p:cNvSpPr>
              <a:spLocks noChangeShapeType="1"/>
            </p:cNvSpPr>
            <p:nvPr/>
          </p:nvSpPr>
          <p:spPr bwMode="auto">
            <a:xfrm>
              <a:off x="1118" y="452"/>
              <a:ext cx="404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74" name="Freeform 6"/>
            <p:cNvSpPr>
              <a:spLocks/>
            </p:cNvSpPr>
            <p:nvPr/>
          </p:nvSpPr>
          <p:spPr bwMode="auto">
            <a:xfrm>
              <a:off x="1118" y="452"/>
              <a:ext cx="4042" cy="3193"/>
            </a:xfrm>
            <a:custGeom>
              <a:avLst/>
              <a:gdLst>
                <a:gd name="T0" fmla="*/ 0 w 595"/>
                <a:gd name="T1" fmla="*/ 470 h 470"/>
                <a:gd name="T2" fmla="*/ 595 w 595"/>
                <a:gd name="T3" fmla="*/ 470 h 470"/>
                <a:gd name="T4" fmla="*/ 595 w 595"/>
                <a:gd name="T5" fmla="*/ 0 h 470"/>
                <a:gd name="T6" fmla="*/ 0 60000 65536"/>
                <a:gd name="T7" fmla="*/ 0 60000 65536"/>
                <a:gd name="T8" fmla="*/ 0 60000 65536"/>
                <a:gd name="T9" fmla="*/ 0 w 595"/>
                <a:gd name="T10" fmla="*/ 0 h 470"/>
                <a:gd name="T11" fmla="*/ 595 w 595"/>
                <a:gd name="T12" fmla="*/ 470 h 4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5" h="470">
                  <a:moveTo>
                    <a:pt x="0" y="470"/>
                  </a:moveTo>
                  <a:lnTo>
                    <a:pt x="595" y="470"/>
                  </a:lnTo>
                  <a:lnTo>
                    <a:pt x="595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5" name="Line 7"/>
            <p:cNvSpPr>
              <a:spLocks noChangeShapeType="1"/>
            </p:cNvSpPr>
            <p:nvPr/>
          </p:nvSpPr>
          <p:spPr bwMode="auto">
            <a:xfrm flipV="1">
              <a:off x="1118" y="452"/>
              <a:ext cx="1" cy="319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76" name="Line 8"/>
            <p:cNvSpPr>
              <a:spLocks noChangeShapeType="1"/>
            </p:cNvSpPr>
            <p:nvPr/>
          </p:nvSpPr>
          <p:spPr bwMode="auto">
            <a:xfrm>
              <a:off x="1118" y="3645"/>
              <a:ext cx="404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77" name="Line 9"/>
            <p:cNvSpPr>
              <a:spLocks noChangeShapeType="1"/>
            </p:cNvSpPr>
            <p:nvPr/>
          </p:nvSpPr>
          <p:spPr bwMode="auto">
            <a:xfrm flipV="1">
              <a:off x="1118" y="452"/>
              <a:ext cx="1" cy="319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78" name="Line 10"/>
            <p:cNvSpPr>
              <a:spLocks noChangeShapeType="1"/>
            </p:cNvSpPr>
            <p:nvPr/>
          </p:nvSpPr>
          <p:spPr bwMode="auto">
            <a:xfrm flipV="1">
              <a:off x="1118" y="3604"/>
              <a:ext cx="1" cy="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79" name="Line 11"/>
            <p:cNvSpPr>
              <a:spLocks noChangeShapeType="1"/>
            </p:cNvSpPr>
            <p:nvPr/>
          </p:nvSpPr>
          <p:spPr bwMode="auto">
            <a:xfrm>
              <a:off x="1118" y="452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80" name="Rectangle 12"/>
            <p:cNvSpPr>
              <a:spLocks noChangeArrowheads="1"/>
            </p:cNvSpPr>
            <p:nvPr/>
          </p:nvSpPr>
          <p:spPr bwMode="auto">
            <a:xfrm>
              <a:off x="982" y="3727"/>
              <a:ext cx="32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>
                  <a:latin typeface="Verdana" pitchFamily="34" charset="0"/>
                </a:rPr>
                <a:t>1980</a:t>
              </a:r>
            </a:p>
          </p:txBody>
        </p:sp>
        <p:sp>
          <p:nvSpPr>
            <p:cNvPr id="36881" name="Line 13"/>
            <p:cNvSpPr>
              <a:spLocks noChangeShapeType="1"/>
            </p:cNvSpPr>
            <p:nvPr/>
          </p:nvSpPr>
          <p:spPr bwMode="auto">
            <a:xfrm flipV="1">
              <a:off x="1567" y="3604"/>
              <a:ext cx="1" cy="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82" name="Line 14"/>
            <p:cNvSpPr>
              <a:spLocks noChangeShapeType="1"/>
            </p:cNvSpPr>
            <p:nvPr/>
          </p:nvSpPr>
          <p:spPr bwMode="auto">
            <a:xfrm>
              <a:off x="1567" y="452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83" name="Line 15"/>
            <p:cNvSpPr>
              <a:spLocks noChangeShapeType="1"/>
            </p:cNvSpPr>
            <p:nvPr/>
          </p:nvSpPr>
          <p:spPr bwMode="auto">
            <a:xfrm flipV="1">
              <a:off x="2015" y="3604"/>
              <a:ext cx="1" cy="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84" name="Line 16"/>
            <p:cNvSpPr>
              <a:spLocks noChangeShapeType="1"/>
            </p:cNvSpPr>
            <p:nvPr/>
          </p:nvSpPr>
          <p:spPr bwMode="auto">
            <a:xfrm>
              <a:off x="2015" y="452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85" name="Rectangle 17"/>
            <p:cNvSpPr>
              <a:spLocks noChangeArrowheads="1"/>
            </p:cNvSpPr>
            <p:nvPr/>
          </p:nvSpPr>
          <p:spPr bwMode="auto">
            <a:xfrm>
              <a:off x="1879" y="3727"/>
              <a:ext cx="32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>
                  <a:latin typeface="Verdana" pitchFamily="34" charset="0"/>
                </a:rPr>
                <a:t>1984</a:t>
              </a:r>
            </a:p>
          </p:txBody>
        </p:sp>
        <p:sp>
          <p:nvSpPr>
            <p:cNvPr id="36886" name="Line 18"/>
            <p:cNvSpPr>
              <a:spLocks noChangeShapeType="1"/>
            </p:cNvSpPr>
            <p:nvPr/>
          </p:nvSpPr>
          <p:spPr bwMode="auto">
            <a:xfrm flipV="1">
              <a:off x="2463" y="3604"/>
              <a:ext cx="1" cy="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87" name="Line 19"/>
            <p:cNvSpPr>
              <a:spLocks noChangeShapeType="1"/>
            </p:cNvSpPr>
            <p:nvPr/>
          </p:nvSpPr>
          <p:spPr bwMode="auto">
            <a:xfrm>
              <a:off x="2463" y="452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88" name="Line 20"/>
            <p:cNvSpPr>
              <a:spLocks noChangeShapeType="1"/>
            </p:cNvSpPr>
            <p:nvPr/>
          </p:nvSpPr>
          <p:spPr bwMode="auto">
            <a:xfrm flipV="1">
              <a:off x="2912" y="3604"/>
              <a:ext cx="1" cy="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89" name="Line 21"/>
            <p:cNvSpPr>
              <a:spLocks noChangeShapeType="1"/>
            </p:cNvSpPr>
            <p:nvPr/>
          </p:nvSpPr>
          <p:spPr bwMode="auto">
            <a:xfrm>
              <a:off x="2912" y="452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90" name="Rectangle 22"/>
            <p:cNvSpPr>
              <a:spLocks noChangeArrowheads="1"/>
            </p:cNvSpPr>
            <p:nvPr/>
          </p:nvSpPr>
          <p:spPr bwMode="auto">
            <a:xfrm>
              <a:off x="2776" y="3727"/>
              <a:ext cx="32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>
                  <a:latin typeface="Verdana" pitchFamily="34" charset="0"/>
                </a:rPr>
                <a:t>1988</a:t>
              </a:r>
            </a:p>
          </p:txBody>
        </p:sp>
        <p:sp>
          <p:nvSpPr>
            <p:cNvPr id="36891" name="Line 23"/>
            <p:cNvSpPr>
              <a:spLocks noChangeShapeType="1"/>
            </p:cNvSpPr>
            <p:nvPr/>
          </p:nvSpPr>
          <p:spPr bwMode="auto">
            <a:xfrm flipV="1">
              <a:off x="3360" y="3604"/>
              <a:ext cx="1" cy="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92" name="Line 24"/>
            <p:cNvSpPr>
              <a:spLocks noChangeShapeType="1"/>
            </p:cNvSpPr>
            <p:nvPr/>
          </p:nvSpPr>
          <p:spPr bwMode="auto">
            <a:xfrm>
              <a:off x="3360" y="452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93" name="Line 25"/>
            <p:cNvSpPr>
              <a:spLocks noChangeShapeType="1"/>
            </p:cNvSpPr>
            <p:nvPr/>
          </p:nvSpPr>
          <p:spPr bwMode="auto">
            <a:xfrm flipV="1">
              <a:off x="3808" y="3604"/>
              <a:ext cx="1" cy="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94" name="Line 26"/>
            <p:cNvSpPr>
              <a:spLocks noChangeShapeType="1"/>
            </p:cNvSpPr>
            <p:nvPr/>
          </p:nvSpPr>
          <p:spPr bwMode="auto">
            <a:xfrm>
              <a:off x="3808" y="452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95" name="Rectangle 27"/>
            <p:cNvSpPr>
              <a:spLocks noChangeArrowheads="1"/>
            </p:cNvSpPr>
            <p:nvPr/>
          </p:nvSpPr>
          <p:spPr bwMode="auto">
            <a:xfrm>
              <a:off x="3672" y="3727"/>
              <a:ext cx="32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>
                  <a:latin typeface="Verdana" pitchFamily="34" charset="0"/>
                </a:rPr>
                <a:t>1992</a:t>
              </a:r>
            </a:p>
          </p:txBody>
        </p:sp>
        <p:sp>
          <p:nvSpPr>
            <p:cNvPr id="36896" name="Line 28"/>
            <p:cNvSpPr>
              <a:spLocks noChangeShapeType="1"/>
            </p:cNvSpPr>
            <p:nvPr/>
          </p:nvSpPr>
          <p:spPr bwMode="auto">
            <a:xfrm flipV="1">
              <a:off x="4257" y="3604"/>
              <a:ext cx="1" cy="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97" name="Line 29"/>
            <p:cNvSpPr>
              <a:spLocks noChangeShapeType="1"/>
            </p:cNvSpPr>
            <p:nvPr/>
          </p:nvSpPr>
          <p:spPr bwMode="auto">
            <a:xfrm>
              <a:off x="4257" y="452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98" name="Line 30"/>
            <p:cNvSpPr>
              <a:spLocks noChangeShapeType="1"/>
            </p:cNvSpPr>
            <p:nvPr/>
          </p:nvSpPr>
          <p:spPr bwMode="auto">
            <a:xfrm flipV="1">
              <a:off x="4705" y="3604"/>
              <a:ext cx="1" cy="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99" name="Line 31"/>
            <p:cNvSpPr>
              <a:spLocks noChangeShapeType="1"/>
            </p:cNvSpPr>
            <p:nvPr/>
          </p:nvSpPr>
          <p:spPr bwMode="auto">
            <a:xfrm>
              <a:off x="4705" y="452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00" name="Rectangle 32"/>
            <p:cNvSpPr>
              <a:spLocks noChangeArrowheads="1"/>
            </p:cNvSpPr>
            <p:nvPr/>
          </p:nvSpPr>
          <p:spPr bwMode="auto">
            <a:xfrm>
              <a:off x="4569" y="3727"/>
              <a:ext cx="32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>
                  <a:latin typeface="Verdana" pitchFamily="34" charset="0"/>
                </a:rPr>
                <a:t>1996</a:t>
              </a:r>
            </a:p>
          </p:txBody>
        </p:sp>
        <p:sp>
          <p:nvSpPr>
            <p:cNvPr id="36901" name="Line 33"/>
            <p:cNvSpPr>
              <a:spLocks noChangeShapeType="1"/>
            </p:cNvSpPr>
            <p:nvPr/>
          </p:nvSpPr>
          <p:spPr bwMode="auto">
            <a:xfrm flipV="1">
              <a:off x="5160" y="3604"/>
              <a:ext cx="1" cy="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02" name="Line 34"/>
            <p:cNvSpPr>
              <a:spLocks noChangeShapeType="1"/>
            </p:cNvSpPr>
            <p:nvPr/>
          </p:nvSpPr>
          <p:spPr bwMode="auto">
            <a:xfrm>
              <a:off x="5160" y="452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03" name="Line 35"/>
            <p:cNvSpPr>
              <a:spLocks noChangeShapeType="1"/>
            </p:cNvSpPr>
            <p:nvPr/>
          </p:nvSpPr>
          <p:spPr bwMode="auto">
            <a:xfrm>
              <a:off x="1118" y="3645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04" name="Line 36"/>
            <p:cNvSpPr>
              <a:spLocks noChangeShapeType="1"/>
            </p:cNvSpPr>
            <p:nvPr/>
          </p:nvSpPr>
          <p:spPr bwMode="auto">
            <a:xfrm flipH="1">
              <a:off x="5119" y="3645"/>
              <a:ext cx="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05" name="Rectangle 37"/>
            <p:cNvSpPr>
              <a:spLocks noChangeArrowheads="1"/>
            </p:cNvSpPr>
            <p:nvPr/>
          </p:nvSpPr>
          <p:spPr bwMode="auto">
            <a:xfrm>
              <a:off x="791" y="3570"/>
              <a:ext cx="29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>
                  <a:latin typeface="Verdana" pitchFamily="34" charset="0"/>
                </a:rPr>
                <a:t>0.82</a:t>
              </a:r>
            </a:p>
          </p:txBody>
        </p:sp>
        <p:sp>
          <p:nvSpPr>
            <p:cNvPr id="36906" name="Line 38"/>
            <p:cNvSpPr>
              <a:spLocks noChangeShapeType="1"/>
            </p:cNvSpPr>
            <p:nvPr/>
          </p:nvSpPr>
          <p:spPr bwMode="auto">
            <a:xfrm>
              <a:off x="1118" y="3183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07" name="Line 39"/>
            <p:cNvSpPr>
              <a:spLocks noChangeShapeType="1"/>
            </p:cNvSpPr>
            <p:nvPr/>
          </p:nvSpPr>
          <p:spPr bwMode="auto">
            <a:xfrm flipH="1">
              <a:off x="5119" y="3183"/>
              <a:ext cx="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08" name="Rectangle 40"/>
            <p:cNvSpPr>
              <a:spLocks noChangeArrowheads="1"/>
            </p:cNvSpPr>
            <p:nvPr/>
          </p:nvSpPr>
          <p:spPr bwMode="auto">
            <a:xfrm>
              <a:off x="791" y="3108"/>
              <a:ext cx="29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>
                  <a:latin typeface="Verdana" pitchFamily="34" charset="0"/>
                </a:rPr>
                <a:t>0.84</a:t>
              </a:r>
            </a:p>
          </p:txBody>
        </p:sp>
        <p:sp>
          <p:nvSpPr>
            <p:cNvPr id="36909" name="Line 41"/>
            <p:cNvSpPr>
              <a:spLocks noChangeShapeType="1"/>
            </p:cNvSpPr>
            <p:nvPr/>
          </p:nvSpPr>
          <p:spPr bwMode="auto">
            <a:xfrm>
              <a:off x="1118" y="2728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10" name="Line 42"/>
            <p:cNvSpPr>
              <a:spLocks noChangeShapeType="1"/>
            </p:cNvSpPr>
            <p:nvPr/>
          </p:nvSpPr>
          <p:spPr bwMode="auto">
            <a:xfrm flipH="1">
              <a:off x="5119" y="2728"/>
              <a:ext cx="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11" name="Rectangle 43"/>
            <p:cNvSpPr>
              <a:spLocks noChangeArrowheads="1"/>
            </p:cNvSpPr>
            <p:nvPr/>
          </p:nvSpPr>
          <p:spPr bwMode="auto">
            <a:xfrm>
              <a:off x="791" y="2653"/>
              <a:ext cx="29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>
                  <a:latin typeface="Verdana" pitchFamily="34" charset="0"/>
                </a:rPr>
                <a:t>0.86</a:t>
              </a:r>
            </a:p>
          </p:txBody>
        </p:sp>
        <p:sp>
          <p:nvSpPr>
            <p:cNvPr id="36912" name="Line 44"/>
            <p:cNvSpPr>
              <a:spLocks noChangeShapeType="1"/>
            </p:cNvSpPr>
            <p:nvPr/>
          </p:nvSpPr>
          <p:spPr bwMode="auto">
            <a:xfrm>
              <a:off x="1118" y="2273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13" name="Line 45"/>
            <p:cNvSpPr>
              <a:spLocks noChangeShapeType="1"/>
            </p:cNvSpPr>
            <p:nvPr/>
          </p:nvSpPr>
          <p:spPr bwMode="auto">
            <a:xfrm flipH="1">
              <a:off x="5119" y="2273"/>
              <a:ext cx="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14" name="Rectangle 46"/>
            <p:cNvSpPr>
              <a:spLocks noChangeArrowheads="1"/>
            </p:cNvSpPr>
            <p:nvPr/>
          </p:nvSpPr>
          <p:spPr bwMode="auto">
            <a:xfrm>
              <a:off x="791" y="2198"/>
              <a:ext cx="29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>
                  <a:latin typeface="Verdana" pitchFamily="34" charset="0"/>
                </a:rPr>
                <a:t>0.88</a:t>
              </a:r>
            </a:p>
          </p:txBody>
        </p:sp>
        <p:sp>
          <p:nvSpPr>
            <p:cNvPr id="36915" name="Line 47"/>
            <p:cNvSpPr>
              <a:spLocks noChangeShapeType="1"/>
            </p:cNvSpPr>
            <p:nvPr/>
          </p:nvSpPr>
          <p:spPr bwMode="auto">
            <a:xfrm>
              <a:off x="1118" y="1818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16" name="Line 48"/>
            <p:cNvSpPr>
              <a:spLocks noChangeShapeType="1"/>
            </p:cNvSpPr>
            <p:nvPr/>
          </p:nvSpPr>
          <p:spPr bwMode="auto">
            <a:xfrm flipH="1">
              <a:off x="5119" y="1818"/>
              <a:ext cx="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17" name="Rectangle 49"/>
            <p:cNvSpPr>
              <a:spLocks noChangeArrowheads="1"/>
            </p:cNvSpPr>
            <p:nvPr/>
          </p:nvSpPr>
          <p:spPr bwMode="auto">
            <a:xfrm>
              <a:off x="859" y="1743"/>
              <a:ext cx="209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>
                  <a:latin typeface="Verdana" pitchFamily="34" charset="0"/>
                </a:rPr>
                <a:t>0.9</a:t>
              </a:r>
            </a:p>
          </p:txBody>
        </p:sp>
        <p:sp>
          <p:nvSpPr>
            <p:cNvPr id="36918" name="Line 50"/>
            <p:cNvSpPr>
              <a:spLocks noChangeShapeType="1"/>
            </p:cNvSpPr>
            <p:nvPr/>
          </p:nvSpPr>
          <p:spPr bwMode="auto">
            <a:xfrm>
              <a:off x="1118" y="1362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19" name="Line 51"/>
            <p:cNvSpPr>
              <a:spLocks noChangeShapeType="1"/>
            </p:cNvSpPr>
            <p:nvPr/>
          </p:nvSpPr>
          <p:spPr bwMode="auto">
            <a:xfrm flipH="1">
              <a:off x="5119" y="1362"/>
              <a:ext cx="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20" name="Rectangle 52"/>
            <p:cNvSpPr>
              <a:spLocks noChangeArrowheads="1"/>
            </p:cNvSpPr>
            <p:nvPr/>
          </p:nvSpPr>
          <p:spPr bwMode="auto">
            <a:xfrm>
              <a:off x="791" y="1288"/>
              <a:ext cx="29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>
                  <a:latin typeface="Verdana" pitchFamily="34" charset="0"/>
                </a:rPr>
                <a:t>0.92</a:t>
              </a:r>
            </a:p>
          </p:txBody>
        </p:sp>
        <p:sp>
          <p:nvSpPr>
            <p:cNvPr id="36921" name="Line 53"/>
            <p:cNvSpPr>
              <a:spLocks noChangeShapeType="1"/>
            </p:cNvSpPr>
            <p:nvPr/>
          </p:nvSpPr>
          <p:spPr bwMode="auto">
            <a:xfrm>
              <a:off x="1118" y="907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22" name="Line 54"/>
            <p:cNvSpPr>
              <a:spLocks noChangeShapeType="1"/>
            </p:cNvSpPr>
            <p:nvPr/>
          </p:nvSpPr>
          <p:spPr bwMode="auto">
            <a:xfrm flipH="1">
              <a:off x="5119" y="907"/>
              <a:ext cx="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23" name="Rectangle 55"/>
            <p:cNvSpPr>
              <a:spLocks noChangeArrowheads="1"/>
            </p:cNvSpPr>
            <p:nvPr/>
          </p:nvSpPr>
          <p:spPr bwMode="auto">
            <a:xfrm>
              <a:off x="791" y="833"/>
              <a:ext cx="29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>
                  <a:latin typeface="Verdana" pitchFamily="34" charset="0"/>
                </a:rPr>
                <a:t>0.94</a:t>
              </a:r>
            </a:p>
          </p:txBody>
        </p:sp>
        <p:sp>
          <p:nvSpPr>
            <p:cNvPr id="36924" name="Line 56"/>
            <p:cNvSpPr>
              <a:spLocks noChangeShapeType="1"/>
            </p:cNvSpPr>
            <p:nvPr/>
          </p:nvSpPr>
          <p:spPr bwMode="auto">
            <a:xfrm>
              <a:off x="1118" y="452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25" name="Line 57"/>
            <p:cNvSpPr>
              <a:spLocks noChangeShapeType="1"/>
            </p:cNvSpPr>
            <p:nvPr/>
          </p:nvSpPr>
          <p:spPr bwMode="auto">
            <a:xfrm flipH="1">
              <a:off x="5119" y="452"/>
              <a:ext cx="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26" name="Rectangle 58"/>
            <p:cNvSpPr>
              <a:spLocks noChangeArrowheads="1"/>
            </p:cNvSpPr>
            <p:nvPr/>
          </p:nvSpPr>
          <p:spPr bwMode="auto">
            <a:xfrm>
              <a:off x="791" y="377"/>
              <a:ext cx="29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>
                  <a:latin typeface="Verdana" pitchFamily="34" charset="0"/>
                </a:rPr>
                <a:t>0.96</a:t>
              </a:r>
            </a:p>
          </p:txBody>
        </p:sp>
        <p:sp>
          <p:nvSpPr>
            <p:cNvPr id="36927" name="Line 59"/>
            <p:cNvSpPr>
              <a:spLocks noChangeShapeType="1"/>
            </p:cNvSpPr>
            <p:nvPr/>
          </p:nvSpPr>
          <p:spPr bwMode="auto">
            <a:xfrm>
              <a:off x="1118" y="452"/>
              <a:ext cx="404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28" name="Freeform 60"/>
            <p:cNvSpPr>
              <a:spLocks/>
            </p:cNvSpPr>
            <p:nvPr/>
          </p:nvSpPr>
          <p:spPr bwMode="auto">
            <a:xfrm>
              <a:off x="1118" y="452"/>
              <a:ext cx="4042" cy="3193"/>
            </a:xfrm>
            <a:custGeom>
              <a:avLst/>
              <a:gdLst>
                <a:gd name="T0" fmla="*/ 0 w 595"/>
                <a:gd name="T1" fmla="*/ 470 h 470"/>
                <a:gd name="T2" fmla="*/ 595 w 595"/>
                <a:gd name="T3" fmla="*/ 470 h 470"/>
                <a:gd name="T4" fmla="*/ 595 w 595"/>
                <a:gd name="T5" fmla="*/ 0 h 470"/>
                <a:gd name="T6" fmla="*/ 0 60000 65536"/>
                <a:gd name="T7" fmla="*/ 0 60000 65536"/>
                <a:gd name="T8" fmla="*/ 0 60000 65536"/>
                <a:gd name="T9" fmla="*/ 0 w 595"/>
                <a:gd name="T10" fmla="*/ 0 h 470"/>
                <a:gd name="T11" fmla="*/ 595 w 595"/>
                <a:gd name="T12" fmla="*/ 470 h 4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5" h="470">
                  <a:moveTo>
                    <a:pt x="0" y="470"/>
                  </a:moveTo>
                  <a:lnTo>
                    <a:pt x="595" y="470"/>
                  </a:lnTo>
                  <a:lnTo>
                    <a:pt x="595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9" name="Line 61"/>
            <p:cNvSpPr>
              <a:spLocks noChangeShapeType="1"/>
            </p:cNvSpPr>
            <p:nvPr/>
          </p:nvSpPr>
          <p:spPr bwMode="auto">
            <a:xfrm flipV="1">
              <a:off x="1118" y="452"/>
              <a:ext cx="1" cy="319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30" name="Freeform 62"/>
            <p:cNvSpPr>
              <a:spLocks/>
            </p:cNvSpPr>
            <p:nvPr/>
          </p:nvSpPr>
          <p:spPr bwMode="auto">
            <a:xfrm>
              <a:off x="1118" y="1722"/>
              <a:ext cx="3811" cy="75"/>
            </a:xfrm>
            <a:custGeom>
              <a:avLst/>
              <a:gdLst>
                <a:gd name="T0" fmla="*/ 0 w 3811"/>
                <a:gd name="T1" fmla="*/ 0 h 75"/>
                <a:gd name="T2" fmla="*/ 224 w 3811"/>
                <a:gd name="T3" fmla="*/ 7 h 75"/>
                <a:gd name="T4" fmla="*/ 449 w 3811"/>
                <a:gd name="T5" fmla="*/ 7 h 75"/>
                <a:gd name="T6" fmla="*/ 673 w 3811"/>
                <a:gd name="T7" fmla="*/ 14 h 75"/>
                <a:gd name="T8" fmla="*/ 897 w 3811"/>
                <a:gd name="T9" fmla="*/ 14 h 75"/>
                <a:gd name="T10" fmla="*/ 1121 w 3811"/>
                <a:gd name="T11" fmla="*/ 21 h 75"/>
                <a:gd name="T12" fmla="*/ 1345 w 3811"/>
                <a:gd name="T13" fmla="*/ 28 h 75"/>
                <a:gd name="T14" fmla="*/ 1569 w 3811"/>
                <a:gd name="T15" fmla="*/ 28 h 75"/>
                <a:gd name="T16" fmla="*/ 1794 w 3811"/>
                <a:gd name="T17" fmla="*/ 34 h 75"/>
                <a:gd name="T18" fmla="*/ 2018 w 3811"/>
                <a:gd name="T19" fmla="*/ 41 h 75"/>
                <a:gd name="T20" fmla="*/ 2242 w 3811"/>
                <a:gd name="T21" fmla="*/ 41 h 75"/>
                <a:gd name="T22" fmla="*/ 2466 w 3811"/>
                <a:gd name="T23" fmla="*/ 48 h 75"/>
                <a:gd name="T24" fmla="*/ 2690 w 3811"/>
                <a:gd name="T25" fmla="*/ 55 h 75"/>
                <a:gd name="T26" fmla="*/ 2914 w 3811"/>
                <a:gd name="T27" fmla="*/ 55 h 75"/>
                <a:gd name="T28" fmla="*/ 3139 w 3811"/>
                <a:gd name="T29" fmla="*/ 62 h 75"/>
                <a:gd name="T30" fmla="*/ 3363 w 3811"/>
                <a:gd name="T31" fmla="*/ 62 h 75"/>
                <a:gd name="T32" fmla="*/ 3587 w 3811"/>
                <a:gd name="T33" fmla="*/ 68 h 75"/>
                <a:gd name="T34" fmla="*/ 3811 w 3811"/>
                <a:gd name="T35" fmla="*/ 75 h 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811"/>
                <a:gd name="T55" fmla="*/ 0 h 75"/>
                <a:gd name="T56" fmla="*/ 3811 w 3811"/>
                <a:gd name="T57" fmla="*/ 75 h 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811" h="75">
                  <a:moveTo>
                    <a:pt x="0" y="0"/>
                  </a:moveTo>
                  <a:lnTo>
                    <a:pt x="224" y="7"/>
                  </a:lnTo>
                  <a:lnTo>
                    <a:pt x="449" y="7"/>
                  </a:lnTo>
                  <a:lnTo>
                    <a:pt x="673" y="14"/>
                  </a:lnTo>
                  <a:lnTo>
                    <a:pt x="897" y="14"/>
                  </a:lnTo>
                  <a:lnTo>
                    <a:pt x="1121" y="21"/>
                  </a:lnTo>
                  <a:lnTo>
                    <a:pt x="1345" y="28"/>
                  </a:lnTo>
                  <a:lnTo>
                    <a:pt x="1569" y="28"/>
                  </a:lnTo>
                  <a:lnTo>
                    <a:pt x="1794" y="34"/>
                  </a:lnTo>
                  <a:lnTo>
                    <a:pt x="2018" y="41"/>
                  </a:lnTo>
                  <a:lnTo>
                    <a:pt x="2242" y="41"/>
                  </a:lnTo>
                  <a:lnTo>
                    <a:pt x="2466" y="48"/>
                  </a:lnTo>
                  <a:lnTo>
                    <a:pt x="2690" y="55"/>
                  </a:lnTo>
                  <a:lnTo>
                    <a:pt x="2914" y="55"/>
                  </a:lnTo>
                  <a:lnTo>
                    <a:pt x="3139" y="62"/>
                  </a:lnTo>
                  <a:lnTo>
                    <a:pt x="3363" y="62"/>
                  </a:lnTo>
                  <a:lnTo>
                    <a:pt x="3587" y="68"/>
                  </a:lnTo>
                  <a:lnTo>
                    <a:pt x="3811" y="75"/>
                  </a:lnTo>
                </a:path>
              </a:pathLst>
            </a:cu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1" name="Oval 63"/>
            <p:cNvSpPr>
              <a:spLocks noChangeArrowheads="1"/>
            </p:cNvSpPr>
            <p:nvPr/>
          </p:nvSpPr>
          <p:spPr bwMode="auto">
            <a:xfrm>
              <a:off x="1091" y="1695"/>
              <a:ext cx="61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2" name="Oval 64"/>
            <p:cNvSpPr>
              <a:spLocks noChangeArrowheads="1"/>
            </p:cNvSpPr>
            <p:nvPr/>
          </p:nvSpPr>
          <p:spPr bwMode="auto">
            <a:xfrm>
              <a:off x="1315" y="1702"/>
              <a:ext cx="61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3" name="Oval 65"/>
            <p:cNvSpPr>
              <a:spLocks noChangeArrowheads="1"/>
            </p:cNvSpPr>
            <p:nvPr/>
          </p:nvSpPr>
          <p:spPr bwMode="auto">
            <a:xfrm>
              <a:off x="1539" y="1702"/>
              <a:ext cx="62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4" name="Oval 66"/>
            <p:cNvSpPr>
              <a:spLocks noChangeArrowheads="1"/>
            </p:cNvSpPr>
            <p:nvPr/>
          </p:nvSpPr>
          <p:spPr bwMode="auto">
            <a:xfrm>
              <a:off x="1764" y="1709"/>
              <a:ext cx="61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5" name="Oval 67"/>
            <p:cNvSpPr>
              <a:spLocks noChangeArrowheads="1"/>
            </p:cNvSpPr>
            <p:nvPr/>
          </p:nvSpPr>
          <p:spPr bwMode="auto">
            <a:xfrm>
              <a:off x="1988" y="1709"/>
              <a:ext cx="61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6" name="Oval 68"/>
            <p:cNvSpPr>
              <a:spLocks noChangeArrowheads="1"/>
            </p:cNvSpPr>
            <p:nvPr/>
          </p:nvSpPr>
          <p:spPr bwMode="auto">
            <a:xfrm>
              <a:off x="2212" y="1716"/>
              <a:ext cx="61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7" name="Oval 69"/>
            <p:cNvSpPr>
              <a:spLocks noChangeArrowheads="1"/>
            </p:cNvSpPr>
            <p:nvPr/>
          </p:nvSpPr>
          <p:spPr bwMode="auto">
            <a:xfrm>
              <a:off x="2436" y="1722"/>
              <a:ext cx="61" cy="62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8" name="Oval 70"/>
            <p:cNvSpPr>
              <a:spLocks noChangeArrowheads="1"/>
            </p:cNvSpPr>
            <p:nvPr/>
          </p:nvSpPr>
          <p:spPr bwMode="auto">
            <a:xfrm>
              <a:off x="2660" y="1722"/>
              <a:ext cx="61" cy="62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9" name="Oval 71"/>
            <p:cNvSpPr>
              <a:spLocks noChangeArrowheads="1"/>
            </p:cNvSpPr>
            <p:nvPr/>
          </p:nvSpPr>
          <p:spPr bwMode="auto">
            <a:xfrm>
              <a:off x="2884" y="1729"/>
              <a:ext cx="62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40" name="Oval 72"/>
            <p:cNvSpPr>
              <a:spLocks noChangeArrowheads="1"/>
            </p:cNvSpPr>
            <p:nvPr/>
          </p:nvSpPr>
          <p:spPr bwMode="auto">
            <a:xfrm>
              <a:off x="3109" y="1736"/>
              <a:ext cx="61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41" name="Oval 73"/>
            <p:cNvSpPr>
              <a:spLocks noChangeArrowheads="1"/>
            </p:cNvSpPr>
            <p:nvPr/>
          </p:nvSpPr>
          <p:spPr bwMode="auto">
            <a:xfrm>
              <a:off x="3333" y="1736"/>
              <a:ext cx="61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42" name="Oval 74"/>
            <p:cNvSpPr>
              <a:spLocks noChangeArrowheads="1"/>
            </p:cNvSpPr>
            <p:nvPr/>
          </p:nvSpPr>
          <p:spPr bwMode="auto">
            <a:xfrm>
              <a:off x="3557" y="1743"/>
              <a:ext cx="61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43" name="Oval 75"/>
            <p:cNvSpPr>
              <a:spLocks noChangeArrowheads="1"/>
            </p:cNvSpPr>
            <p:nvPr/>
          </p:nvSpPr>
          <p:spPr bwMode="auto">
            <a:xfrm>
              <a:off x="3781" y="1750"/>
              <a:ext cx="61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44" name="Oval 76"/>
            <p:cNvSpPr>
              <a:spLocks noChangeArrowheads="1"/>
            </p:cNvSpPr>
            <p:nvPr/>
          </p:nvSpPr>
          <p:spPr bwMode="auto">
            <a:xfrm>
              <a:off x="4005" y="1750"/>
              <a:ext cx="61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45" name="Oval 77"/>
            <p:cNvSpPr>
              <a:spLocks noChangeArrowheads="1"/>
            </p:cNvSpPr>
            <p:nvPr/>
          </p:nvSpPr>
          <p:spPr bwMode="auto">
            <a:xfrm>
              <a:off x="4229" y="1756"/>
              <a:ext cx="62" cy="62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46" name="Oval 78"/>
            <p:cNvSpPr>
              <a:spLocks noChangeArrowheads="1"/>
            </p:cNvSpPr>
            <p:nvPr/>
          </p:nvSpPr>
          <p:spPr bwMode="auto">
            <a:xfrm>
              <a:off x="4454" y="1756"/>
              <a:ext cx="61" cy="62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47" name="Oval 79"/>
            <p:cNvSpPr>
              <a:spLocks noChangeArrowheads="1"/>
            </p:cNvSpPr>
            <p:nvPr/>
          </p:nvSpPr>
          <p:spPr bwMode="auto">
            <a:xfrm>
              <a:off x="4678" y="1763"/>
              <a:ext cx="61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48" name="Oval 80"/>
            <p:cNvSpPr>
              <a:spLocks noChangeArrowheads="1"/>
            </p:cNvSpPr>
            <p:nvPr/>
          </p:nvSpPr>
          <p:spPr bwMode="auto">
            <a:xfrm>
              <a:off x="4902" y="1770"/>
              <a:ext cx="61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49" name="Freeform 81"/>
            <p:cNvSpPr>
              <a:spLocks/>
            </p:cNvSpPr>
            <p:nvPr/>
          </p:nvSpPr>
          <p:spPr bwMode="auto">
            <a:xfrm>
              <a:off x="1118" y="574"/>
              <a:ext cx="3811" cy="2888"/>
            </a:xfrm>
            <a:custGeom>
              <a:avLst/>
              <a:gdLst>
                <a:gd name="T0" fmla="*/ 0 w 3811"/>
                <a:gd name="T1" fmla="*/ 598 h 2888"/>
                <a:gd name="T2" fmla="*/ 224 w 3811"/>
                <a:gd name="T3" fmla="*/ 0 h 2888"/>
                <a:gd name="T4" fmla="*/ 449 w 3811"/>
                <a:gd name="T5" fmla="*/ 727 h 2888"/>
                <a:gd name="T6" fmla="*/ 673 w 3811"/>
                <a:gd name="T7" fmla="*/ 1278 h 2888"/>
                <a:gd name="T8" fmla="*/ 897 w 3811"/>
                <a:gd name="T9" fmla="*/ 802 h 2888"/>
                <a:gd name="T10" fmla="*/ 1121 w 3811"/>
                <a:gd name="T11" fmla="*/ 1916 h 2888"/>
                <a:gd name="T12" fmla="*/ 1345 w 3811"/>
                <a:gd name="T13" fmla="*/ 1094 h 2888"/>
                <a:gd name="T14" fmla="*/ 1569 w 3811"/>
                <a:gd name="T15" fmla="*/ 374 h 2888"/>
                <a:gd name="T16" fmla="*/ 1794 w 3811"/>
                <a:gd name="T17" fmla="*/ 707 h 2888"/>
                <a:gd name="T18" fmla="*/ 2018 w 3811"/>
                <a:gd name="T19" fmla="*/ 340 h 2888"/>
                <a:gd name="T20" fmla="*/ 2242 w 3811"/>
                <a:gd name="T21" fmla="*/ 775 h 2888"/>
                <a:gd name="T22" fmla="*/ 2466 w 3811"/>
                <a:gd name="T23" fmla="*/ 2888 h 2888"/>
                <a:gd name="T24" fmla="*/ 2690 w 3811"/>
                <a:gd name="T25" fmla="*/ 2208 h 2888"/>
                <a:gd name="T26" fmla="*/ 2914 w 3811"/>
                <a:gd name="T27" fmla="*/ 884 h 2888"/>
                <a:gd name="T28" fmla="*/ 3139 w 3811"/>
                <a:gd name="T29" fmla="*/ 1848 h 2888"/>
                <a:gd name="T30" fmla="*/ 3363 w 3811"/>
                <a:gd name="T31" fmla="*/ 1549 h 2888"/>
                <a:gd name="T32" fmla="*/ 3587 w 3811"/>
                <a:gd name="T33" fmla="*/ 1726 h 2888"/>
                <a:gd name="T34" fmla="*/ 3811 w 3811"/>
                <a:gd name="T35" fmla="*/ 2208 h 288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811"/>
                <a:gd name="T55" fmla="*/ 0 h 2888"/>
                <a:gd name="T56" fmla="*/ 3811 w 3811"/>
                <a:gd name="T57" fmla="*/ 2888 h 2888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811" h="2888">
                  <a:moveTo>
                    <a:pt x="0" y="598"/>
                  </a:moveTo>
                  <a:lnTo>
                    <a:pt x="224" y="0"/>
                  </a:lnTo>
                  <a:lnTo>
                    <a:pt x="449" y="727"/>
                  </a:lnTo>
                  <a:lnTo>
                    <a:pt x="673" y="1278"/>
                  </a:lnTo>
                  <a:lnTo>
                    <a:pt x="897" y="802"/>
                  </a:lnTo>
                  <a:lnTo>
                    <a:pt x="1121" y="1916"/>
                  </a:lnTo>
                  <a:lnTo>
                    <a:pt x="1345" y="1094"/>
                  </a:lnTo>
                  <a:lnTo>
                    <a:pt x="1569" y="374"/>
                  </a:lnTo>
                  <a:lnTo>
                    <a:pt x="1794" y="707"/>
                  </a:lnTo>
                  <a:lnTo>
                    <a:pt x="2018" y="340"/>
                  </a:lnTo>
                  <a:lnTo>
                    <a:pt x="2242" y="775"/>
                  </a:lnTo>
                  <a:lnTo>
                    <a:pt x="2466" y="2888"/>
                  </a:lnTo>
                  <a:lnTo>
                    <a:pt x="2690" y="2208"/>
                  </a:lnTo>
                  <a:lnTo>
                    <a:pt x="2914" y="884"/>
                  </a:lnTo>
                  <a:lnTo>
                    <a:pt x="3139" y="1848"/>
                  </a:lnTo>
                  <a:lnTo>
                    <a:pt x="3363" y="1549"/>
                  </a:lnTo>
                  <a:lnTo>
                    <a:pt x="3587" y="1726"/>
                  </a:lnTo>
                  <a:lnTo>
                    <a:pt x="3811" y="2208"/>
                  </a:lnTo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50" name="Freeform 82"/>
            <p:cNvSpPr>
              <a:spLocks/>
            </p:cNvSpPr>
            <p:nvPr/>
          </p:nvSpPr>
          <p:spPr bwMode="auto">
            <a:xfrm>
              <a:off x="1084" y="1152"/>
              <a:ext cx="68" cy="54"/>
            </a:xfrm>
            <a:custGeom>
              <a:avLst/>
              <a:gdLst>
                <a:gd name="T0" fmla="*/ 34 w 68"/>
                <a:gd name="T1" fmla="*/ 54 h 54"/>
                <a:gd name="T2" fmla="*/ 68 w 68"/>
                <a:gd name="T3" fmla="*/ 0 h 54"/>
                <a:gd name="T4" fmla="*/ 0 w 68"/>
                <a:gd name="T5" fmla="*/ 0 h 54"/>
                <a:gd name="T6" fmla="*/ 34 w 68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54"/>
                <a:gd name="T14" fmla="*/ 68 w 6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54">
                  <a:moveTo>
                    <a:pt x="34" y="54"/>
                  </a:moveTo>
                  <a:lnTo>
                    <a:pt x="68" y="0"/>
                  </a:lnTo>
                  <a:lnTo>
                    <a:pt x="0" y="0"/>
                  </a:lnTo>
                  <a:lnTo>
                    <a:pt x="34" y="54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51" name="Freeform 83"/>
            <p:cNvSpPr>
              <a:spLocks/>
            </p:cNvSpPr>
            <p:nvPr/>
          </p:nvSpPr>
          <p:spPr bwMode="auto">
            <a:xfrm>
              <a:off x="1309" y="554"/>
              <a:ext cx="67" cy="54"/>
            </a:xfrm>
            <a:custGeom>
              <a:avLst/>
              <a:gdLst>
                <a:gd name="T0" fmla="*/ 33 w 67"/>
                <a:gd name="T1" fmla="*/ 54 h 54"/>
                <a:gd name="T2" fmla="*/ 67 w 67"/>
                <a:gd name="T3" fmla="*/ 0 h 54"/>
                <a:gd name="T4" fmla="*/ 0 w 67"/>
                <a:gd name="T5" fmla="*/ 0 h 54"/>
                <a:gd name="T6" fmla="*/ 33 w 67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54"/>
                <a:gd name="T14" fmla="*/ 67 w 67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54">
                  <a:moveTo>
                    <a:pt x="33" y="54"/>
                  </a:moveTo>
                  <a:lnTo>
                    <a:pt x="67" y="0"/>
                  </a:lnTo>
                  <a:lnTo>
                    <a:pt x="0" y="0"/>
                  </a:lnTo>
                  <a:lnTo>
                    <a:pt x="33" y="54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52" name="Freeform 84"/>
            <p:cNvSpPr>
              <a:spLocks/>
            </p:cNvSpPr>
            <p:nvPr/>
          </p:nvSpPr>
          <p:spPr bwMode="auto">
            <a:xfrm>
              <a:off x="1533" y="1281"/>
              <a:ext cx="68" cy="54"/>
            </a:xfrm>
            <a:custGeom>
              <a:avLst/>
              <a:gdLst>
                <a:gd name="T0" fmla="*/ 34 w 68"/>
                <a:gd name="T1" fmla="*/ 54 h 54"/>
                <a:gd name="T2" fmla="*/ 68 w 68"/>
                <a:gd name="T3" fmla="*/ 0 h 54"/>
                <a:gd name="T4" fmla="*/ 0 w 68"/>
                <a:gd name="T5" fmla="*/ 0 h 54"/>
                <a:gd name="T6" fmla="*/ 34 w 68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54"/>
                <a:gd name="T14" fmla="*/ 68 w 6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54">
                  <a:moveTo>
                    <a:pt x="34" y="54"/>
                  </a:moveTo>
                  <a:lnTo>
                    <a:pt x="68" y="0"/>
                  </a:lnTo>
                  <a:lnTo>
                    <a:pt x="0" y="0"/>
                  </a:lnTo>
                  <a:lnTo>
                    <a:pt x="34" y="54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53" name="Freeform 85"/>
            <p:cNvSpPr>
              <a:spLocks/>
            </p:cNvSpPr>
            <p:nvPr/>
          </p:nvSpPr>
          <p:spPr bwMode="auto">
            <a:xfrm>
              <a:off x="1757" y="1831"/>
              <a:ext cx="68" cy="55"/>
            </a:xfrm>
            <a:custGeom>
              <a:avLst/>
              <a:gdLst>
                <a:gd name="T0" fmla="*/ 34 w 68"/>
                <a:gd name="T1" fmla="*/ 55 h 55"/>
                <a:gd name="T2" fmla="*/ 68 w 68"/>
                <a:gd name="T3" fmla="*/ 0 h 55"/>
                <a:gd name="T4" fmla="*/ 0 w 68"/>
                <a:gd name="T5" fmla="*/ 0 h 55"/>
                <a:gd name="T6" fmla="*/ 34 w 68"/>
                <a:gd name="T7" fmla="*/ 55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55"/>
                <a:gd name="T14" fmla="*/ 68 w 6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55">
                  <a:moveTo>
                    <a:pt x="34" y="55"/>
                  </a:moveTo>
                  <a:lnTo>
                    <a:pt x="68" y="0"/>
                  </a:lnTo>
                  <a:lnTo>
                    <a:pt x="0" y="0"/>
                  </a:lnTo>
                  <a:lnTo>
                    <a:pt x="34" y="55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54" name="Freeform 86"/>
            <p:cNvSpPr>
              <a:spLocks/>
            </p:cNvSpPr>
            <p:nvPr/>
          </p:nvSpPr>
          <p:spPr bwMode="auto">
            <a:xfrm>
              <a:off x="1981" y="1356"/>
              <a:ext cx="68" cy="54"/>
            </a:xfrm>
            <a:custGeom>
              <a:avLst/>
              <a:gdLst>
                <a:gd name="T0" fmla="*/ 34 w 68"/>
                <a:gd name="T1" fmla="*/ 54 h 54"/>
                <a:gd name="T2" fmla="*/ 68 w 68"/>
                <a:gd name="T3" fmla="*/ 0 h 54"/>
                <a:gd name="T4" fmla="*/ 0 w 68"/>
                <a:gd name="T5" fmla="*/ 0 h 54"/>
                <a:gd name="T6" fmla="*/ 34 w 68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54"/>
                <a:gd name="T14" fmla="*/ 68 w 6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54">
                  <a:moveTo>
                    <a:pt x="34" y="54"/>
                  </a:moveTo>
                  <a:lnTo>
                    <a:pt x="68" y="0"/>
                  </a:lnTo>
                  <a:lnTo>
                    <a:pt x="0" y="0"/>
                  </a:lnTo>
                  <a:lnTo>
                    <a:pt x="34" y="54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55" name="Freeform 87"/>
            <p:cNvSpPr>
              <a:spLocks/>
            </p:cNvSpPr>
            <p:nvPr/>
          </p:nvSpPr>
          <p:spPr bwMode="auto">
            <a:xfrm>
              <a:off x="2205" y="2470"/>
              <a:ext cx="68" cy="54"/>
            </a:xfrm>
            <a:custGeom>
              <a:avLst/>
              <a:gdLst>
                <a:gd name="T0" fmla="*/ 34 w 68"/>
                <a:gd name="T1" fmla="*/ 54 h 54"/>
                <a:gd name="T2" fmla="*/ 68 w 68"/>
                <a:gd name="T3" fmla="*/ 0 h 54"/>
                <a:gd name="T4" fmla="*/ 0 w 68"/>
                <a:gd name="T5" fmla="*/ 0 h 54"/>
                <a:gd name="T6" fmla="*/ 34 w 68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54"/>
                <a:gd name="T14" fmla="*/ 68 w 6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54">
                  <a:moveTo>
                    <a:pt x="34" y="54"/>
                  </a:moveTo>
                  <a:lnTo>
                    <a:pt x="68" y="0"/>
                  </a:lnTo>
                  <a:lnTo>
                    <a:pt x="0" y="0"/>
                  </a:lnTo>
                  <a:lnTo>
                    <a:pt x="34" y="54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56" name="Freeform 88"/>
            <p:cNvSpPr>
              <a:spLocks/>
            </p:cNvSpPr>
            <p:nvPr/>
          </p:nvSpPr>
          <p:spPr bwMode="auto">
            <a:xfrm>
              <a:off x="2429" y="1648"/>
              <a:ext cx="68" cy="54"/>
            </a:xfrm>
            <a:custGeom>
              <a:avLst/>
              <a:gdLst>
                <a:gd name="T0" fmla="*/ 34 w 68"/>
                <a:gd name="T1" fmla="*/ 54 h 54"/>
                <a:gd name="T2" fmla="*/ 68 w 68"/>
                <a:gd name="T3" fmla="*/ 0 h 54"/>
                <a:gd name="T4" fmla="*/ 0 w 68"/>
                <a:gd name="T5" fmla="*/ 0 h 54"/>
                <a:gd name="T6" fmla="*/ 34 w 68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54"/>
                <a:gd name="T14" fmla="*/ 68 w 6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54">
                  <a:moveTo>
                    <a:pt x="34" y="54"/>
                  </a:moveTo>
                  <a:lnTo>
                    <a:pt x="68" y="0"/>
                  </a:lnTo>
                  <a:lnTo>
                    <a:pt x="0" y="0"/>
                  </a:lnTo>
                  <a:lnTo>
                    <a:pt x="34" y="54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57" name="Freeform 89"/>
            <p:cNvSpPr>
              <a:spLocks/>
            </p:cNvSpPr>
            <p:nvPr/>
          </p:nvSpPr>
          <p:spPr bwMode="auto">
            <a:xfrm>
              <a:off x="2654" y="928"/>
              <a:ext cx="67" cy="54"/>
            </a:xfrm>
            <a:custGeom>
              <a:avLst/>
              <a:gdLst>
                <a:gd name="T0" fmla="*/ 33 w 67"/>
                <a:gd name="T1" fmla="*/ 54 h 54"/>
                <a:gd name="T2" fmla="*/ 67 w 67"/>
                <a:gd name="T3" fmla="*/ 0 h 54"/>
                <a:gd name="T4" fmla="*/ 0 w 67"/>
                <a:gd name="T5" fmla="*/ 0 h 54"/>
                <a:gd name="T6" fmla="*/ 33 w 67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54"/>
                <a:gd name="T14" fmla="*/ 67 w 67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54">
                  <a:moveTo>
                    <a:pt x="33" y="54"/>
                  </a:moveTo>
                  <a:lnTo>
                    <a:pt x="67" y="0"/>
                  </a:lnTo>
                  <a:lnTo>
                    <a:pt x="0" y="0"/>
                  </a:lnTo>
                  <a:lnTo>
                    <a:pt x="33" y="54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58" name="Freeform 90"/>
            <p:cNvSpPr>
              <a:spLocks/>
            </p:cNvSpPr>
            <p:nvPr/>
          </p:nvSpPr>
          <p:spPr bwMode="auto">
            <a:xfrm>
              <a:off x="2878" y="1261"/>
              <a:ext cx="68" cy="54"/>
            </a:xfrm>
            <a:custGeom>
              <a:avLst/>
              <a:gdLst>
                <a:gd name="T0" fmla="*/ 34 w 68"/>
                <a:gd name="T1" fmla="*/ 54 h 54"/>
                <a:gd name="T2" fmla="*/ 68 w 68"/>
                <a:gd name="T3" fmla="*/ 0 h 54"/>
                <a:gd name="T4" fmla="*/ 0 w 68"/>
                <a:gd name="T5" fmla="*/ 0 h 54"/>
                <a:gd name="T6" fmla="*/ 34 w 68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54"/>
                <a:gd name="T14" fmla="*/ 68 w 6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54">
                  <a:moveTo>
                    <a:pt x="34" y="54"/>
                  </a:moveTo>
                  <a:lnTo>
                    <a:pt x="68" y="0"/>
                  </a:lnTo>
                  <a:lnTo>
                    <a:pt x="0" y="0"/>
                  </a:lnTo>
                  <a:lnTo>
                    <a:pt x="34" y="54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59" name="Freeform 91"/>
            <p:cNvSpPr>
              <a:spLocks/>
            </p:cNvSpPr>
            <p:nvPr/>
          </p:nvSpPr>
          <p:spPr bwMode="auto">
            <a:xfrm>
              <a:off x="3102" y="894"/>
              <a:ext cx="68" cy="54"/>
            </a:xfrm>
            <a:custGeom>
              <a:avLst/>
              <a:gdLst>
                <a:gd name="T0" fmla="*/ 34 w 68"/>
                <a:gd name="T1" fmla="*/ 54 h 54"/>
                <a:gd name="T2" fmla="*/ 68 w 68"/>
                <a:gd name="T3" fmla="*/ 0 h 54"/>
                <a:gd name="T4" fmla="*/ 0 w 68"/>
                <a:gd name="T5" fmla="*/ 0 h 54"/>
                <a:gd name="T6" fmla="*/ 34 w 68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54"/>
                <a:gd name="T14" fmla="*/ 68 w 6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54">
                  <a:moveTo>
                    <a:pt x="34" y="54"/>
                  </a:moveTo>
                  <a:lnTo>
                    <a:pt x="68" y="0"/>
                  </a:lnTo>
                  <a:lnTo>
                    <a:pt x="0" y="0"/>
                  </a:lnTo>
                  <a:lnTo>
                    <a:pt x="34" y="54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60" name="Freeform 92"/>
            <p:cNvSpPr>
              <a:spLocks/>
            </p:cNvSpPr>
            <p:nvPr/>
          </p:nvSpPr>
          <p:spPr bwMode="auto">
            <a:xfrm>
              <a:off x="3326" y="1328"/>
              <a:ext cx="68" cy="55"/>
            </a:xfrm>
            <a:custGeom>
              <a:avLst/>
              <a:gdLst>
                <a:gd name="T0" fmla="*/ 34 w 68"/>
                <a:gd name="T1" fmla="*/ 55 h 55"/>
                <a:gd name="T2" fmla="*/ 68 w 68"/>
                <a:gd name="T3" fmla="*/ 0 h 55"/>
                <a:gd name="T4" fmla="*/ 0 w 68"/>
                <a:gd name="T5" fmla="*/ 0 h 55"/>
                <a:gd name="T6" fmla="*/ 34 w 68"/>
                <a:gd name="T7" fmla="*/ 55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55"/>
                <a:gd name="T14" fmla="*/ 68 w 6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55">
                  <a:moveTo>
                    <a:pt x="34" y="55"/>
                  </a:moveTo>
                  <a:lnTo>
                    <a:pt x="68" y="0"/>
                  </a:lnTo>
                  <a:lnTo>
                    <a:pt x="0" y="0"/>
                  </a:lnTo>
                  <a:lnTo>
                    <a:pt x="34" y="55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61" name="Freeform 93"/>
            <p:cNvSpPr>
              <a:spLocks/>
            </p:cNvSpPr>
            <p:nvPr/>
          </p:nvSpPr>
          <p:spPr bwMode="auto">
            <a:xfrm>
              <a:off x="3550" y="3441"/>
              <a:ext cx="68" cy="55"/>
            </a:xfrm>
            <a:custGeom>
              <a:avLst/>
              <a:gdLst>
                <a:gd name="T0" fmla="*/ 34 w 68"/>
                <a:gd name="T1" fmla="*/ 55 h 55"/>
                <a:gd name="T2" fmla="*/ 68 w 68"/>
                <a:gd name="T3" fmla="*/ 0 h 55"/>
                <a:gd name="T4" fmla="*/ 0 w 68"/>
                <a:gd name="T5" fmla="*/ 0 h 55"/>
                <a:gd name="T6" fmla="*/ 34 w 68"/>
                <a:gd name="T7" fmla="*/ 55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55"/>
                <a:gd name="T14" fmla="*/ 68 w 6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55">
                  <a:moveTo>
                    <a:pt x="34" y="55"/>
                  </a:moveTo>
                  <a:lnTo>
                    <a:pt x="68" y="0"/>
                  </a:lnTo>
                  <a:lnTo>
                    <a:pt x="0" y="0"/>
                  </a:lnTo>
                  <a:lnTo>
                    <a:pt x="34" y="55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62" name="Freeform 94"/>
            <p:cNvSpPr>
              <a:spLocks/>
            </p:cNvSpPr>
            <p:nvPr/>
          </p:nvSpPr>
          <p:spPr bwMode="auto">
            <a:xfrm>
              <a:off x="3774" y="2762"/>
              <a:ext cx="68" cy="54"/>
            </a:xfrm>
            <a:custGeom>
              <a:avLst/>
              <a:gdLst>
                <a:gd name="T0" fmla="*/ 34 w 68"/>
                <a:gd name="T1" fmla="*/ 54 h 54"/>
                <a:gd name="T2" fmla="*/ 68 w 68"/>
                <a:gd name="T3" fmla="*/ 0 h 54"/>
                <a:gd name="T4" fmla="*/ 0 w 68"/>
                <a:gd name="T5" fmla="*/ 0 h 54"/>
                <a:gd name="T6" fmla="*/ 34 w 68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54"/>
                <a:gd name="T14" fmla="*/ 68 w 6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54">
                  <a:moveTo>
                    <a:pt x="34" y="54"/>
                  </a:moveTo>
                  <a:lnTo>
                    <a:pt x="68" y="0"/>
                  </a:lnTo>
                  <a:lnTo>
                    <a:pt x="0" y="0"/>
                  </a:lnTo>
                  <a:lnTo>
                    <a:pt x="34" y="54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63" name="Freeform 95"/>
            <p:cNvSpPr>
              <a:spLocks/>
            </p:cNvSpPr>
            <p:nvPr/>
          </p:nvSpPr>
          <p:spPr bwMode="auto">
            <a:xfrm>
              <a:off x="3999" y="1437"/>
              <a:ext cx="67" cy="55"/>
            </a:xfrm>
            <a:custGeom>
              <a:avLst/>
              <a:gdLst>
                <a:gd name="T0" fmla="*/ 33 w 67"/>
                <a:gd name="T1" fmla="*/ 55 h 55"/>
                <a:gd name="T2" fmla="*/ 67 w 67"/>
                <a:gd name="T3" fmla="*/ 0 h 55"/>
                <a:gd name="T4" fmla="*/ 0 w 67"/>
                <a:gd name="T5" fmla="*/ 0 h 55"/>
                <a:gd name="T6" fmla="*/ 33 w 67"/>
                <a:gd name="T7" fmla="*/ 55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55"/>
                <a:gd name="T14" fmla="*/ 67 w 67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55">
                  <a:moveTo>
                    <a:pt x="33" y="55"/>
                  </a:moveTo>
                  <a:lnTo>
                    <a:pt x="67" y="0"/>
                  </a:lnTo>
                  <a:lnTo>
                    <a:pt x="0" y="0"/>
                  </a:lnTo>
                  <a:lnTo>
                    <a:pt x="33" y="55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64" name="Freeform 96"/>
            <p:cNvSpPr>
              <a:spLocks/>
            </p:cNvSpPr>
            <p:nvPr/>
          </p:nvSpPr>
          <p:spPr bwMode="auto">
            <a:xfrm>
              <a:off x="4223" y="2402"/>
              <a:ext cx="68" cy="54"/>
            </a:xfrm>
            <a:custGeom>
              <a:avLst/>
              <a:gdLst>
                <a:gd name="T0" fmla="*/ 34 w 68"/>
                <a:gd name="T1" fmla="*/ 54 h 54"/>
                <a:gd name="T2" fmla="*/ 68 w 68"/>
                <a:gd name="T3" fmla="*/ 0 h 54"/>
                <a:gd name="T4" fmla="*/ 0 w 68"/>
                <a:gd name="T5" fmla="*/ 0 h 54"/>
                <a:gd name="T6" fmla="*/ 34 w 68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54"/>
                <a:gd name="T14" fmla="*/ 68 w 6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54">
                  <a:moveTo>
                    <a:pt x="34" y="54"/>
                  </a:moveTo>
                  <a:lnTo>
                    <a:pt x="68" y="0"/>
                  </a:lnTo>
                  <a:lnTo>
                    <a:pt x="0" y="0"/>
                  </a:lnTo>
                  <a:lnTo>
                    <a:pt x="34" y="54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65" name="Freeform 97"/>
            <p:cNvSpPr>
              <a:spLocks/>
            </p:cNvSpPr>
            <p:nvPr/>
          </p:nvSpPr>
          <p:spPr bwMode="auto">
            <a:xfrm>
              <a:off x="4447" y="2103"/>
              <a:ext cx="68" cy="54"/>
            </a:xfrm>
            <a:custGeom>
              <a:avLst/>
              <a:gdLst>
                <a:gd name="T0" fmla="*/ 34 w 68"/>
                <a:gd name="T1" fmla="*/ 54 h 54"/>
                <a:gd name="T2" fmla="*/ 68 w 68"/>
                <a:gd name="T3" fmla="*/ 0 h 54"/>
                <a:gd name="T4" fmla="*/ 0 w 68"/>
                <a:gd name="T5" fmla="*/ 0 h 54"/>
                <a:gd name="T6" fmla="*/ 34 w 68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54"/>
                <a:gd name="T14" fmla="*/ 68 w 6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54">
                  <a:moveTo>
                    <a:pt x="34" y="54"/>
                  </a:moveTo>
                  <a:lnTo>
                    <a:pt x="68" y="0"/>
                  </a:lnTo>
                  <a:lnTo>
                    <a:pt x="0" y="0"/>
                  </a:lnTo>
                  <a:lnTo>
                    <a:pt x="34" y="54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66" name="Freeform 98"/>
            <p:cNvSpPr>
              <a:spLocks/>
            </p:cNvSpPr>
            <p:nvPr/>
          </p:nvSpPr>
          <p:spPr bwMode="auto">
            <a:xfrm>
              <a:off x="4671" y="2280"/>
              <a:ext cx="68" cy="54"/>
            </a:xfrm>
            <a:custGeom>
              <a:avLst/>
              <a:gdLst>
                <a:gd name="T0" fmla="*/ 34 w 68"/>
                <a:gd name="T1" fmla="*/ 54 h 54"/>
                <a:gd name="T2" fmla="*/ 68 w 68"/>
                <a:gd name="T3" fmla="*/ 0 h 54"/>
                <a:gd name="T4" fmla="*/ 0 w 68"/>
                <a:gd name="T5" fmla="*/ 0 h 54"/>
                <a:gd name="T6" fmla="*/ 34 w 68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54"/>
                <a:gd name="T14" fmla="*/ 68 w 6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54">
                  <a:moveTo>
                    <a:pt x="34" y="54"/>
                  </a:moveTo>
                  <a:lnTo>
                    <a:pt x="68" y="0"/>
                  </a:lnTo>
                  <a:lnTo>
                    <a:pt x="0" y="0"/>
                  </a:lnTo>
                  <a:lnTo>
                    <a:pt x="34" y="54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67" name="Freeform 99"/>
            <p:cNvSpPr>
              <a:spLocks/>
            </p:cNvSpPr>
            <p:nvPr/>
          </p:nvSpPr>
          <p:spPr bwMode="auto">
            <a:xfrm>
              <a:off x="4895" y="2762"/>
              <a:ext cx="68" cy="54"/>
            </a:xfrm>
            <a:custGeom>
              <a:avLst/>
              <a:gdLst>
                <a:gd name="T0" fmla="*/ 34 w 68"/>
                <a:gd name="T1" fmla="*/ 54 h 54"/>
                <a:gd name="T2" fmla="*/ 68 w 68"/>
                <a:gd name="T3" fmla="*/ 0 h 54"/>
                <a:gd name="T4" fmla="*/ 0 w 68"/>
                <a:gd name="T5" fmla="*/ 0 h 54"/>
                <a:gd name="T6" fmla="*/ 34 w 68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54"/>
                <a:gd name="T14" fmla="*/ 68 w 6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54">
                  <a:moveTo>
                    <a:pt x="34" y="54"/>
                  </a:moveTo>
                  <a:lnTo>
                    <a:pt x="68" y="0"/>
                  </a:lnTo>
                  <a:lnTo>
                    <a:pt x="0" y="0"/>
                  </a:lnTo>
                  <a:lnTo>
                    <a:pt x="34" y="54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68" name="Rectangle 100"/>
            <p:cNvSpPr>
              <a:spLocks noChangeArrowheads="1"/>
            </p:cNvSpPr>
            <p:nvPr/>
          </p:nvSpPr>
          <p:spPr bwMode="auto">
            <a:xfrm rot="-5400000">
              <a:off x="-35" y="1932"/>
              <a:ext cx="99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>
                  <a:latin typeface="Verdana" pitchFamily="34" charset="0"/>
                </a:rPr>
                <a:t>Calf survival</a:t>
              </a:r>
            </a:p>
          </p:txBody>
        </p:sp>
        <p:sp>
          <p:nvSpPr>
            <p:cNvPr id="36969" name="Rectangle 101"/>
            <p:cNvSpPr>
              <a:spLocks noChangeArrowheads="1"/>
            </p:cNvSpPr>
            <p:nvPr/>
          </p:nvSpPr>
          <p:spPr bwMode="auto">
            <a:xfrm>
              <a:off x="4019" y="500"/>
              <a:ext cx="1094" cy="31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70" name="Rectangle 102"/>
            <p:cNvSpPr>
              <a:spLocks noChangeArrowheads="1"/>
            </p:cNvSpPr>
            <p:nvPr/>
          </p:nvSpPr>
          <p:spPr bwMode="auto">
            <a:xfrm>
              <a:off x="4019" y="500"/>
              <a:ext cx="1094" cy="319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71" name="Line 103"/>
            <p:cNvSpPr>
              <a:spLocks noChangeShapeType="1"/>
            </p:cNvSpPr>
            <p:nvPr/>
          </p:nvSpPr>
          <p:spPr bwMode="auto">
            <a:xfrm flipV="1">
              <a:off x="4019" y="496"/>
              <a:ext cx="1091" cy="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72" name="Freeform 104"/>
            <p:cNvSpPr>
              <a:spLocks/>
            </p:cNvSpPr>
            <p:nvPr/>
          </p:nvSpPr>
          <p:spPr bwMode="auto">
            <a:xfrm>
              <a:off x="4019" y="500"/>
              <a:ext cx="1094" cy="319"/>
            </a:xfrm>
            <a:custGeom>
              <a:avLst/>
              <a:gdLst>
                <a:gd name="T0" fmla="*/ 0 w 161"/>
                <a:gd name="T1" fmla="*/ 47 h 47"/>
                <a:gd name="T2" fmla="*/ 161 w 161"/>
                <a:gd name="T3" fmla="*/ 47 h 47"/>
                <a:gd name="T4" fmla="*/ 161 w 161"/>
                <a:gd name="T5" fmla="*/ 0 h 47"/>
                <a:gd name="T6" fmla="*/ 0 60000 65536"/>
                <a:gd name="T7" fmla="*/ 0 60000 65536"/>
                <a:gd name="T8" fmla="*/ 0 60000 65536"/>
                <a:gd name="T9" fmla="*/ 0 w 161"/>
                <a:gd name="T10" fmla="*/ 0 h 47"/>
                <a:gd name="T11" fmla="*/ 161 w 161"/>
                <a:gd name="T12" fmla="*/ 47 h 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1" h="47">
                  <a:moveTo>
                    <a:pt x="0" y="47"/>
                  </a:moveTo>
                  <a:lnTo>
                    <a:pt x="161" y="47"/>
                  </a:lnTo>
                  <a:lnTo>
                    <a:pt x="161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73" name="Line 105"/>
            <p:cNvSpPr>
              <a:spLocks noChangeShapeType="1"/>
            </p:cNvSpPr>
            <p:nvPr/>
          </p:nvSpPr>
          <p:spPr bwMode="auto">
            <a:xfrm flipV="1">
              <a:off x="4019" y="500"/>
              <a:ext cx="1" cy="3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74" name="Rectangle 106"/>
            <p:cNvSpPr>
              <a:spLocks noChangeArrowheads="1"/>
            </p:cNvSpPr>
            <p:nvPr/>
          </p:nvSpPr>
          <p:spPr bwMode="auto">
            <a:xfrm>
              <a:off x="4379" y="513"/>
              <a:ext cx="659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400" b="1">
                  <a:solidFill>
                    <a:srgbClr val="000000"/>
                  </a:solidFill>
                  <a:latin typeface="Verdana" pitchFamily="34" charset="0"/>
                </a:rPr>
                <a:t>time trend</a:t>
              </a:r>
              <a:endParaRPr lang="en-US" altLang="zh-CN" sz="1400">
                <a:latin typeface="Verdana" pitchFamily="34" charset="0"/>
              </a:endParaRPr>
            </a:p>
          </p:txBody>
        </p:sp>
        <p:sp>
          <p:nvSpPr>
            <p:cNvPr id="36975" name="Rectangle 107"/>
            <p:cNvSpPr>
              <a:spLocks noChangeArrowheads="1"/>
            </p:cNvSpPr>
            <p:nvPr/>
          </p:nvSpPr>
          <p:spPr bwMode="auto">
            <a:xfrm>
              <a:off x="4379" y="656"/>
              <a:ext cx="693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400" b="1">
                  <a:solidFill>
                    <a:srgbClr val="000000"/>
                  </a:solidFill>
                  <a:latin typeface="Verdana" pitchFamily="34" charset="0"/>
                </a:rPr>
                <a:t>best model</a:t>
              </a:r>
              <a:endParaRPr lang="en-US" altLang="zh-CN" sz="1400">
                <a:latin typeface="Verdana" pitchFamily="34" charset="0"/>
              </a:endParaRPr>
            </a:p>
          </p:txBody>
        </p:sp>
        <p:sp>
          <p:nvSpPr>
            <p:cNvPr id="36976" name="Line 108"/>
            <p:cNvSpPr>
              <a:spLocks noChangeShapeType="1"/>
            </p:cNvSpPr>
            <p:nvPr/>
          </p:nvSpPr>
          <p:spPr bwMode="auto">
            <a:xfrm>
              <a:off x="4087" y="588"/>
              <a:ext cx="217" cy="1"/>
            </a:xfrm>
            <a:prstGeom prst="lin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77" name="Oval 109"/>
            <p:cNvSpPr>
              <a:spLocks noChangeArrowheads="1"/>
            </p:cNvSpPr>
            <p:nvPr/>
          </p:nvSpPr>
          <p:spPr bwMode="auto">
            <a:xfrm>
              <a:off x="4168" y="561"/>
              <a:ext cx="61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78" name="Line 110"/>
            <p:cNvSpPr>
              <a:spLocks noChangeShapeType="1"/>
            </p:cNvSpPr>
            <p:nvPr/>
          </p:nvSpPr>
          <p:spPr bwMode="auto">
            <a:xfrm>
              <a:off x="4087" y="731"/>
              <a:ext cx="217" cy="1"/>
            </a:xfrm>
            <a:prstGeom prst="line">
              <a:avLst/>
            </a:pr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79" name="Freeform 111"/>
            <p:cNvSpPr>
              <a:spLocks/>
            </p:cNvSpPr>
            <p:nvPr/>
          </p:nvSpPr>
          <p:spPr bwMode="auto">
            <a:xfrm>
              <a:off x="4162" y="710"/>
              <a:ext cx="67" cy="55"/>
            </a:xfrm>
            <a:custGeom>
              <a:avLst/>
              <a:gdLst>
                <a:gd name="T0" fmla="*/ 34 w 67"/>
                <a:gd name="T1" fmla="*/ 55 h 55"/>
                <a:gd name="T2" fmla="*/ 67 w 67"/>
                <a:gd name="T3" fmla="*/ 0 h 55"/>
                <a:gd name="T4" fmla="*/ 0 w 67"/>
                <a:gd name="T5" fmla="*/ 0 h 55"/>
                <a:gd name="T6" fmla="*/ 34 w 67"/>
                <a:gd name="T7" fmla="*/ 55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55"/>
                <a:gd name="T14" fmla="*/ 67 w 67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55">
                  <a:moveTo>
                    <a:pt x="34" y="55"/>
                  </a:moveTo>
                  <a:lnTo>
                    <a:pt x="67" y="0"/>
                  </a:lnTo>
                  <a:lnTo>
                    <a:pt x="0" y="0"/>
                  </a:lnTo>
                  <a:lnTo>
                    <a:pt x="34" y="55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80" name="Text Box 112"/>
            <p:cNvSpPr txBox="1">
              <a:spLocks noChangeArrowheads="1"/>
            </p:cNvSpPr>
            <p:nvPr/>
          </p:nvSpPr>
          <p:spPr bwMode="auto">
            <a:xfrm>
              <a:off x="2964" y="3948"/>
              <a:ext cx="47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latin typeface="Verdana" pitchFamily="34" charset="0"/>
                </a:rPr>
                <a:t>Year</a:t>
              </a:r>
            </a:p>
          </p:txBody>
        </p:sp>
      </p:grpSp>
      <p:pic>
        <p:nvPicPr>
          <p:cNvPr id="36870" name="Picture 114" descr="Right-Whale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4343400"/>
            <a:ext cx="1447800" cy="108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日期占位符 1"/>
          <p:cNvSpPr>
            <a:spLocks noGrp="1"/>
          </p:cNvSpPr>
          <p:nvPr>
            <p:ph type="dt" sz="quarter" idx="10"/>
          </p:nvPr>
        </p:nvSpPr>
        <p:spPr/>
        <p:txBody>
          <a:bodyPr rtlCol="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rPr>
              <a:t>June 2006</a:t>
            </a:r>
          </a:p>
        </p:txBody>
      </p:sp>
      <p:sp>
        <p:nvSpPr>
          <p:cNvPr id="119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rPr>
              <a:t>Hal Caswell -- Markov Anniversary Meeting</a:t>
            </a:r>
          </a:p>
        </p:txBody>
      </p:sp>
      <p:sp>
        <p:nvSpPr>
          <p:cNvPr id="12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7EAA2-E91D-47F7-9488-6DE7A65E3E10}" type="slidenum">
              <a:rPr lang="en-US" altLang="zh-CN"/>
              <a:pPr/>
              <a:t>34</a:t>
            </a:fld>
            <a:endParaRPr lang="en-US" altLang="zh-CN"/>
          </a:p>
        </p:txBody>
      </p:sp>
      <p:grpSp>
        <p:nvGrpSpPr>
          <p:cNvPr id="37893" name="Group 2"/>
          <p:cNvGrpSpPr>
            <a:grpSpLocks/>
          </p:cNvGrpSpPr>
          <p:nvPr/>
        </p:nvGrpSpPr>
        <p:grpSpPr bwMode="auto">
          <a:xfrm>
            <a:off x="452438" y="587375"/>
            <a:ext cx="7718425" cy="6037263"/>
            <a:chOff x="285" y="370"/>
            <a:chExt cx="4862" cy="3803"/>
          </a:xfrm>
        </p:grpSpPr>
        <p:sp>
          <p:nvSpPr>
            <p:cNvPr id="37895" name="Rectangle 3"/>
            <p:cNvSpPr>
              <a:spLocks noChangeArrowheads="1"/>
            </p:cNvSpPr>
            <p:nvPr/>
          </p:nvSpPr>
          <p:spPr bwMode="auto">
            <a:xfrm>
              <a:off x="1127" y="444"/>
              <a:ext cx="4019" cy="317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96" name="Rectangle 4"/>
            <p:cNvSpPr>
              <a:spLocks noChangeArrowheads="1"/>
            </p:cNvSpPr>
            <p:nvPr/>
          </p:nvSpPr>
          <p:spPr bwMode="auto">
            <a:xfrm>
              <a:off x="1127" y="444"/>
              <a:ext cx="4019" cy="3176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97" name="Line 5"/>
            <p:cNvSpPr>
              <a:spLocks noChangeShapeType="1"/>
            </p:cNvSpPr>
            <p:nvPr/>
          </p:nvSpPr>
          <p:spPr bwMode="auto">
            <a:xfrm>
              <a:off x="1127" y="444"/>
              <a:ext cx="401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898" name="Freeform 6"/>
            <p:cNvSpPr>
              <a:spLocks/>
            </p:cNvSpPr>
            <p:nvPr/>
          </p:nvSpPr>
          <p:spPr bwMode="auto">
            <a:xfrm>
              <a:off x="1127" y="444"/>
              <a:ext cx="4019" cy="3176"/>
            </a:xfrm>
            <a:custGeom>
              <a:avLst/>
              <a:gdLst>
                <a:gd name="T0" fmla="*/ 0 w 595"/>
                <a:gd name="T1" fmla="*/ 470 h 470"/>
                <a:gd name="T2" fmla="*/ 595 w 595"/>
                <a:gd name="T3" fmla="*/ 470 h 470"/>
                <a:gd name="T4" fmla="*/ 595 w 595"/>
                <a:gd name="T5" fmla="*/ 0 h 470"/>
                <a:gd name="T6" fmla="*/ 0 60000 65536"/>
                <a:gd name="T7" fmla="*/ 0 60000 65536"/>
                <a:gd name="T8" fmla="*/ 0 60000 65536"/>
                <a:gd name="T9" fmla="*/ 0 w 595"/>
                <a:gd name="T10" fmla="*/ 0 h 470"/>
                <a:gd name="T11" fmla="*/ 595 w 595"/>
                <a:gd name="T12" fmla="*/ 470 h 4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5" h="470">
                  <a:moveTo>
                    <a:pt x="0" y="470"/>
                  </a:moveTo>
                  <a:lnTo>
                    <a:pt x="595" y="470"/>
                  </a:lnTo>
                  <a:lnTo>
                    <a:pt x="595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99" name="Line 7"/>
            <p:cNvSpPr>
              <a:spLocks noChangeShapeType="1"/>
            </p:cNvSpPr>
            <p:nvPr/>
          </p:nvSpPr>
          <p:spPr bwMode="auto">
            <a:xfrm flipV="1">
              <a:off x="1127" y="444"/>
              <a:ext cx="1" cy="317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00" name="Line 8"/>
            <p:cNvSpPr>
              <a:spLocks noChangeShapeType="1"/>
            </p:cNvSpPr>
            <p:nvPr/>
          </p:nvSpPr>
          <p:spPr bwMode="auto">
            <a:xfrm>
              <a:off x="1127" y="3620"/>
              <a:ext cx="401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01" name="Line 9"/>
            <p:cNvSpPr>
              <a:spLocks noChangeShapeType="1"/>
            </p:cNvSpPr>
            <p:nvPr/>
          </p:nvSpPr>
          <p:spPr bwMode="auto">
            <a:xfrm flipV="1">
              <a:off x="1127" y="444"/>
              <a:ext cx="1" cy="317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02" name="Line 10"/>
            <p:cNvSpPr>
              <a:spLocks noChangeShapeType="1"/>
            </p:cNvSpPr>
            <p:nvPr/>
          </p:nvSpPr>
          <p:spPr bwMode="auto">
            <a:xfrm flipV="1">
              <a:off x="1127" y="3580"/>
              <a:ext cx="1" cy="4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03" name="Line 11"/>
            <p:cNvSpPr>
              <a:spLocks noChangeShapeType="1"/>
            </p:cNvSpPr>
            <p:nvPr/>
          </p:nvSpPr>
          <p:spPr bwMode="auto">
            <a:xfrm>
              <a:off x="1127" y="444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04" name="Rectangle 12"/>
            <p:cNvSpPr>
              <a:spLocks noChangeArrowheads="1"/>
            </p:cNvSpPr>
            <p:nvPr/>
          </p:nvSpPr>
          <p:spPr bwMode="auto">
            <a:xfrm>
              <a:off x="992" y="3695"/>
              <a:ext cx="32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>
                  <a:latin typeface="Verdana" pitchFamily="34" charset="0"/>
                </a:rPr>
                <a:t>1980</a:t>
              </a:r>
            </a:p>
          </p:txBody>
        </p:sp>
        <p:sp>
          <p:nvSpPr>
            <p:cNvPr id="37905" name="Line 13"/>
            <p:cNvSpPr>
              <a:spLocks noChangeShapeType="1"/>
            </p:cNvSpPr>
            <p:nvPr/>
          </p:nvSpPr>
          <p:spPr bwMode="auto">
            <a:xfrm flipV="1">
              <a:off x="1573" y="3580"/>
              <a:ext cx="1" cy="4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06" name="Line 14"/>
            <p:cNvSpPr>
              <a:spLocks noChangeShapeType="1"/>
            </p:cNvSpPr>
            <p:nvPr/>
          </p:nvSpPr>
          <p:spPr bwMode="auto">
            <a:xfrm>
              <a:off x="1573" y="444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07" name="Line 15"/>
            <p:cNvSpPr>
              <a:spLocks noChangeShapeType="1"/>
            </p:cNvSpPr>
            <p:nvPr/>
          </p:nvSpPr>
          <p:spPr bwMode="auto">
            <a:xfrm flipV="1">
              <a:off x="2019" y="3580"/>
              <a:ext cx="1" cy="4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08" name="Line 16"/>
            <p:cNvSpPr>
              <a:spLocks noChangeShapeType="1"/>
            </p:cNvSpPr>
            <p:nvPr/>
          </p:nvSpPr>
          <p:spPr bwMode="auto">
            <a:xfrm>
              <a:off x="2019" y="444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09" name="Rectangle 17"/>
            <p:cNvSpPr>
              <a:spLocks noChangeArrowheads="1"/>
            </p:cNvSpPr>
            <p:nvPr/>
          </p:nvSpPr>
          <p:spPr bwMode="auto">
            <a:xfrm>
              <a:off x="1884" y="3695"/>
              <a:ext cx="32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>
                  <a:latin typeface="Verdana" pitchFamily="34" charset="0"/>
                </a:rPr>
                <a:t>1984</a:t>
              </a:r>
            </a:p>
          </p:txBody>
        </p:sp>
        <p:sp>
          <p:nvSpPr>
            <p:cNvPr id="37910" name="Line 18"/>
            <p:cNvSpPr>
              <a:spLocks noChangeShapeType="1"/>
            </p:cNvSpPr>
            <p:nvPr/>
          </p:nvSpPr>
          <p:spPr bwMode="auto">
            <a:xfrm flipV="1">
              <a:off x="2465" y="3580"/>
              <a:ext cx="1" cy="4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11" name="Line 19"/>
            <p:cNvSpPr>
              <a:spLocks noChangeShapeType="1"/>
            </p:cNvSpPr>
            <p:nvPr/>
          </p:nvSpPr>
          <p:spPr bwMode="auto">
            <a:xfrm>
              <a:off x="2465" y="444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12" name="Line 20"/>
            <p:cNvSpPr>
              <a:spLocks noChangeShapeType="1"/>
            </p:cNvSpPr>
            <p:nvPr/>
          </p:nvSpPr>
          <p:spPr bwMode="auto">
            <a:xfrm flipV="1">
              <a:off x="2911" y="3580"/>
              <a:ext cx="1" cy="4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13" name="Line 21"/>
            <p:cNvSpPr>
              <a:spLocks noChangeShapeType="1"/>
            </p:cNvSpPr>
            <p:nvPr/>
          </p:nvSpPr>
          <p:spPr bwMode="auto">
            <a:xfrm>
              <a:off x="2911" y="444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14" name="Rectangle 22"/>
            <p:cNvSpPr>
              <a:spLocks noChangeArrowheads="1"/>
            </p:cNvSpPr>
            <p:nvPr/>
          </p:nvSpPr>
          <p:spPr bwMode="auto">
            <a:xfrm>
              <a:off x="2775" y="3695"/>
              <a:ext cx="32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>
                  <a:latin typeface="Verdana" pitchFamily="34" charset="0"/>
                </a:rPr>
                <a:t>1988</a:t>
              </a:r>
            </a:p>
          </p:txBody>
        </p:sp>
        <p:sp>
          <p:nvSpPr>
            <p:cNvPr id="37915" name="Line 23"/>
            <p:cNvSpPr>
              <a:spLocks noChangeShapeType="1"/>
            </p:cNvSpPr>
            <p:nvPr/>
          </p:nvSpPr>
          <p:spPr bwMode="auto">
            <a:xfrm flipV="1">
              <a:off x="3355" y="3580"/>
              <a:ext cx="1" cy="4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16" name="Line 24"/>
            <p:cNvSpPr>
              <a:spLocks noChangeShapeType="1"/>
            </p:cNvSpPr>
            <p:nvPr/>
          </p:nvSpPr>
          <p:spPr bwMode="auto">
            <a:xfrm>
              <a:off x="3355" y="444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17" name="Line 25"/>
            <p:cNvSpPr>
              <a:spLocks noChangeShapeType="1"/>
            </p:cNvSpPr>
            <p:nvPr/>
          </p:nvSpPr>
          <p:spPr bwMode="auto">
            <a:xfrm flipV="1">
              <a:off x="3801" y="3580"/>
              <a:ext cx="1" cy="4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18" name="Line 26"/>
            <p:cNvSpPr>
              <a:spLocks noChangeShapeType="1"/>
            </p:cNvSpPr>
            <p:nvPr/>
          </p:nvSpPr>
          <p:spPr bwMode="auto">
            <a:xfrm>
              <a:off x="3801" y="444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19" name="Rectangle 27"/>
            <p:cNvSpPr>
              <a:spLocks noChangeArrowheads="1"/>
            </p:cNvSpPr>
            <p:nvPr/>
          </p:nvSpPr>
          <p:spPr bwMode="auto">
            <a:xfrm>
              <a:off x="3666" y="3695"/>
              <a:ext cx="32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>
                  <a:latin typeface="Verdana" pitchFamily="34" charset="0"/>
                </a:rPr>
                <a:t>1992</a:t>
              </a:r>
            </a:p>
          </p:txBody>
        </p:sp>
        <p:sp>
          <p:nvSpPr>
            <p:cNvPr id="37920" name="Line 28"/>
            <p:cNvSpPr>
              <a:spLocks noChangeShapeType="1"/>
            </p:cNvSpPr>
            <p:nvPr/>
          </p:nvSpPr>
          <p:spPr bwMode="auto">
            <a:xfrm flipV="1">
              <a:off x="4247" y="3580"/>
              <a:ext cx="1" cy="4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21" name="Line 29"/>
            <p:cNvSpPr>
              <a:spLocks noChangeShapeType="1"/>
            </p:cNvSpPr>
            <p:nvPr/>
          </p:nvSpPr>
          <p:spPr bwMode="auto">
            <a:xfrm>
              <a:off x="4247" y="444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22" name="Line 30"/>
            <p:cNvSpPr>
              <a:spLocks noChangeShapeType="1"/>
            </p:cNvSpPr>
            <p:nvPr/>
          </p:nvSpPr>
          <p:spPr bwMode="auto">
            <a:xfrm flipV="1">
              <a:off x="4693" y="3580"/>
              <a:ext cx="1" cy="4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23" name="Line 31"/>
            <p:cNvSpPr>
              <a:spLocks noChangeShapeType="1"/>
            </p:cNvSpPr>
            <p:nvPr/>
          </p:nvSpPr>
          <p:spPr bwMode="auto">
            <a:xfrm>
              <a:off x="4693" y="444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24" name="Rectangle 32"/>
            <p:cNvSpPr>
              <a:spLocks noChangeArrowheads="1"/>
            </p:cNvSpPr>
            <p:nvPr/>
          </p:nvSpPr>
          <p:spPr bwMode="auto">
            <a:xfrm>
              <a:off x="4558" y="3695"/>
              <a:ext cx="32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>
                  <a:latin typeface="Verdana" pitchFamily="34" charset="0"/>
                </a:rPr>
                <a:t>1996</a:t>
              </a:r>
            </a:p>
          </p:txBody>
        </p:sp>
        <p:sp>
          <p:nvSpPr>
            <p:cNvPr id="37925" name="Line 33"/>
            <p:cNvSpPr>
              <a:spLocks noChangeShapeType="1"/>
            </p:cNvSpPr>
            <p:nvPr/>
          </p:nvSpPr>
          <p:spPr bwMode="auto">
            <a:xfrm flipV="1">
              <a:off x="5146" y="3580"/>
              <a:ext cx="1" cy="4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26" name="Line 34"/>
            <p:cNvSpPr>
              <a:spLocks noChangeShapeType="1"/>
            </p:cNvSpPr>
            <p:nvPr/>
          </p:nvSpPr>
          <p:spPr bwMode="auto">
            <a:xfrm>
              <a:off x="5146" y="444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27" name="Line 35"/>
            <p:cNvSpPr>
              <a:spLocks noChangeShapeType="1"/>
            </p:cNvSpPr>
            <p:nvPr/>
          </p:nvSpPr>
          <p:spPr bwMode="auto">
            <a:xfrm>
              <a:off x="1127" y="3620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28" name="Line 36"/>
            <p:cNvSpPr>
              <a:spLocks noChangeShapeType="1"/>
            </p:cNvSpPr>
            <p:nvPr/>
          </p:nvSpPr>
          <p:spPr bwMode="auto">
            <a:xfrm flipH="1">
              <a:off x="5105" y="3620"/>
              <a:ext cx="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29" name="Rectangle 37"/>
            <p:cNvSpPr>
              <a:spLocks noChangeArrowheads="1"/>
            </p:cNvSpPr>
            <p:nvPr/>
          </p:nvSpPr>
          <p:spPr bwMode="auto">
            <a:xfrm>
              <a:off x="823" y="3546"/>
              <a:ext cx="209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>
                  <a:latin typeface="Verdana" pitchFamily="34" charset="0"/>
                </a:rPr>
                <a:t>0.6</a:t>
              </a:r>
            </a:p>
          </p:txBody>
        </p:sp>
        <p:sp>
          <p:nvSpPr>
            <p:cNvPr id="37930" name="Line 38"/>
            <p:cNvSpPr>
              <a:spLocks noChangeShapeType="1"/>
            </p:cNvSpPr>
            <p:nvPr/>
          </p:nvSpPr>
          <p:spPr bwMode="auto">
            <a:xfrm>
              <a:off x="1127" y="3222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31" name="Line 39"/>
            <p:cNvSpPr>
              <a:spLocks noChangeShapeType="1"/>
            </p:cNvSpPr>
            <p:nvPr/>
          </p:nvSpPr>
          <p:spPr bwMode="auto">
            <a:xfrm flipH="1">
              <a:off x="5105" y="3222"/>
              <a:ext cx="41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32" name="Rectangle 40"/>
            <p:cNvSpPr>
              <a:spLocks noChangeArrowheads="1"/>
            </p:cNvSpPr>
            <p:nvPr/>
          </p:nvSpPr>
          <p:spPr bwMode="auto">
            <a:xfrm>
              <a:off x="756" y="3147"/>
              <a:ext cx="29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>
                  <a:latin typeface="Verdana" pitchFamily="34" charset="0"/>
                </a:rPr>
                <a:t>0.65</a:t>
              </a:r>
            </a:p>
          </p:txBody>
        </p:sp>
        <p:sp>
          <p:nvSpPr>
            <p:cNvPr id="37933" name="Line 41"/>
            <p:cNvSpPr>
              <a:spLocks noChangeShapeType="1"/>
            </p:cNvSpPr>
            <p:nvPr/>
          </p:nvSpPr>
          <p:spPr bwMode="auto">
            <a:xfrm>
              <a:off x="1127" y="2822"/>
              <a:ext cx="34" cy="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34" name="Line 42"/>
            <p:cNvSpPr>
              <a:spLocks noChangeShapeType="1"/>
            </p:cNvSpPr>
            <p:nvPr/>
          </p:nvSpPr>
          <p:spPr bwMode="auto">
            <a:xfrm flipH="1">
              <a:off x="5105" y="2822"/>
              <a:ext cx="41" cy="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35" name="Rectangle 43"/>
            <p:cNvSpPr>
              <a:spLocks noChangeArrowheads="1"/>
            </p:cNvSpPr>
            <p:nvPr/>
          </p:nvSpPr>
          <p:spPr bwMode="auto">
            <a:xfrm>
              <a:off x="823" y="2748"/>
              <a:ext cx="209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>
                  <a:latin typeface="Verdana" pitchFamily="34" charset="0"/>
                </a:rPr>
                <a:t>0.7</a:t>
              </a:r>
            </a:p>
          </p:txBody>
        </p:sp>
        <p:sp>
          <p:nvSpPr>
            <p:cNvPr id="37936" name="Line 44"/>
            <p:cNvSpPr>
              <a:spLocks noChangeShapeType="1"/>
            </p:cNvSpPr>
            <p:nvPr/>
          </p:nvSpPr>
          <p:spPr bwMode="auto">
            <a:xfrm>
              <a:off x="1127" y="2424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37" name="Line 45"/>
            <p:cNvSpPr>
              <a:spLocks noChangeShapeType="1"/>
            </p:cNvSpPr>
            <p:nvPr/>
          </p:nvSpPr>
          <p:spPr bwMode="auto">
            <a:xfrm flipH="1">
              <a:off x="5105" y="2424"/>
              <a:ext cx="41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38" name="Rectangle 46"/>
            <p:cNvSpPr>
              <a:spLocks noChangeArrowheads="1"/>
            </p:cNvSpPr>
            <p:nvPr/>
          </p:nvSpPr>
          <p:spPr bwMode="auto">
            <a:xfrm>
              <a:off x="756" y="2350"/>
              <a:ext cx="29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>
                  <a:latin typeface="Verdana" pitchFamily="34" charset="0"/>
                </a:rPr>
                <a:t>0.75</a:t>
              </a:r>
            </a:p>
          </p:txBody>
        </p:sp>
        <p:sp>
          <p:nvSpPr>
            <p:cNvPr id="37939" name="Line 47"/>
            <p:cNvSpPr>
              <a:spLocks noChangeShapeType="1"/>
            </p:cNvSpPr>
            <p:nvPr/>
          </p:nvSpPr>
          <p:spPr bwMode="auto">
            <a:xfrm>
              <a:off x="1127" y="2033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40" name="Line 48"/>
            <p:cNvSpPr>
              <a:spLocks noChangeShapeType="1"/>
            </p:cNvSpPr>
            <p:nvPr/>
          </p:nvSpPr>
          <p:spPr bwMode="auto">
            <a:xfrm flipH="1">
              <a:off x="5105" y="2033"/>
              <a:ext cx="41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41" name="Rectangle 49"/>
            <p:cNvSpPr>
              <a:spLocks noChangeArrowheads="1"/>
            </p:cNvSpPr>
            <p:nvPr/>
          </p:nvSpPr>
          <p:spPr bwMode="auto">
            <a:xfrm>
              <a:off x="823" y="1957"/>
              <a:ext cx="209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>
                  <a:latin typeface="Verdana" pitchFamily="34" charset="0"/>
                </a:rPr>
                <a:t>0.8</a:t>
              </a:r>
            </a:p>
          </p:txBody>
        </p:sp>
        <p:sp>
          <p:nvSpPr>
            <p:cNvPr id="37942" name="Line 50"/>
            <p:cNvSpPr>
              <a:spLocks noChangeShapeType="1"/>
            </p:cNvSpPr>
            <p:nvPr/>
          </p:nvSpPr>
          <p:spPr bwMode="auto">
            <a:xfrm>
              <a:off x="1127" y="1633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43" name="Line 51"/>
            <p:cNvSpPr>
              <a:spLocks noChangeShapeType="1"/>
            </p:cNvSpPr>
            <p:nvPr/>
          </p:nvSpPr>
          <p:spPr bwMode="auto">
            <a:xfrm flipH="1">
              <a:off x="5105" y="1633"/>
              <a:ext cx="41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44" name="Rectangle 52"/>
            <p:cNvSpPr>
              <a:spLocks noChangeArrowheads="1"/>
            </p:cNvSpPr>
            <p:nvPr/>
          </p:nvSpPr>
          <p:spPr bwMode="auto">
            <a:xfrm>
              <a:off x="756" y="1559"/>
              <a:ext cx="29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>
                  <a:latin typeface="Verdana" pitchFamily="34" charset="0"/>
                </a:rPr>
                <a:t>0.85</a:t>
              </a:r>
            </a:p>
          </p:txBody>
        </p:sp>
        <p:sp>
          <p:nvSpPr>
            <p:cNvPr id="37945" name="Line 53"/>
            <p:cNvSpPr>
              <a:spLocks noChangeShapeType="1"/>
            </p:cNvSpPr>
            <p:nvPr/>
          </p:nvSpPr>
          <p:spPr bwMode="auto">
            <a:xfrm>
              <a:off x="1127" y="1235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46" name="Line 54"/>
            <p:cNvSpPr>
              <a:spLocks noChangeShapeType="1"/>
            </p:cNvSpPr>
            <p:nvPr/>
          </p:nvSpPr>
          <p:spPr bwMode="auto">
            <a:xfrm flipH="1">
              <a:off x="5105" y="1235"/>
              <a:ext cx="41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47" name="Rectangle 55"/>
            <p:cNvSpPr>
              <a:spLocks noChangeArrowheads="1"/>
            </p:cNvSpPr>
            <p:nvPr/>
          </p:nvSpPr>
          <p:spPr bwMode="auto">
            <a:xfrm>
              <a:off x="823" y="1161"/>
              <a:ext cx="209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>
                  <a:latin typeface="Verdana" pitchFamily="34" charset="0"/>
                </a:rPr>
                <a:t>0.9</a:t>
              </a:r>
            </a:p>
          </p:txBody>
        </p:sp>
        <p:sp>
          <p:nvSpPr>
            <p:cNvPr id="37948" name="Line 56"/>
            <p:cNvSpPr>
              <a:spLocks noChangeShapeType="1"/>
            </p:cNvSpPr>
            <p:nvPr/>
          </p:nvSpPr>
          <p:spPr bwMode="auto">
            <a:xfrm>
              <a:off x="1127" y="837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49" name="Line 57"/>
            <p:cNvSpPr>
              <a:spLocks noChangeShapeType="1"/>
            </p:cNvSpPr>
            <p:nvPr/>
          </p:nvSpPr>
          <p:spPr bwMode="auto">
            <a:xfrm flipH="1">
              <a:off x="5109" y="837"/>
              <a:ext cx="37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50" name="Rectangle 58"/>
            <p:cNvSpPr>
              <a:spLocks noChangeArrowheads="1"/>
            </p:cNvSpPr>
            <p:nvPr/>
          </p:nvSpPr>
          <p:spPr bwMode="auto">
            <a:xfrm>
              <a:off x="756" y="761"/>
              <a:ext cx="29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>
                  <a:latin typeface="Verdana" pitchFamily="34" charset="0"/>
                </a:rPr>
                <a:t>0.95</a:t>
              </a:r>
            </a:p>
          </p:txBody>
        </p:sp>
        <p:sp>
          <p:nvSpPr>
            <p:cNvPr id="37951" name="Line 59"/>
            <p:cNvSpPr>
              <a:spLocks noChangeShapeType="1"/>
            </p:cNvSpPr>
            <p:nvPr/>
          </p:nvSpPr>
          <p:spPr bwMode="auto">
            <a:xfrm>
              <a:off x="1127" y="444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52" name="Line 60"/>
            <p:cNvSpPr>
              <a:spLocks noChangeShapeType="1"/>
            </p:cNvSpPr>
            <p:nvPr/>
          </p:nvSpPr>
          <p:spPr bwMode="auto">
            <a:xfrm flipH="1">
              <a:off x="5105" y="444"/>
              <a:ext cx="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53" name="Rectangle 61"/>
            <p:cNvSpPr>
              <a:spLocks noChangeArrowheads="1"/>
            </p:cNvSpPr>
            <p:nvPr/>
          </p:nvSpPr>
          <p:spPr bwMode="auto">
            <a:xfrm>
              <a:off x="925" y="370"/>
              <a:ext cx="8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>
                  <a:latin typeface="Verdana" pitchFamily="34" charset="0"/>
                </a:rPr>
                <a:t>1</a:t>
              </a:r>
            </a:p>
          </p:txBody>
        </p:sp>
        <p:sp>
          <p:nvSpPr>
            <p:cNvPr id="37954" name="Line 62"/>
            <p:cNvSpPr>
              <a:spLocks noChangeShapeType="1"/>
            </p:cNvSpPr>
            <p:nvPr/>
          </p:nvSpPr>
          <p:spPr bwMode="auto">
            <a:xfrm>
              <a:off x="1127" y="444"/>
              <a:ext cx="401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55" name="Freeform 63"/>
            <p:cNvSpPr>
              <a:spLocks/>
            </p:cNvSpPr>
            <p:nvPr/>
          </p:nvSpPr>
          <p:spPr bwMode="auto">
            <a:xfrm>
              <a:off x="1127" y="444"/>
              <a:ext cx="4019" cy="3176"/>
            </a:xfrm>
            <a:custGeom>
              <a:avLst/>
              <a:gdLst>
                <a:gd name="T0" fmla="*/ 0 w 595"/>
                <a:gd name="T1" fmla="*/ 470 h 470"/>
                <a:gd name="T2" fmla="*/ 595 w 595"/>
                <a:gd name="T3" fmla="*/ 470 h 470"/>
                <a:gd name="T4" fmla="*/ 595 w 595"/>
                <a:gd name="T5" fmla="*/ 0 h 470"/>
                <a:gd name="T6" fmla="*/ 0 60000 65536"/>
                <a:gd name="T7" fmla="*/ 0 60000 65536"/>
                <a:gd name="T8" fmla="*/ 0 60000 65536"/>
                <a:gd name="T9" fmla="*/ 0 w 595"/>
                <a:gd name="T10" fmla="*/ 0 h 470"/>
                <a:gd name="T11" fmla="*/ 595 w 595"/>
                <a:gd name="T12" fmla="*/ 470 h 4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5" h="470">
                  <a:moveTo>
                    <a:pt x="0" y="470"/>
                  </a:moveTo>
                  <a:lnTo>
                    <a:pt x="595" y="470"/>
                  </a:lnTo>
                  <a:lnTo>
                    <a:pt x="595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6" name="Line 64"/>
            <p:cNvSpPr>
              <a:spLocks noChangeShapeType="1"/>
            </p:cNvSpPr>
            <p:nvPr/>
          </p:nvSpPr>
          <p:spPr bwMode="auto">
            <a:xfrm flipV="1">
              <a:off x="1127" y="444"/>
              <a:ext cx="1" cy="317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57" name="Freeform 65"/>
            <p:cNvSpPr>
              <a:spLocks/>
            </p:cNvSpPr>
            <p:nvPr/>
          </p:nvSpPr>
          <p:spPr bwMode="auto">
            <a:xfrm>
              <a:off x="1127" y="707"/>
              <a:ext cx="3788" cy="2556"/>
            </a:xfrm>
            <a:custGeom>
              <a:avLst/>
              <a:gdLst>
                <a:gd name="T0" fmla="*/ 0 w 3730"/>
                <a:gd name="T1" fmla="*/ 0 h 2514"/>
                <a:gd name="T2" fmla="*/ 219 w 3730"/>
                <a:gd name="T3" fmla="*/ 47 h 2514"/>
                <a:gd name="T4" fmla="*/ 439 w 3730"/>
                <a:gd name="T5" fmla="*/ 100 h 2514"/>
                <a:gd name="T6" fmla="*/ 658 w 3730"/>
                <a:gd name="T7" fmla="*/ 160 h 2514"/>
                <a:gd name="T8" fmla="*/ 878 w 3730"/>
                <a:gd name="T9" fmla="*/ 226 h 2514"/>
                <a:gd name="T10" fmla="*/ 1097 w 3730"/>
                <a:gd name="T11" fmla="*/ 313 h 2514"/>
                <a:gd name="T12" fmla="*/ 1317 w 3730"/>
                <a:gd name="T13" fmla="*/ 399 h 2514"/>
                <a:gd name="T14" fmla="*/ 1536 w 3730"/>
                <a:gd name="T15" fmla="*/ 506 h 2514"/>
                <a:gd name="T16" fmla="*/ 1756 w 3730"/>
                <a:gd name="T17" fmla="*/ 625 h 2514"/>
                <a:gd name="T18" fmla="*/ 1975 w 3730"/>
                <a:gd name="T19" fmla="*/ 765 h 2514"/>
                <a:gd name="T20" fmla="*/ 2194 w 3730"/>
                <a:gd name="T21" fmla="*/ 918 h 2514"/>
                <a:gd name="T22" fmla="*/ 2414 w 3730"/>
                <a:gd name="T23" fmla="*/ 1084 h 2514"/>
                <a:gd name="T24" fmla="*/ 2633 w 3730"/>
                <a:gd name="T25" fmla="*/ 1277 h 2514"/>
                <a:gd name="T26" fmla="*/ 2853 w 3730"/>
                <a:gd name="T27" fmla="*/ 1490 h 2514"/>
                <a:gd name="T28" fmla="*/ 3072 w 3730"/>
                <a:gd name="T29" fmla="*/ 1716 h 2514"/>
                <a:gd name="T30" fmla="*/ 3292 w 3730"/>
                <a:gd name="T31" fmla="*/ 1962 h 2514"/>
                <a:gd name="T32" fmla="*/ 3511 w 3730"/>
                <a:gd name="T33" fmla="*/ 2234 h 2514"/>
                <a:gd name="T34" fmla="*/ 3730 w 3730"/>
                <a:gd name="T35" fmla="*/ 2514 h 251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730"/>
                <a:gd name="T55" fmla="*/ 0 h 2514"/>
                <a:gd name="T56" fmla="*/ 3730 w 3730"/>
                <a:gd name="T57" fmla="*/ 2514 h 251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730" h="2514">
                  <a:moveTo>
                    <a:pt x="0" y="0"/>
                  </a:moveTo>
                  <a:lnTo>
                    <a:pt x="219" y="47"/>
                  </a:lnTo>
                  <a:lnTo>
                    <a:pt x="439" y="100"/>
                  </a:lnTo>
                  <a:lnTo>
                    <a:pt x="658" y="160"/>
                  </a:lnTo>
                  <a:lnTo>
                    <a:pt x="878" y="226"/>
                  </a:lnTo>
                  <a:lnTo>
                    <a:pt x="1097" y="313"/>
                  </a:lnTo>
                  <a:lnTo>
                    <a:pt x="1317" y="399"/>
                  </a:lnTo>
                  <a:lnTo>
                    <a:pt x="1536" y="506"/>
                  </a:lnTo>
                  <a:lnTo>
                    <a:pt x="1756" y="625"/>
                  </a:lnTo>
                  <a:lnTo>
                    <a:pt x="1975" y="765"/>
                  </a:lnTo>
                  <a:lnTo>
                    <a:pt x="2194" y="918"/>
                  </a:lnTo>
                  <a:lnTo>
                    <a:pt x="2414" y="1084"/>
                  </a:lnTo>
                  <a:lnTo>
                    <a:pt x="2633" y="1277"/>
                  </a:lnTo>
                  <a:lnTo>
                    <a:pt x="2853" y="1490"/>
                  </a:lnTo>
                  <a:lnTo>
                    <a:pt x="3072" y="1716"/>
                  </a:lnTo>
                  <a:lnTo>
                    <a:pt x="3292" y="1962"/>
                  </a:lnTo>
                  <a:lnTo>
                    <a:pt x="3511" y="2234"/>
                  </a:lnTo>
                  <a:lnTo>
                    <a:pt x="3730" y="2514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8" name="Oval 66"/>
            <p:cNvSpPr>
              <a:spLocks noChangeArrowheads="1"/>
            </p:cNvSpPr>
            <p:nvPr/>
          </p:nvSpPr>
          <p:spPr bwMode="auto">
            <a:xfrm>
              <a:off x="1100" y="681"/>
              <a:ext cx="61" cy="60"/>
            </a:xfrm>
            <a:prstGeom prst="ellipse">
              <a:avLst/>
            </a:prstGeom>
            <a:noFill/>
            <a:ln w="20638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9" name="Oval 67"/>
            <p:cNvSpPr>
              <a:spLocks noChangeArrowheads="1"/>
            </p:cNvSpPr>
            <p:nvPr/>
          </p:nvSpPr>
          <p:spPr bwMode="auto">
            <a:xfrm>
              <a:off x="1323" y="728"/>
              <a:ext cx="61" cy="61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0" name="Oval 68"/>
            <p:cNvSpPr>
              <a:spLocks noChangeArrowheads="1"/>
            </p:cNvSpPr>
            <p:nvPr/>
          </p:nvSpPr>
          <p:spPr bwMode="auto">
            <a:xfrm>
              <a:off x="1545" y="782"/>
              <a:ext cx="61" cy="61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1" name="Oval 69"/>
            <p:cNvSpPr>
              <a:spLocks noChangeArrowheads="1"/>
            </p:cNvSpPr>
            <p:nvPr/>
          </p:nvSpPr>
          <p:spPr bwMode="auto">
            <a:xfrm>
              <a:off x="1769" y="843"/>
              <a:ext cx="61" cy="61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2" name="Oval 70"/>
            <p:cNvSpPr>
              <a:spLocks noChangeArrowheads="1"/>
            </p:cNvSpPr>
            <p:nvPr/>
          </p:nvSpPr>
          <p:spPr bwMode="auto">
            <a:xfrm>
              <a:off x="1991" y="911"/>
              <a:ext cx="61" cy="61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3" name="Oval 71"/>
            <p:cNvSpPr>
              <a:spLocks noChangeArrowheads="1"/>
            </p:cNvSpPr>
            <p:nvPr/>
          </p:nvSpPr>
          <p:spPr bwMode="auto">
            <a:xfrm>
              <a:off x="2215" y="998"/>
              <a:ext cx="60" cy="61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4" name="Oval 72"/>
            <p:cNvSpPr>
              <a:spLocks noChangeArrowheads="1"/>
            </p:cNvSpPr>
            <p:nvPr/>
          </p:nvSpPr>
          <p:spPr bwMode="auto">
            <a:xfrm>
              <a:off x="2437" y="1087"/>
              <a:ext cx="61" cy="60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5" name="Oval 73"/>
            <p:cNvSpPr>
              <a:spLocks noChangeArrowheads="1"/>
            </p:cNvSpPr>
            <p:nvPr/>
          </p:nvSpPr>
          <p:spPr bwMode="auto">
            <a:xfrm>
              <a:off x="2660" y="1194"/>
              <a:ext cx="61" cy="61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6" name="Oval 74"/>
            <p:cNvSpPr>
              <a:spLocks noChangeArrowheads="1"/>
            </p:cNvSpPr>
            <p:nvPr/>
          </p:nvSpPr>
          <p:spPr bwMode="auto">
            <a:xfrm>
              <a:off x="2883" y="1316"/>
              <a:ext cx="61" cy="61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7" name="Oval 75"/>
            <p:cNvSpPr>
              <a:spLocks noChangeArrowheads="1"/>
            </p:cNvSpPr>
            <p:nvPr/>
          </p:nvSpPr>
          <p:spPr bwMode="auto">
            <a:xfrm>
              <a:off x="3106" y="1458"/>
              <a:ext cx="60" cy="60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8" name="Oval 76"/>
            <p:cNvSpPr>
              <a:spLocks noChangeArrowheads="1"/>
            </p:cNvSpPr>
            <p:nvPr/>
          </p:nvSpPr>
          <p:spPr bwMode="auto">
            <a:xfrm>
              <a:off x="3329" y="1613"/>
              <a:ext cx="61" cy="61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9" name="Oval 77"/>
            <p:cNvSpPr>
              <a:spLocks noChangeArrowheads="1"/>
            </p:cNvSpPr>
            <p:nvPr/>
          </p:nvSpPr>
          <p:spPr bwMode="auto">
            <a:xfrm>
              <a:off x="3551" y="1782"/>
              <a:ext cx="61" cy="61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70" name="Oval 78"/>
            <p:cNvSpPr>
              <a:spLocks noChangeArrowheads="1"/>
            </p:cNvSpPr>
            <p:nvPr/>
          </p:nvSpPr>
          <p:spPr bwMode="auto">
            <a:xfrm>
              <a:off x="3775" y="1978"/>
              <a:ext cx="61" cy="61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71" name="Oval 79"/>
            <p:cNvSpPr>
              <a:spLocks noChangeArrowheads="1"/>
            </p:cNvSpPr>
            <p:nvPr/>
          </p:nvSpPr>
          <p:spPr bwMode="auto">
            <a:xfrm>
              <a:off x="3997" y="2194"/>
              <a:ext cx="61" cy="61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72" name="Oval 80"/>
            <p:cNvSpPr>
              <a:spLocks noChangeArrowheads="1"/>
            </p:cNvSpPr>
            <p:nvPr/>
          </p:nvSpPr>
          <p:spPr bwMode="auto">
            <a:xfrm>
              <a:off x="4221" y="2424"/>
              <a:ext cx="60" cy="61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73" name="Oval 81"/>
            <p:cNvSpPr>
              <a:spLocks noChangeArrowheads="1"/>
            </p:cNvSpPr>
            <p:nvPr/>
          </p:nvSpPr>
          <p:spPr bwMode="auto">
            <a:xfrm>
              <a:off x="4443" y="2674"/>
              <a:ext cx="61" cy="61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74" name="Oval 82"/>
            <p:cNvSpPr>
              <a:spLocks noChangeArrowheads="1"/>
            </p:cNvSpPr>
            <p:nvPr/>
          </p:nvSpPr>
          <p:spPr bwMode="auto">
            <a:xfrm>
              <a:off x="4666" y="2952"/>
              <a:ext cx="61" cy="61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75" name="Oval 83"/>
            <p:cNvSpPr>
              <a:spLocks noChangeArrowheads="1"/>
            </p:cNvSpPr>
            <p:nvPr/>
          </p:nvSpPr>
          <p:spPr bwMode="auto">
            <a:xfrm>
              <a:off x="4889" y="3235"/>
              <a:ext cx="61" cy="61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76" name="Freeform 84"/>
            <p:cNvSpPr>
              <a:spLocks/>
            </p:cNvSpPr>
            <p:nvPr/>
          </p:nvSpPr>
          <p:spPr bwMode="auto">
            <a:xfrm>
              <a:off x="1127" y="593"/>
              <a:ext cx="3788" cy="2744"/>
            </a:xfrm>
            <a:custGeom>
              <a:avLst/>
              <a:gdLst>
                <a:gd name="T0" fmla="*/ 0 w 3730"/>
                <a:gd name="T1" fmla="*/ 100 h 2700"/>
                <a:gd name="T2" fmla="*/ 219 w 3730"/>
                <a:gd name="T3" fmla="*/ 0 h 2700"/>
                <a:gd name="T4" fmla="*/ 439 w 3730"/>
                <a:gd name="T5" fmla="*/ 186 h 2700"/>
                <a:gd name="T6" fmla="*/ 658 w 3730"/>
                <a:gd name="T7" fmla="*/ 386 h 2700"/>
                <a:gd name="T8" fmla="*/ 878 w 3730"/>
                <a:gd name="T9" fmla="*/ 293 h 2700"/>
                <a:gd name="T10" fmla="*/ 1097 w 3730"/>
                <a:gd name="T11" fmla="*/ 752 h 2700"/>
                <a:gd name="T12" fmla="*/ 1317 w 3730"/>
                <a:gd name="T13" fmla="*/ 512 h 2700"/>
                <a:gd name="T14" fmla="*/ 1536 w 3730"/>
                <a:gd name="T15" fmla="*/ 286 h 2700"/>
                <a:gd name="T16" fmla="*/ 1756 w 3730"/>
                <a:gd name="T17" fmla="*/ 479 h 2700"/>
                <a:gd name="T18" fmla="*/ 1975 w 3730"/>
                <a:gd name="T19" fmla="*/ 373 h 2700"/>
                <a:gd name="T20" fmla="*/ 2194 w 3730"/>
                <a:gd name="T21" fmla="*/ 658 h 2700"/>
                <a:gd name="T22" fmla="*/ 2414 w 3730"/>
                <a:gd name="T23" fmla="*/ 2035 h 2700"/>
                <a:gd name="T24" fmla="*/ 2633 w 3730"/>
                <a:gd name="T25" fmla="*/ 1782 h 2700"/>
                <a:gd name="T26" fmla="*/ 2853 w 3730"/>
                <a:gd name="T27" fmla="*/ 1018 h 2700"/>
                <a:gd name="T28" fmla="*/ 3072 w 3730"/>
                <a:gd name="T29" fmla="*/ 1855 h 2700"/>
                <a:gd name="T30" fmla="*/ 3292 w 3730"/>
                <a:gd name="T31" fmla="*/ 1796 h 2700"/>
                <a:gd name="T32" fmla="*/ 3511 w 3730"/>
                <a:gd name="T33" fmla="*/ 2108 h 2700"/>
                <a:gd name="T34" fmla="*/ 3730 w 3730"/>
                <a:gd name="T35" fmla="*/ 2700 h 270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730"/>
                <a:gd name="T55" fmla="*/ 0 h 2700"/>
                <a:gd name="T56" fmla="*/ 3730 w 3730"/>
                <a:gd name="T57" fmla="*/ 2700 h 270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730" h="2700">
                  <a:moveTo>
                    <a:pt x="0" y="100"/>
                  </a:moveTo>
                  <a:lnTo>
                    <a:pt x="219" y="0"/>
                  </a:lnTo>
                  <a:lnTo>
                    <a:pt x="439" y="186"/>
                  </a:lnTo>
                  <a:lnTo>
                    <a:pt x="658" y="386"/>
                  </a:lnTo>
                  <a:lnTo>
                    <a:pt x="878" y="293"/>
                  </a:lnTo>
                  <a:lnTo>
                    <a:pt x="1097" y="752"/>
                  </a:lnTo>
                  <a:lnTo>
                    <a:pt x="1317" y="512"/>
                  </a:lnTo>
                  <a:lnTo>
                    <a:pt x="1536" y="286"/>
                  </a:lnTo>
                  <a:lnTo>
                    <a:pt x="1756" y="479"/>
                  </a:lnTo>
                  <a:lnTo>
                    <a:pt x="1975" y="373"/>
                  </a:lnTo>
                  <a:lnTo>
                    <a:pt x="2194" y="658"/>
                  </a:lnTo>
                  <a:lnTo>
                    <a:pt x="2414" y="2035"/>
                  </a:lnTo>
                  <a:lnTo>
                    <a:pt x="2633" y="1782"/>
                  </a:lnTo>
                  <a:lnTo>
                    <a:pt x="2853" y="1018"/>
                  </a:lnTo>
                  <a:lnTo>
                    <a:pt x="3072" y="1855"/>
                  </a:lnTo>
                  <a:lnTo>
                    <a:pt x="3292" y="1796"/>
                  </a:lnTo>
                  <a:lnTo>
                    <a:pt x="3511" y="2108"/>
                  </a:lnTo>
                  <a:lnTo>
                    <a:pt x="3730" y="2700"/>
                  </a:lnTo>
                </a:path>
              </a:pathLst>
            </a:custGeom>
            <a:noFill/>
            <a:ln w="2857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77" name="Freeform 85"/>
            <p:cNvSpPr>
              <a:spLocks/>
            </p:cNvSpPr>
            <p:nvPr/>
          </p:nvSpPr>
          <p:spPr bwMode="auto">
            <a:xfrm>
              <a:off x="1093" y="674"/>
              <a:ext cx="68" cy="54"/>
            </a:xfrm>
            <a:custGeom>
              <a:avLst/>
              <a:gdLst>
                <a:gd name="T0" fmla="*/ 33 w 66"/>
                <a:gd name="T1" fmla="*/ 53 h 53"/>
                <a:gd name="T2" fmla="*/ 66 w 66"/>
                <a:gd name="T3" fmla="*/ 0 h 53"/>
                <a:gd name="T4" fmla="*/ 0 w 66"/>
                <a:gd name="T5" fmla="*/ 0 h 53"/>
                <a:gd name="T6" fmla="*/ 33 w 66"/>
                <a:gd name="T7" fmla="*/ 53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6"/>
                <a:gd name="T13" fmla="*/ 0 h 53"/>
                <a:gd name="T14" fmla="*/ 66 w 66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6" h="53">
                  <a:moveTo>
                    <a:pt x="33" y="53"/>
                  </a:moveTo>
                  <a:lnTo>
                    <a:pt x="66" y="0"/>
                  </a:lnTo>
                  <a:lnTo>
                    <a:pt x="0" y="0"/>
                  </a:lnTo>
                  <a:lnTo>
                    <a:pt x="33" y="53"/>
                  </a:lnTo>
                  <a:close/>
                </a:path>
              </a:pathLst>
            </a:custGeom>
            <a:noFill/>
            <a:ln w="20638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78" name="Freeform 86"/>
            <p:cNvSpPr>
              <a:spLocks/>
            </p:cNvSpPr>
            <p:nvPr/>
          </p:nvSpPr>
          <p:spPr bwMode="auto">
            <a:xfrm>
              <a:off x="1316" y="572"/>
              <a:ext cx="68" cy="54"/>
            </a:xfrm>
            <a:custGeom>
              <a:avLst/>
              <a:gdLst>
                <a:gd name="T0" fmla="*/ 33 w 67"/>
                <a:gd name="T1" fmla="*/ 53 h 53"/>
                <a:gd name="T2" fmla="*/ 67 w 67"/>
                <a:gd name="T3" fmla="*/ 0 h 53"/>
                <a:gd name="T4" fmla="*/ 0 w 67"/>
                <a:gd name="T5" fmla="*/ 0 h 53"/>
                <a:gd name="T6" fmla="*/ 33 w 67"/>
                <a:gd name="T7" fmla="*/ 53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53"/>
                <a:gd name="T14" fmla="*/ 67 w 67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53">
                  <a:moveTo>
                    <a:pt x="33" y="53"/>
                  </a:moveTo>
                  <a:lnTo>
                    <a:pt x="67" y="0"/>
                  </a:lnTo>
                  <a:lnTo>
                    <a:pt x="0" y="0"/>
                  </a:lnTo>
                  <a:lnTo>
                    <a:pt x="33" y="53"/>
                  </a:lnTo>
                  <a:close/>
                </a:path>
              </a:pathLst>
            </a:custGeom>
            <a:noFill/>
            <a:ln w="2857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79" name="Freeform 87"/>
            <p:cNvSpPr>
              <a:spLocks/>
            </p:cNvSpPr>
            <p:nvPr/>
          </p:nvSpPr>
          <p:spPr bwMode="auto">
            <a:xfrm>
              <a:off x="1539" y="761"/>
              <a:ext cx="67" cy="55"/>
            </a:xfrm>
            <a:custGeom>
              <a:avLst/>
              <a:gdLst>
                <a:gd name="T0" fmla="*/ 33 w 66"/>
                <a:gd name="T1" fmla="*/ 54 h 54"/>
                <a:gd name="T2" fmla="*/ 66 w 66"/>
                <a:gd name="T3" fmla="*/ 0 h 54"/>
                <a:gd name="T4" fmla="*/ 0 w 66"/>
                <a:gd name="T5" fmla="*/ 0 h 54"/>
                <a:gd name="T6" fmla="*/ 33 w 66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6"/>
                <a:gd name="T13" fmla="*/ 0 h 54"/>
                <a:gd name="T14" fmla="*/ 66 w 66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6" h="54">
                  <a:moveTo>
                    <a:pt x="33" y="54"/>
                  </a:moveTo>
                  <a:lnTo>
                    <a:pt x="66" y="0"/>
                  </a:lnTo>
                  <a:lnTo>
                    <a:pt x="0" y="0"/>
                  </a:lnTo>
                  <a:lnTo>
                    <a:pt x="33" y="54"/>
                  </a:lnTo>
                  <a:close/>
                </a:path>
              </a:pathLst>
            </a:custGeom>
            <a:noFill/>
            <a:ln w="2857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80" name="Freeform 88"/>
            <p:cNvSpPr>
              <a:spLocks/>
            </p:cNvSpPr>
            <p:nvPr/>
          </p:nvSpPr>
          <p:spPr bwMode="auto">
            <a:xfrm>
              <a:off x="1762" y="965"/>
              <a:ext cx="68" cy="53"/>
            </a:xfrm>
            <a:custGeom>
              <a:avLst/>
              <a:gdLst>
                <a:gd name="T0" fmla="*/ 33 w 67"/>
                <a:gd name="T1" fmla="*/ 53 h 53"/>
                <a:gd name="T2" fmla="*/ 67 w 67"/>
                <a:gd name="T3" fmla="*/ 0 h 53"/>
                <a:gd name="T4" fmla="*/ 0 w 67"/>
                <a:gd name="T5" fmla="*/ 0 h 53"/>
                <a:gd name="T6" fmla="*/ 33 w 67"/>
                <a:gd name="T7" fmla="*/ 53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53"/>
                <a:gd name="T14" fmla="*/ 67 w 67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53">
                  <a:moveTo>
                    <a:pt x="33" y="53"/>
                  </a:moveTo>
                  <a:lnTo>
                    <a:pt x="67" y="0"/>
                  </a:lnTo>
                  <a:lnTo>
                    <a:pt x="0" y="0"/>
                  </a:lnTo>
                  <a:lnTo>
                    <a:pt x="33" y="53"/>
                  </a:lnTo>
                  <a:close/>
                </a:path>
              </a:pathLst>
            </a:custGeom>
            <a:noFill/>
            <a:ln w="2857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81" name="Freeform 89"/>
            <p:cNvSpPr>
              <a:spLocks/>
            </p:cNvSpPr>
            <p:nvPr/>
          </p:nvSpPr>
          <p:spPr bwMode="auto">
            <a:xfrm>
              <a:off x="1984" y="870"/>
              <a:ext cx="68" cy="54"/>
            </a:xfrm>
            <a:custGeom>
              <a:avLst/>
              <a:gdLst>
                <a:gd name="T0" fmla="*/ 34 w 67"/>
                <a:gd name="T1" fmla="*/ 53 h 53"/>
                <a:gd name="T2" fmla="*/ 67 w 67"/>
                <a:gd name="T3" fmla="*/ 0 h 53"/>
                <a:gd name="T4" fmla="*/ 0 w 67"/>
                <a:gd name="T5" fmla="*/ 0 h 53"/>
                <a:gd name="T6" fmla="*/ 34 w 67"/>
                <a:gd name="T7" fmla="*/ 53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53"/>
                <a:gd name="T14" fmla="*/ 67 w 67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53">
                  <a:moveTo>
                    <a:pt x="34" y="53"/>
                  </a:moveTo>
                  <a:lnTo>
                    <a:pt x="67" y="0"/>
                  </a:lnTo>
                  <a:lnTo>
                    <a:pt x="0" y="0"/>
                  </a:lnTo>
                  <a:lnTo>
                    <a:pt x="34" y="53"/>
                  </a:lnTo>
                  <a:close/>
                </a:path>
              </a:pathLst>
            </a:custGeom>
            <a:noFill/>
            <a:ln w="2857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82" name="Freeform 90"/>
            <p:cNvSpPr>
              <a:spLocks/>
            </p:cNvSpPr>
            <p:nvPr/>
          </p:nvSpPr>
          <p:spPr bwMode="auto">
            <a:xfrm>
              <a:off x="2208" y="1337"/>
              <a:ext cx="67" cy="53"/>
            </a:xfrm>
            <a:custGeom>
              <a:avLst/>
              <a:gdLst>
                <a:gd name="T0" fmla="*/ 33 w 66"/>
                <a:gd name="T1" fmla="*/ 53 h 53"/>
                <a:gd name="T2" fmla="*/ 66 w 66"/>
                <a:gd name="T3" fmla="*/ 0 h 53"/>
                <a:gd name="T4" fmla="*/ 0 w 66"/>
                <a:gd name="T5" fmla="*/ 0 h 53"/>
                <a:gd name="T6" fmla="*/ 33 w 66"/>
                <a:gd name="T7" fmla="*/ 53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6"/>
                <a:gd name="T13" fmla="*/ 0 h 53"/>
                <a:gd name="T14" fmla="*/ 66 w 66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6" h="53">
                  <a:moveTo>
                    <a:pt x="33" y="53"/>
                  </a:moveTo>
                  <a:lnTo>
                    <a:pt x="66" y="0"/>
                  </a:lnTo>
                  <a:lnTo>
                    <a:pt x="0" y="0"/>
                  </a:lnTo>
                  <a:lnTo>
                    <a:pt x="33" y="53"/>
                  </a:lnTo>
                  <a:close/>
                </a:path>
              </a:pathLst>
            </a:custGeom>
            <a:noFill/>
            <a:ln w="2857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83" name="Freeform 91"/>
            <p:cNvSpPr>
              <a:spLocks/>
            </p:cNvSpPr>
            <p:nvPr/>
          </p:nvSpPr>
          <p:spPr bwMode="auto">
            <a:xfrm>
              <a:off x="2430" y="1093"/>
              <a:ext cx="68" cy="54"/>
            </a:xfrm>
            <a:custGeom>
              <a:avLst/>
              <a:gdLst>
                <a:gd name="T0" fmla="*/ 34 w 67"/>
                <a:gd name="T1" fmla="*/ 53 h 53"/>
                <a:gd name="T2" fmla="*/ 67 w 67"/>
                <a:gd name="T3" fmla="*/ 0 h 53"/>
                <a:gd name="T4" fmla="*/ 0 w 67"/>
                <a:gd name="T5" fmla="*/ 0 h 53"/>
                <a:gd name="T6" fmla="*/ 34 w 67"/>
                <a:gd name="T7" fmla="*/ 53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53"/>
                <a:gd name="T14" fmla="*/ 67 w 67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53">
                  <a:moveTo>
                    <a:pt x="34" y="53"/>
                  </a:moveTo>
                  <a:lnTo>
                    <a:pt x="67" y="0"/>
                  </a:lnTo>
                  <a:lnTo>
                    <a:pt x="0" y="0"/>
                  </a:lnTo>
                  <a:lnTo>
                    <a:pt x="34" y="53"/>
                  </a:lnTo>
                  <a:close/>
                </a:path>
              </a:pathLst>
            </a:custGeom>
            <a:noFill/>
            <a:ln w="2857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84" name="Freeform 92"/>
            <p:cNvSpPr>
              <a:spLocks/>
            </p:cNvSpPr>
            <p:nvPr/>
          </p:nvSpPr>
          <p:spPr bwMode="auto">
            <a:xfrm>
              <a:off x="2654" y="863"/>
              <a:ext cx="67" cy="54"/>
            </a:xfrm>
            <a:custGeom>
              <a:avLst/>
              <a:gdLst>
                <a:gd name="T0" fmla="*/ 33 w 66"/>
                <a:gd name="T1" fmla="*/ 53 h 53"/>
                <a:gd name="T2" fmla="*/ 66 w 66"/>
                <a:gd name="T3" fmla="*/ 0 h 53"/>
                <a:gd name="T4" fmla="*/ 0 w 66"/>
                <a:gd name="T5" fmla="*/ 0 h 53"/>
                <a:gd name="T6" fmla="*/ 33 w 66"/>
                <a:gd name="T7" fmla="*/ 53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6"/>
                <a:gd name="T13" fmla="*/ 0 h 53"/>
                <a:gd name="T14" fmla="*/ 66 w 66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6" h="53">
                  <a:moveTo>
                    <a:pt x="33" y="53"/>
                  </a:moveTo>
                  <a:lnTo>
                    <a:pt x="66" y="0"/>
                  </a:lnTo>
                  <a:lnTo>
                    <a:pt x="0" y="0"/>
                  </a:lnTo>
                  <a:lnTo>
                    <a:pt x="33" y="53"/>
                  </a:lnTo>
                  <a:close/>
                </a:path>
              </a:pathLst>
            </a:custGeom>
            <a:noFill/>
            <a:ln w="2857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85" name="Freeform 93"/>
            <p:cNvSpPr>
              <a:spLocks/>
            </p:cNvSpPr>
            <p:nvPr/>
          </p:nvSpPr>
          <p:spPr bwMode="auto">
            <a:xfrm>
              <a:off x="2876" y="1059"/>
              <a:ext cx="68" cy="54"/>
            </a:xfrm>
            <a:custGeom>
              <a:avLst/>
              <a:gdLst>
                <a:gd name="T0" fmla="*/ 34 w 67"/>
                <a:gd name="T1" fmla="*/ 53 h 53"/>
                <a:gd name="T2" fmla="*/ 67 w 67"/>
                <a:gd name="T3" fmla="*/ 0 h 53"/>
                <a:gd name="T4" fmla="*/ 0 w 67"/>
                <a:gd name="T5" fmla="*/ 0 h 53"/>
                <a:gd name="T6" fmla="*/ 34 w 67"/>
                <a:gd name="T7" fmla="*/ 53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53"/>
                <a:gd name="T14" fmla="*/ 67 w 67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53">
                  <a:moveTo>
                    <a:pt x="34" y="53"/>
                  </a:moveTo>
                  <a:lnTo>
                    <a:pt x="67" y="0"/>
                  </a:lnTo>
                  <a:lnTo>
                    <a:pt x="0" y="0"/>
                  </a:lnTo>
                  <a:lnTo>
                    <a:pt x="34" y="53"/>
                  </a:lnTo>
                  <a:close/>
                </a:path>
              </a:pathLst>
            </a:custGeom>
            <a:noFill/>
            <a:ln w="2857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86" name="Freeform 94"/>
            <p:cNvSpPr>
              <a:spLocks/>
            </p:cNvSpPr>
            <p:nvPr/>
          </p:nvSpPr>
          <p:spPr bwMode="auto">
            <a:xfrm>
              <a:off x="3099" y="951"/>
              <a:ext cx="67" cy="54"/>
            </a:xfrm>
            <a:custGeom>
              <a:avLst/>
              <a:gdLst>
                <a:gd name="T0" fmla="*/ 33 w 66"/>
                <a:gd name="T1" fmla="*/ 53 h 53"/>
                <a:gd name="T2" fmla="*/ 66 w 66"/>
                <a:gd name="T3" fmla="*/ 0 h 53"/>
                <a:gd name="T4" fmla="*/ 0 w 66"/>
                <a:gd name="T5" fmla="*/ 0 h 53"/>
                <a:gd name="T6" fmla="*/ 33 w 66"/>
                <a:gd name="T7" fmla="*/ 53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6"/>
                <a:gd name="T13" fmla="*/ 0 h 53"/>
                <a:gd name="T14" fmla="*/ 66 w 66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6" h="53">
                  <a:moveTo>
                    <a:pt x="33" y="53"/>
                  </a:moveTo>
                  <a:lnTo>
                    <a:pt x="66" y="0"/>
                  </a:lnTo>
                  <a:lnTo>
                    <a:pt x="0" y="0"/>
                  </a:lnTo>
                  <a:lnTo>
                    <a:pt x="33" y="53"/>
                  </a:lnTo>
                  <a:close/>
                </a:path>
              </a:pathLst>
            </a:custGeom>
            <a:noFill/>
            <a:ln w="2857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87" name="Freeform 95"/>
            <p:cNvSpPr>
              <a:spLocks/>
            </p:cNvSpPr>
            <p:nvPr/>
          </p:nvSpPr>
          <p:spPr bwMode="auto">
            <a:xfrm>
              <a:off x="3322" y="1242"/>
              <a:ext cx="68" cy="54"/>
            </a:xfrm>
            <a:custGeom>
              <a:avLst/>
              <a:gdLst>
                <a:gd name="T0" fmla="*/ 33 w 67"/>
                <a:gd name="T1" fmla="*/ 53 h 53"/>
                <a:gd name="T2" fmla="*/ 67 w 67"/>
                <a:gd name="T3" fmla="*/ 0 h 53"/>
                <a:gd name="T4" fmla="*/ 0 w 67"/>
                <a:gd name="T5" fmla="*/ 0 h 53"/>
                <a:gd name="T6" fmla="*/ 33 w 67"/>
                <a:gd name="T7" fmla="*/ 53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53"/>
                <a:gd name="T14" fmla="*/ 67 w 67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53">
                  <a:moveTo>
                    <a:pt x="33" y="53"/>
                  </a:moveTo>
                  <a:lnTo>
                    <a:pt x="67" y="0"/>
                  </a:lnTo>
                  <a:lnTo>
                    <a:pt x="0" y="0"/>
                  </a:lnTo>
                  <a:lnTo>
                    <a:pt x="33" y="53"/>
                  </a:lnTo>
                  <a:close/>
                </a:path>
              </a:pathLst>
            </a:custGeom>
            <a:noFill/>
            <a:ln w="2857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88" name="Freeform 96"/>
            <p:cNvSpPr>
              <a:spLocks/>
            </p:cNvSpPr>
            <p:nvPr/>
          </p:nvSpPr>
          <p:spPr bwMode="auto">
            <a:xfrm>
              <a:off x="3545" y="2641"/>
              <a:ext cx="67" cy="53"/>
            </a:xfrm>
            <a:custGeom>
              <a:avLst/>
              <a:gdLst>
                <a:gd name="T0" fmla="*/ 33 w 66"/>
                <a:gd name="T1" fmla="*/ 53 h 53"/>
                <a:gd name="T2" fmla="*/ 66 w 66"/>
                <a:gd name="T3" fmla="*/ 0 h 53"/>
                <a:gd name="T4" fmla="*/ 0 w 66"/>
                <a:gd name="T5" fmla="*/ 0 h 53"/>
                <a:gd name="T6" fmla="*/ 33 w 66"/>
                <a:gd name="T7" fmla="*/ 53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6"/>
                <a:gd name="T13" fmla="*/ 0 h 53"/>
                <a:gd name="T14" fmla="*/ 66 w 66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6" h="53">
                  <a:moveTo>
                    <a:pt x="33" y="53"/>
                  </a:moveTo>
                  <a:lnTo>
                    <a:pt x="66" y="0"/>
                  </a:lnTo>
                  <a:lnTo>
                    <a:pt x="0" y="0"/>
                  </a:lnTo>
                  <a:lnTo>
                    <a:pt x="33" y="53"/>
                  </a:lnTo>
                  <a:close/>
                </a:path>
              </a:pathLst>
            </a:custGeom>
            <a:noFill/>
            <a:ln w="2857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89" name="Freeform 97"/>
            <p:cNvSpPr>
              <a:spLocks/>
            </p:cNvSpPr>
            <p:nvPr/>
          </p:nvSpPr>
          <p:spPr bwMode="auto">
            <a:xfrm>
              <a:off x="3768" y="2383"/>
              <a:ext cx="68" cy="54"/>
            </a:xfrm>
            <a:custGeom>
              <a:avLst/>
              <a:gdLst>
                <a:gd name="T0" fmla="*/ 33 w 67"/>
                <a:gd name="T1" fmla="*/ 53 h 53"/>
                <a:gd name="T2" fmla="*/ 67 w 67"/>
                <a:gd name="T3" fmla="*/ 0 h 53"/>
                <a:gd name="T4" fmla="*/ 0 w 67"/>
                <a:gd name="T5" fmla="*/ 0 h 53"/>
                <a:gd name="T6" fmla="*/ 33 w 67"/>
                <a:gd name="T7" fmla="*/ 53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53"/>
                <a:gd name="T14" fmla="*/ 67 w 67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53">
                  <a:moveTo>
                    <a:pt x="33" y="53"/>
                  </a:moveTo>
                  <a:lnTo>
                    <a:pt x="67" y="0"/>
                  </a:lnTo>
                  <a:lnTo>
                    <a:pt x="0" y="0"/>
                  </a:lnTo>
                  <a:lnTo>
                    <a:pt x="33" y="53"/>
                  </a:lnTo>
                  <a:close/>
                </a:path>
              </a:pathLst>
            </a:custGeom>
            <a:noFill/>
            <a:ln w="2857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90" name="Freeform 98"/>
            <p:cNvSpPr>
              <a:spLocks/>
            </p:cNvSpPr>
            <p:nvPr/>
          </p:nvSpPr>
          <p:spPr bwMode="auto">
            <a:xfrm>
              <a:off x="3990" y="1607"/>
              <a:ext cx="68" cy="54"/>
            </a:xfrm>
            <a:custGeom>
              <a:avLst/>
              <a:gdLst>
                <a:gd name="T0" fmla="*/ 34 w 67"/>
                <a:gd name="T1" fmla="*/ 53 h 53"/>
                <a:gd name="T2" fmla="*/ 67 w 67"/>
                <a:gd name="T3" fmla="*/ 0 h 53"/>
                <a:gd name="T4" fmla="*/ 0 w 67"/>
                <a:gd name="T5" fmla="*/ 0 h 53"/>
                <a:gd name="T6" fmla="*/ 34 w 67"/>
                <a:gd name="T7" fmla="*/ 53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53"/>
                <a:gd name="T14" fmla="*/ 67 w 67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53">
                  <a:moveTo>
                    <a:pt x="34" y="53"/>
                  </a:moveTo>
                  <a:lnTo>
                    <a:pt x="67" y="0"/>
                  </a:lnTo>
                  <a:lnTo>
                    <a:pt x="0" y="0"/>
                  </a:lnTo>
                  <a:lnTo>
                    <a:pt x="34" y="53"/>
                  </a:lnTo>
                  <a:close/>
                </a:path>
              </a:pathLst>
            </a:custGeom>
            <a:noFill/>
            <a:ln w="2857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91" name="Freeform 99"/>
            <p:cNvSpPr>
              <a:spLocks/>
            </p:cNvSpPr>
            <p:nvPr/>
          </p:nvSpPr>
          <p:spPr bwMode="auto">
            <a:xfrm>
              <a:off x="4214" y="2458"/>
              <a:ext cx="67" cy="54"/>
            </a:xfrm>
            <a:custGeom>
              <a:avLst/>
              <a:gdLst>
                <a:gd name="T0" fmla="*/ 33 w 66"/>
                <a:gd name="T1" fmla="*/ 54 h 54"/>
                <a:gd name="T2" fmla="*/ 66 w 66"/>
                <a:gd name="T3" fmla="*/ 0 h 54"/>
                <a:gd name="T4" fmla="*/ 0 w 66"/>
                <a:gd name="T5" fmla="*/ 0 h 54"/>
                <a:gd name="T6" fmla="*/ 33 w 66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6"/>
                <a:gd name="T13" fmla="*/ 0 h 54"/>
                <a:gd name="T14" fmla="*/ 66 w 66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6" h="54">
                  <a:moveTo>
                    <a:pt x="33" y="54"/>
                  </a:moveTo>
                  <a:lnTo>
                    <a:pt x="66" y="0"/>
                  </a:lnTo>
                  <a:lnTo>
                    <a:pt x="0" y="0"/>
                  </a:lnTo>
                  <a:lnTo>
                    <a:pt x="33" y="54"/>
                  </a:lnTo>
                  <a:close/>
                </a:path>
              </a:pathLst>
            </a:custGeom>
            <a:noFill/>
            <a:ln w="2857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92" name="Freeform 100"/>
            <p:cNvSpPr>
              <a:spLocks/>
            </p:cNvSpPr>
            <p:nvPr/>
          </p:nvSpPr>
          <p:spPr bwMode="auto">
            <a:xfrm>
              <a:off x="4436" y="2398"/>
              <a:ext cx="68" cy="54"/>
            </a:xfrm>
            <a:custGeom>
              <a:avLst/>
              <a:gdLst>
                <a:gd name="T0" fmla="*/ 34 w 67"/>
                <a:gd name="T1" fmla="*/ 53 h 53"/>
                <a:gd name="T2" fmla="*/ 67 w 67"/>
                <a:gd name="T3" fmla="*/ 0 h 53"/>
                <a:gd name="T4" fmla="*/ 0 w 67"/>
                <a:gd name="T5" fmla="*/ 0 h 53"/>
                <a:gd name="T6" fmla="*/ 34 w 67"/>
                <a:gd name="T7" fmla="*/ 53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53"/>
                <a:gd name="T14" fmla="*/ 67 w 67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53">
                  <a:moveTo>
                    <a:pt x="34" y="53"/>
                  </a:moveTo>
                  <a:lnTo>
                    <a:pt x="67" y="0"/>
                  </a:lnTo>
                  <a:lnTo>
                    <a:pt x="0" y="0"/>
                  </a:lnTo>
                  <a:lnTo>
                    <a:pt x="34" y="53"/>
                  </a:lnTo>
                  <a:close/>
                </a:path>
              </a:pathLst>
            </a:custGeom>
            <a:noFill/>
            <a:ln w="2857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93" name="Freeform 101"/>
            <p:cNvSpPr>
              <a:spLocks/>
            </p:cNvSpPr>
            <p:nvPr/>
          </p:nvSpPr>
          <p:spPr bwMode="auto">
            <a:xfrm>
              <a:off x="4659" y="2715"/>
              <a:ext cx="68" cy="54"/>
            </a:xfrm>
            <a:custGeom>
              <a:avLst/>
              <a:gdLst>
                <a:gd name="T0" fmla="*/ 33 w 66"/>
                <a:gd name="T1" fmla="*/ 53 h 53"/>
                <a:gd name="T2" fmla="*/ 66 w 66"/>
                <a:gd name="T3" fmla="*/ 0 h 53"/>
                <a:gd name="T4" fmla="*/ 0 w 66"/>
                <a:gd name="T5" fmla="*/ 0 h 53"/>
                <a:gd name="T6" fmla="*/ 33 w 66"/>
                <a:gd name="T7" fmla="*/ 53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6"/>
                <a:gd name="T13" fmla="*/ 0 h 53"/>
                <a:gd name="T14" fmla="*/ 66 w 66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6" h="53">
                  <a:moveTo>
                    <a:pt x="33" y="53"/>
                  </a:moveTo>
                  <a:lnTo>
                    <a:pt x="66" y="0"/>
                  </a:lnTo>
                  <a:lnTo>
                    <a:pt x="0" y="0"/>
                  </a:lnTo>
                  <a:lnTo>
                    <a:pt x="33" y="53"/>
                  </a:lnTo>
                  <a:close/>
                </a:path>
              </a:pathLst>
            </a:custGeom>
            <a:noFill/>
            <a:ln w="2857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94" name="Freeform 102"/>
            <p:cNvSpPr>
              <a:spLocks/>
            </p:cNvSpPr>
            <p:nvPr/>
          </p:nvSpPr>
          <p:spPr bwMode="auto">
            <a:xfrm>
              <a:off x="4882" y="3316"/>
              <a:ext cx="68" cy="54"/>
            </a:xfrm>
            <a:custGeom>
              <a:avLst/>
              <a:gdLst>
                <a:gd name="T0" fmla="*/ 33 w 67"/>
                <a:gd name="T1" fmla="*/ 53 h 53"/>
                <a:gd name="T2" fmla="*/ 67 w 67"/>
                <a:gd name="T3" fmla="*/ 0 h 53"/>
                <a:gd name="T4" fmla="*/ 0 w 67"/>
                <a:gd name="T5" fmla="*/ 0 h 53"/>
                <a:gd name="T6" fmla="*/ 33 w 67"/>
                <a:gd name="T7" fmla="*/ 53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53"/>
                <a:gd name="T14" fmla="*/ 67 w 67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53">
                  <a:moveTo>
                    <a:pt x="33" y="53"/>
                  </a:moveTo>
                  <a:lnTo>
                    <a:pt x="67" y="0"/>
                  </a:lnTo>
                  <a:lnTo>
                    <a:pt x="0" y="0"/>
                  </a:lnTo>
                  <a:lnTo>
                    <a:pt x="33" y="53"/>
                  </a:lnTo>
                  <a:close/>
                </a:path>
              </a:pathLst>
            </a:custGeom>
            <a:noFill/>
            <a:ln w="2857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95" name="Rectangle 103"/>
            <p:cNvSpPr>
              <a:spLocks noChangeArrowheads="1"/>
            </p:cNvSpPr>
            <p:nvPr/>
          </p:nvSpPr>
          <p:spPr bwMode="auto">
            <a:xfrm rot="-5400000">
              <a:off x="-240" y="2042"/>
              <a:ext cx="124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>
                  <a:latin typeface="Verdana" pitchFamily="34" charset="0"/>
                </a:rPr>
                <a:t>Mother survival</a:t>
              </a:r>
            </a:p>
          </p:txBody>
        </p:sp>
        <p:sp>
          <p:nvSpPr>
            <p:cNvPr id="37996" name="Rectangle 104"/>
            <p:cNvSpPr>
              <a:spLocks noChangeArrowheads="1"/>
            </p:cNvSpPr>
            <p:nvPr/>
          </p:nvSpPr>
          <p:spPr bwMode="auto">
            <a:xfrm>
              <a:off x="4010" y="491"/>
              <a:ext cx="1088" cy="31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97" name="Rectangle 105"/>
            <p:cNvSpPr>
              <a:spLocks noChangeArrowheads="1"/>
            </p:cNvSpPr>
            <p:nvPr/>
          </p:nvSpPr>
          <p:spPr bwMode="auto">
            <a:xfrm>
              <a:off x="4010" y="491"/>
              <a:ext cx="1088" cy="318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98" name="Line 106"/>
            <p:cNvSpPr>
              <a:spLocks noChangeShapeType="1"/>
            </p:cNvSpPr>
            <p:nvPr/>
          </p:nvSpPr>
          <p:spPr bwMode="auto">
            <a:xfrm flipV="1">
              <a:off x="4010" y="487"/>
              <a:ext cx="1087" cy="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99" name="Freeform 107"/>
            <p:cNvSpPr>
              <a:spLocks/>
            </p:cNvSpPr>
            <p:nvPr/>
          </p:nvSpPr>
          <p:spPr bwMode="auto">
            <a:xfrm>
              <a:off x="4010" y="491"/>
              <a:ext cx="1088" cy="318"/>
            </a:xfrm>
            <a:custGeom>
              <a:avLst/>
              <a:gdLst>
                <a:gd name="T0" fmla="*/ 0 w 161"/>
                <a:gd name="T1" fmla="*/ 47 h 47"/>
                <a:gd name="T2" fmla="*/ 161 w 161"/>
                <a:gd name="T3" fmla="*/ 47 h 47"/>
                <a:gd name="T4" fmla="*/ 161 w 161"/>
                <a:gd name="T5" fmla="*/ 0 h 47"/>
                <a:gd name="T6" fmla="*/ 0 60000 65536"/>
                <a:gd name="T7" fmla="*/ 0 60000 65536"/>
                <a:gd name="T8" fmla="*/ 0 60000 65536"/>
                <a:gd name="T9" fmla="*/ 0 w 161"/>
                <a:gd name="T10" fmla="*/ 0 h 47"/>
                <a:gd name="T11" fmla="*/ 161 w 161"/>
                <a:gd name="T12" fmla="*/ 47 h 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1" h="47">
                  <a:moveTo>
                    <a:pt x="0" y="47"/>
                  </a:moveTo>
                  <a:lnTo>
                    <a:pt x="161" y="47"/>
                  </a:lnTo>
                  <a:lnTo>
                    <a:pt x="161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00" name="Line 108"/>
            <p:cNvSpPr>
              <a:spLocks noChangeShapeType="1"/>
            </p:cNvSpPr>
            <p:nvPr/>
          </p:nvSpPr>
          <p:spPr bwMode="auto">
            <a:xfrm flipV="1">
              <a:off x="4010" y="491"/>
              <a:ext cx="1" cy="3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01" name="Line 109"/>
            <p:cNvSpPr>
              <a:spLocks noChangeShapeType="1"/>
            </p:cNvSpPr>
            <p:nvPr/>
          </p:nvSpPr>
          <p:spPr bwMode="auto">
            <a:xfrm flipV="1">
              <a:off x="4010" y="491"/>
              <a:ext cx="1" cy="3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02" name="Rectangle 110"/>
            <p:cNvSpPr>
              <a:spLocks noChangeArrowheads="1"/>
            </p:cNvSpPr>
            <p:nvPr/>
          </p:nvSpPr>
          <p:spPr bwMode="auto">
            <a:xfrm>
              <a:off x="4369" y="505"/>
              <a:ext cx="67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>
                  <a:solidFill>
                    <a:srgbClr val="000000"/>
                  </a:solidFill>
                  <a:latin typeface="Verdana" pitchFamily="34" charset="0"/>
                </a:rPr>
                <a:t>time trend</a:t>
              </a:r>
              <a:endParaRPr lang="en-US" altLang="zh-CN" sz="1600">
                <a:latin typeface="Verdana" pitchFamily="34" charset="0"/>
              </a:endParaRPr>
            </a:p>
          </p:txBody>
        </p:sp>
        <p:sp>
          <p:nvSpPr>
            <p:cNvPr id="38003" name="Rectangle 111"/>
            <p:cNvSpPr>
              <a:spLocks noChangeArrowheads="1"/>
            </p:cNvSpPr>
            <p:nvPr/>
          </p:nvSpPr>
          <p:spPr bwMode="auto">
            <a:xfrm>
              <a:off x="4369" y="646"/>
              <a:ext cx="71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>
                  <a:solidFill>
                    <a:srgbClr val="000000"/>
                  </a:solidFill>
                  <a:latin typeface="Verdana" pitchFamily="34" charset="0"/>
                </a:rPr>
                <a:t>best model</a:t>
              </a:r>
              <a:endParaRPr lang="en-US" altLang="zh-CN" sz="1600">
                <a:latin typeface="Verdana" pitchFamily="34" charset="0"/>
              </a:endParaRPr>
            </a:p>
          </p:txBody>
        </p:sp>
        <p:sp>
          <p:nvSpPr>
            <p:cNvPr id="38004" name="Line 112"/>
            <p:cNvSpPr>
              <a:spLocks noChangeShapeType="1"/>
            </p:cNvSpPr>
            <p:nvPr/>
          </p:nvSpPr>
          <p:spPr bwMode="auto">
            <a:xfrm>
              <a:off x="4079" y="579"/>
              <a:ext cx="216" cy="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05" name="Oval 113"/>
            <p:cNvSpPr>
              <a:spLocks noChangeArrowheads="1"/>
            </p:cNvSpPr>
            <p:nvPr/>
          </p:nvSpPr>
          <p:spPr bwMode="auto">
            <a:xfrm>
              <a:off x="4160" y="552"/>
              <a:ext cx="61" cy="61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06" name="Line 114"/>
            <p:cNvSpPr>
              <a:spLocks noChangeShapeType="1"/>
            </p:cNvSpPr>
            <p:nvPr/>
          </p:nvSpPr>
          <p:spPr bwMode="auto">
            <a:xfrm>
              <a:off x="4079" y="722"/>
              <a:ext cx="216" cy="1"/>
            </a:xfrm>
            <a:prstGeom prst="line">
              <a:avLst/>
            </a:prstGeom>
            <a:noFill/>
            <a:ln w="2857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07" name="Freeform 115"/>
            <p:cNvSpPr>
              <a:spLocks/>
            </p:cNvSpPr>
            <p:nvPr/>
          </p:nvSpPr>
          <p:spPr bwMode="auto">
            <a:xfrm>
              <a:off x="4153" y="701"/>
              <a:ext cx="68" cy="54"/>
            </a:xfrm>
            <a:custGeom>
              <a:avLst/>
              <a:gdLst>
                <a:gd name="T0" fmla="*/ 33 w 67"/>
                <a:gd name="T1" fmla="*/ 53 h 53"/>
                <a:gd name="T2" fmla="*/ 67 w 67"/>
                <a:gd name="T3" fmla="*/ 0 h 53"/>
                <a:gd name="T4" fmla="*/ 0 w 67"/>
                <a:gd name="T5" fmla="*/ 0 h 53"/>
                <a:gd name="T6" fmla="*/ 33 w 67"/>
                <a:gd name="T7" fmla="*/ 53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53"/>
                <a:gd name="T14" fmla="*/ 67 w 67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53">
                  <a:moveTo>
                    <a:pt x="33" y="53"/>
                  </a:moveTo>
                  <a:lnTo>
                    <a:pt x="67" y="0"/>
                  </a:lnTo>
                  <a:lnTo>
                    <a:pt x="0" y="0"/>
                  </a:lnTo>
                  <a:lnTo>
                    <a:pt x="33" y="53"/>
                  </a:lnTo>
                  <a:close/>
                </a:path>
              </a:pathLst>
            </a:custGeom>
            <a:noFill/>
            <a:ln w="2857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08" name="Text Box 116"/>
            <p:cNvSpPr txBox="1">
              <a:spLocks noChangeArrowheads="1"/>
            </p:cNvSpPr>
            <p:nvPr/>
          </p:nvSpPr>
          <p:spPr bwMode="auto">
            <a:xfrm>
              <a:off x="2893" y="3923"/>
              <a:ext cx="47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latin typeface="Verdana" pitchFamily="34" charset="0"/>
                </a:rPr>
                <a:t>Year</a:t>
              </a:r>
            </a:p>
          </p:txBody>
        </p:sp>
      </p:grpSp>
      <p:pic>
        <p:nvPicPr>
          <p:cNvPr id="37894" name="Picture 117" descr="Right-Whale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4267200"/>
            <a:ext cx="1447800" cy="108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日期占位符 1"/>
          <p:cNvSpPr>
            <a:spLocks noGrp="1"/>
          </p:cNvSpPr>
          <p:nvPr>
            <p:ph type="dt" sz="quarter" idx="10"/>
          </p:nvPr>
        </p:nvSpPr>
        <p:spPr/>
        <p:txBody>
          <a:bodyPr rtlCol="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rPr>
              <a:t>June 2006</a:t>
            </a:r>
          </a:p>
        </p:txBody>
      </p:sp>
      <p:sp>
        <p:nvSpPr>
          <p:cNvPr id="122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rPr>
              <a:t>Hal Caswell -- Markov Anniversary Meeting</a:t>
            </a:r>
          </a:p>
        </p:txBody>
      </p:sp>
      <p:sp>
        <p:nvSpPr>
          <p:cNvPr id="1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F2D20-1247-42AD-B6C8-072EAEE6555C}" type="slidenum">
              <a:rPr lang="en-US" altLang="zh-CN"/>
              <a:pPr/>
              <a:t>35</a:t>
            </a:fld>
            <a:endParaRPr lang="en-US" altLang="zh-CN"/>
          </a:p>
        </p:txBody>
      </p:sp>
      <p:grpSp>
        <p:nvGrpSpPr>
          <p:cNvPr id="38917" name="Group 2"/>
          <p:cNvGrpSpPr>
            <a:grpSpLocks/>
          </p:cNvGrpSpPr>
          <p:nvPr/>
        </p:nvGrpSpPr>
        <p:grpSpPr bwMode="auto">
          <a:xfrm>
            <a:off x="657225" y="576263"/>
            <a:ext cx="7562850" cy="6048375"/>
            <a:chOff x="414" y="363"/>
            <a:chExt cx="4764" cy="3810"/>
          </a:xfrm>
        </p:grpSpPr>
        <p:sp>
          <p:nvSpPr>
            <p:cNvPr id="38919" name="Rectangle 3"/>
            <p:cNvSpPr>
              <a:spLocks noChangeArrowheads="1"/>
            </p:cNvSpPr>
            <p:nvPr/>
          </p:nvSpPr>
          <p:spPr bwMode="auto">
            <a:xfrm>
              <a:off x="1144" y="437"/>
              <a:ext cx="4033" cy="318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0" name="Rectangle 4"/>
            <p:cNvSpPr>
              <a:spLocks noChangeArrowheads="1"/>
            </p:cNvSpPr>
            <p:nvPr/>
          </p:nvSpPr>
          <p:spPr bwMode="auto">
            <a:xfrm>
              <a:off x="1144" y="437"/>
              <a:ext cx="4033" cy="3186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1" name="Line 5"/>
            <p:cNvSpPr>
              <a:spLocks noChangeShapeType="1"/>
            </p:cNvSpPr>
            <p:nvPr/>
          </p:nvSpPr>
          <p:spPr bwMode="auto">
            <a:xfrm>
              <a:off x="1144" y="437"/>
              <a:ext cx="40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22" name="Freeform 6"/>
            <p:cNvSpPr>
              <a:spLocks/>
            </p:cNvSpPr>
            <p:nvPr/>
          </p:nvSpPr>
          <p:spPr bwMode="auto">
            <a:xfrm>
              <a:off x="1144" y="437"/>
              <a:ext cx="4033" cy="3186"/>
            </a:xfrm>
            <a:custGeom>
              <a:avLst/>
              <a:gdLst>
                <a:gd name="T0" fmla="*/ 0 w 595"/>
                <a:gd name="T1" fmla="*/ 470 h 470"/>
                <a:gd name="T2" fmla="*/ 595 w 595"/>
                <a:gd name="T3" fmla="*/ 470 h 470"/>
                <a:gd name="T4" fmla="*/ 595 w 595"/>
                <a:gd name="T5" fmla="*/ 0 h 470"/>
                <a:gd name="T6" fmla="*/ 0 60000 65536"/>
                <a:gd name="T7" fmla="*/ 0 60000 65536"/>
                <a:gd name="T8" fmla="*/ 0 60000 65536"/>
                <a:gd name="T9" fmla="*/ 0 w 595"/>
                <a:gd name="T10" fmla="*/ 0 h 470"/>
                <a:gd name="T11" fmla="*/ 595 w 595"/>
                <a:gd name="T12" fmla="*/ 470 h 4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5" h="470">
                  <a:moveTo>
                    <a:pt x="0" y="470"/>
                  </a:moveTo>
                  <a:lnTo>
                    <a:pt x="595" y="470"/>
                  </a:lnTo>
                  <a:lnTo>
                    <a:pt x="595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3" name="Line 7"/>
            <p:cNvSpPr>
              <a:spLocks noChangeShapeType="1"/>
            </p:cNvSpPr>
            <p:nvPr/>
          </p:nvSpPr>
          <p:spPr bwMode="auto">
            <a:xfrm flipV="1">
              <a:off x="1144" y="437"/>
              <a:ext cx="1" cy="318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24" name="Line 8"/>
            <p:cNvSpPr>
              <a:spLocks noChangeShapeType="1"/>
            </p:cNvSpPr>
            <p:nvPr/>
          </p:nvSpPr>
          <p:spPr bwMode="auto">
            <a:xfrm>
              <a:off x="1144" y="3623"/>
              <a:ext cx="40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25" name="Line 9"/>
            <p:cNvSpPr>
              <a:spLocks noChangeShapeType="1"/>
            </p:cNvSpPr>
            <p:nvPr/>
          </p:nvSpPr>
          <p:spPr bwMode="auto">
            <a:xfrm flipV="1">
              <a:off x="1144" y="437"/>
              <a:ext cx="1" cy="318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26" name="Line 10"/>
            <p:cNvSpPr>
              <a:spLocks noChangeShapeType="1"/>
            </p:cNvSpPr>
            <p:nvPr/>
          </p:nvSpPr>
          <p:spPr bwMode="auto">
            <a:xfrm flipV="1">
              <a:off x="1144" y="3582"/>
              <a:ext cx="1" cy="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27" name="Line 11"/>
            <p:cNvSpPr>
              <a:spLocks noChangeShapeType="1"/>
            </p:cNvSpPr>
            <p:nvPr/>
          </p:nvSpPr>
          <p:spPr bwMode="auto">
            <a:xfrm>
              <a:off x="1144" y="437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28" name="Rectangle 12"/>
            <p:cNvSpPr>
              <a:spLocks noChangeArrowheads="1"/>
            </p:cNvSpPr>
            <p:nvPr/>
          </p:nvSpPr>
          <p:spPr bwMode="auto">
            <a:xfrm>
              <a:off x="1008" y="3678"/>
              <a:ext cx="36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Verdana" pitchFamily="34" charset="0"/>
                </a:rPr>
                <a:t>1980</a:t>
              </a:r>
            </a:p>
          </p:txBody>
        </p:sp>
        <p:sp>
          <p:nvSpPr>
            <p:cNvPr id="38929" name="Line 13"/>
            <p:cNvSpPr>
              <a:spLocks noChangeShapeType="1"/>
            </p:cNvSpPr>
            <p:nvPr/>
          </p:nvSpPr>
          <p:spPr bwMode="auto">
            <a:xfrm flipV="1">
              <a:off x="1591" y="3582"/>
              <a:ext cx="1" cy="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30" name="Line 14"/>
            <p:cNvSpPr>
              <a:spLocks noChangeShapeType="1"/>
            </p:cNvSpPr>
            <p:nvPr/>
          </p:nvSpPr>
          <p:spPr bwMode="auto">
            <a:xfrm>
              <a:off x="1591" y="437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31" name="Line 15"/>
            <p:cNvSpPr>
              <a:spLocks noChangeShapeType="1"/>
            </p:cNvSpPr>
            <p:nvPr/>
          </p:nvSpPr>
          <p:spPr bwMode="auto">
            <a:xfrm flipV="1">
              <a:off x="2039" y="3582"/>
              <a:ext cx="1" cy="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32" name="Line 16"/>
            <p:cNvSpPr>
              <a:spLocks noChangeShapeType="1"/>
            </p:cNvSpPr>
            <p:nvPr/>
          </p:nvSpPr>
          <p:spPr bwMode="auto">
            <a:xfrm>
              <a:off x="2039" y="437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33" name="Rectangle 17"/>
            <p:cNvSpPr>
              <a:spLocks noChangeArrowheads="1"/>
            </p:cNvSpPr>
            <p:nvPr/>
          </p:nvSpPr>
          <p:spPr bwMode="auto">
            <a:xfrm>
              <a:off x="1903" y="3678"/>
              <a:ext cx="36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Verdana" pitchFamily="34" charset="0"/>
                </a:rPr>
                <a:t>1984</a:t>
              </a:r>
            </a:p>
          </p:txBody>
        </p:sp>
        <p:sp>
          <p:nvSpPr>
            <p:cNvPr id="38934" name="Line 18"/>
            <p:cNvSpPr>
              <a:spLocks noChangeShapeType="1"/>
            </p:cNvSpPr>
            <p:nvPr/>
          </p:nvSpPr>
          <p:spPr bwMode="auto">
            <a:xfrm flipV="1">
              <a:off x="2486" y="3582"/>
              <a:ext cx="1" cy="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35" name="Line 19"/>
            <p:cNvSpPr>
              <a:spLocks noChangeShapeType="1"/>
            </p:cNvSpPr>
            <p:nvPr/>
          </p:nvSpPr>
          <p:spPr bwMode="auto">
            <a:xfrm>
              <a:off x="2486" y="437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36" name="Line 20"/>
            <p:cNvSpPr>
              <a:spLocks noChangeShapeType="1"/>
            </p:cNvSpPr>
            <p:nvPr/>
          </p:nvSpPr>
          <p:spPr bwMode="auto">
            <a:xfrm flipV="1">
              <a:off x="2933" y="3582"/>
              <a:ext cx="1" cy="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37" name="Line 21"/>
            <p:cNvSpPr>
              <a:spLocks noChangeShapeType="1"/>
            </p:cNvSpPr>
            <p:nvPr/>
          </p:nvSpPr>
          <p:spPr bwMode="auto">
            <a:xfrm>
              <a:off x="2933" y="437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38" name="Rectangle 22"/>
            <p:cNvSpPr>
              <a:spLocks noChangeArrowheads="1"/>
            </p:cNvSpPr>
            <p:nvPr/>
          </p:nvSpPr>
          <p:spPr bwMode="auto">
            <a:xfrm>
              <a:off x="2798" y="3678"/>
              <a:ext cx="36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Verdana" pitchFamily="34" charset="0"/>
                </a:rPr>
                <a:t>1988</a:t>
              </a:r>
            </a:p>
          </p:txBody>
        </p:sp>
        <p:sp>
          <p:nvSpPr>
            <p:cNvPr id="38939" name="Line 23"/>
            <p:cNvSpPr>
              <a:spLocks noChangeShapeType="1"/>
            </p:cNvSpPr>
            <p:nvPr/>
          </p:nvSpPr>
          <p:spPr bwMode="auto">
            <a:xfrm flipV="1">
              <a:off x="3381" y="3582"/>
              <a:ext cx="1" cy="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40" name="Line 24"/>
            <p:cNvSpPr>
              <a:spLocks noChangeShapeType="1"/>
            </p:cNvSpPr>
            <p:nvPr/>
          </p:nvSpPr>
          <p:spPr bwMode="auto">
            <a:xfrm>
              <a:off x="3381" y="437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41" name="Line 25"/>
            <p:cNvSpPr>
              <a:spLocks noChangeShapeType="1"/>
            </p:cNvSpPr>
            <p:nvPr/>
          </p:nvSpPr>
          <p:spPr bwMode="auto">
            <a:xfrm flipV="1">
              <a:off x="3828" y="3582"/>
              <a:ext cx="1" cy="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42" name="Line 26"/>
            <p:cNvSpPr>
              <a:spLocks noChangeShapeType="1"/>
            </p:cNvSpPr>
            <p:nvPr/>
          </p:nvSpPr>
          <p:spPr bwMode="auto">
            <a:xfrm>
              <a:off x="3828" y="437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43" name="Rectangle 27"/>
            <p:cNvSpPr>
              <a:spLocks noChangeArrowheads="1"/>
            </p:cNvSpPr>
            <p:nvPr/>
          </p:nvSpPr>
          <p:spPr bwMode="auto">
            <a:xfrm>
              <a:off x="3693" y="3678"/>
              <a:ext cx="36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Verdana" pitchFamily="34" charset="0"/>
                </a:rPr>
                <a:t>1992</a:t>
              </a:r>
            </a:p>
          </p:txBody>
        </p:sp>
        <p:sp>
          <p:nvSpPr>
            <p:cNvPr id="38944" name="Line 28"/>
            <p:cNvSpPr>
              <a:spLocks noChangeShapeType="1"/>
            </p:cNvSpPr>
            <p:nvPr/>
          </p:nvSpPr>
          <p:spPr bwMode="auto">
            <a:xfrm flipV="1">
              <a:off x="4276" y="3582"/>
              <a:ext cx="1" cy="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45" name="Line 29"/>
            <p:cNvSpPr>
              <a:spLocks noChangeShapeType="1"/>
            </p:cNvSpPr>
            <p:nvPr/>
          </p:nvSpPr>
          <p:spPr bwMode="auto">
            <a:xfrm>
              <a:off x="4276" y="437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46" name="Line 30"/>
            <p:cNvSpPr>
              <a:spLocks noChangeShapeType="1"/>
            </p:cNvSpPr>
            <p:nvPr/>
          </p:nvSpPr>
          <p:spPr bwMode="auto">
            <a:xfrm flipV="1">
              <a:off x="4723" y="3582"/>
              <a:ext cx="1" cy="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47" name="Line 31"/>
            <p:cNvSpPr>
              <a:spLocks noChangeShapeType="1"/>
            </p:cNvSpPr>
            <p:nvPr/>
          </p:nvSpPr>
          <p:spPr bwMode="auto">
            <a:xfrm>
              <a:off x="4723" y="437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48" name="Rectangle 32"/>
            <p:cNvSpPr>
              <a:spLocks noChangeArrowheads="1"/>
            </p:cNvSpPr>
            <p:nvPr/>
          </p:nvSpPr>
          <p:spPr bwMode="auto">
            <a:xfrm>
              <a:off x="4587" y="3678"/>
              <a:ext cx="36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Verdana" pitchFamily="34" charset="0"/>
                </a:rPr>
                <a:t>1996</a:t>
              </a:r>
            </a:p>
          </p:txBody>
        </p:sp>
        <p:sp>
          <p:nvSpPr>
            <p:cNvPr id="38949" name="Line 33"/>
            <p:cNvSpPr>
              <a:spLocks noChangeShapeType="1"/>
            </p:cNvSpPr>
            <p:nvPr/>
          </p:nvSpPr>
          <p:spPr bwMode="auto">
            <a:xfrm flipV="1">
              <a:off x="5177" y="3582"/>
              <a:ext cx="1" cy="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50" name="Line 34"/>
            <p:cNvSpPr>
              <a:spLocks noChangeShapeType="1"/>
            </p:cNvSpPr>
            <p:nvPr/>
          </p:nvSpPr>
          <p:spPr bwMode="auto">
            <a:xfrm>
              <a:off x="5177" y="437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51" name="Line 35"/>
            <p:cNvSpPr>
              <a:spLocks noChangeShapeType="1"/>
            </p:cNvSpPr>
            <p:nvPr/>
          </p:nvSpPr>
          <p:spPr bwMode="auto">
            <a:xfrm>
              <a:off x="1144" y="3623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52" name="Line 36"/>
            <p:cNvSpPr>
              <a:spLocks noChangeShapeType="1"/>
            </p:cNvSpPr>
            <p:nvPr/>
          </p:nvSpPr>
          <p:spPr bwMode="auto">
            <a:xfrm flipH="1">
              <a:off x="5136" y="3623"/>
              <a:ext cx="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53" name="Rectangle 37"/>
            <p:cNvSpPr>
              <a:spLocks noChangeArrowheads="1"/>
            </p:cNvSpPr>
            <p:nvPr/>
          </p:nvSpPr>
          <p:spPr bwMode="auto">
            <a:xfrm>
              <a:off x="858" y="3548"/>
              <a:ext cx="23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Verdana" pitchFamily="34" charset="0"/>
                </a:rPr>
                <a:t>0.1</a:t>
              </a:r>
            </a:p>
          </p:txBody>
        </p:sp>
        <p:sp>
          <p:nvSpPr>
            <p:cNvPr id="38954" name="Line 38"/>
            <p:cNvSpPr>
              <a:spLocks noChangeShapeType="1"/>
            </p:cNvSpPr>
            <p:nvPr/>
          </p:nvSpPr>
          <p:spPr bwMode="auto">
            <a:xfrm>
              <a:off x="1144" y="3223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55" name="Line 39"/>
            <p:cNvSpPr>
              <a:spLocks noChangeShapeType="1"/>
            </p:cNvSpPr>
            <p:nvPr/>
          </p:nvSpPr>
          <p:spPr bwMode="auto">
            <a:xfrm flipH="1">
              <a:off x="5136" y="3223"/>
              <a:ext cx="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56" name="Rectangle 40"/>
            <p:cNvSpPr>
              <a:spLocks noChangeArrowheads="1"/>
            </p:cNvSpPr>
            <p:nvPr/>
          </p:nvSpPr>
          <p:spPr bwMode="auto">
            <a:xfrm>
              <a:off x="790" y="3149"/>
              <a:ext cx="32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Verdana" pitchFamily="34" charset="0"/>
                </a:rPr>
                <a:t>0.15</a:t>
              </a:r>
            </a:p>
          </p:txBody>
        </p:sp>
        <p:sp>
          <p:nvSpPr>
            <p:cNvPr id="38957" name="Line 41"/>
            <p:cNvSpPr>
              <a:spLocks noChangeShapeType="1"/>
            </p:cNvSpPr>
            <p:nvPr/>
          </p:nvSpPr>
          <p:spPr bwMode="auto">
            <a:xfrm>
              <a:off x="1144" y="2823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58" name="Line 42"/>
            <p:cNvSpPr>
              <a:spLocks noChangeShapeType="1"/>
            </p:cNvSpPr>
            <p:nvPr/>
          </p:nvSpPr>
          <p:spPr bwMode="auto">
            <a:xfrm flipH="1">
              <a:off x="5136" y="2823"/>
              <a:ext cx="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59" name="Rectangle 43"/>
            <p:cNvSpPr>
              <a:spLocks noChangeArrowheads="1"/>
            </p:cNvSpPr>
            <p:nvPr/>
          </p:nvSpPr>
          <p:spPr bwMode="auto">
            <a:xfrm>
              <a:off x="858" y="2749"/>
              <a:ext cx="23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Verdana" pitchFamily="34" charset="0"/>
                </a:rPr>
                <a:t>0.2</a:t>
              </a:r>
            </a:p>
          </p:txBody>
        </p:sp>
        <p:sp>
          <p:nvSpPr>
            <p:cNvPr id="38960" name="Line 44"/>
            <p:cNvSpPr>
              <a:spLocks noChangeShapeType="1"/>
            </p:cNvSpPr>
            <p:nvPr/>
          </p:nvSpPr>
          <p:spPr bwMode="auto">
            <a:xfrm>
              <a:off x="1144" y="2423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61" name="Line 45"/>
            <p:cNvSpPr>
              <a:spLocks noChangeShapeType="1"/>
            </p:cNvSpPr>
            <p:nvPr/>
          </p:nvSpPr>
          <p:spPr bwMode="auto">
            <a:xfrm flipH="1">
              <a:off x="5136" y="2423"/>
              <a:ext cx="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62" name="Rectangle 46"/>
            <p:cNvSpPr>
              <a:spLocks noChangeArrowheads="1"/>
            </p:cNvSpPr>
            <p:nvPr/>
          </p:nvSpPr>
          <p:spPr bwMode="auto">
            <a:xfrm>
              <a:off x="790" y="2349"/>
              <a:ext cx="32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Verdana" pitchFamily="34" charset="0"/>
                </a:rPr>
                <a:t>0.25</a:t>
              </a:r>
            </a:p>
          </p:txBody>
        </p:sp>
        <p:sp>
          <p:nvSpPr>
            <p:cNvPr id="38963" name="Line 47"/>
            <p:cNvSpPr>
              <a:spLocks noChangeShapeType="1"/>
            </p:cNvSpPr>
            <p:nvPr/>
          </p:nvSpPr>
          <p:spPr bwMode="auto">
            <a:xfrm>
              <a:off x="1144" y="2023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64" name="Line 48"/>
            <p:cNvSpPr>
              <a:spLocks noChangeShapeType="1"/>
            </p:cNvSpPr>
            <p:nvPr/>
          </p:nvSpPr>
          <p:spPr bwMode="auto">
            <a:xfrm flipH="1">
              <a:off x="5136" y="2023"/>
              <a:ext cx="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65" name="Rectangle 49"/>
            <p:cNvSpPr>
              <a:spLocks noChangeArrowheads="1"/>
            </p:cNvSpPr>
            <p:nvPr/>
          </p:nvSpPr>
          <p:spPr bwMode="auto">
            <a:xfrm>
              <a:off x="858" y="1949"/>
              <a:ext cx="23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Verdana" pitchFamily="34" charset="0"/>
                </a:rPr>
                <a:t>0.3</a:t>
              </a:r>
            </a:p>
          </p:txBody>
        </p:sp>
        <p:sp>
          <p:nvSpPr>
            <p:cNvPr id="38966" name="Line 50"/>
            <p:cNvSpPr>
              <a:spLocks noChangeShapeType="1"/>
            </p:cNvSpPr>
            <p:nvPr/>
          </p:nvSpPr>
          <p:spPr bwMode="auto">
            <a:xfrm>
              <a:off x="1144" y="1630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67" name="Line 51"/>
            <p:cNvSpPr>
              <a:spLocks noChangeShapeType="1"/>
            </p:cNvSpPr>
            <p:nvPr/>
          </p:nvSpPr>
          <p:spPr bwMode="auto">
            <a:xfrm flipH="1">
              <a:off x="5136" y="1630"/>
              <a:ext cx="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68" name="Rectangle 52"/>
            <p:cNvSpPr>
              <a:spLocks noChangeArrowheads="1"/>
            </p:cNvSpPr>
            <p:nvPr/>
          </p:nvSpPr>
          <p:spPr bwMode="auto">
            <a:xfrm>
              <a:off x="790" y="1556"/>
              <a:ext cx="32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Verdana" pitchFamily="34" charset="0"/>
                </a:rPr>
                <a:t>0.35</a:t>
              </a:r>
            </a:p>
          </p:txBody>
        </p:sp>
        <p:sp>
          <p:nvSpPr>
            <p:cNvPr id="38969" name="Line 53"/>
            <p:cNvSpPr>
              <a:spLocks noChangeShapeType="1"/>
            </p:cNvSpPr>
            <p:nvPr/>
          </p:nvSpPr>
          <p:spPr bwMode="auto">
            <a:xfrm>
              <a:off x="1144" y="1230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70" name="Line 54"/>
            <p:cNvSpPr>
              <a:spLocks noChangeShapeType="1"/>
            </p:cNvSpPr>
            <p:nvPr/>
          </p:nvSpPr>
          <p:spPr bwMode="auto">
            <a:xfrm flipH="1">
              <a:off x="5136" y="1230"/>
              <a:ext cx="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71" name="Rectangle 55"/>
            <p:cNvSpPr>
              <a:spLocks noChangeArrowheads="1"/>
            </p:cNvSpPr>
            <p:nvPr/>
          </p:nvSpPr>
          <p:spPr bwMode="auto">
            <a:xfrm>
              <a:off x="858" y="1156"/>
              <a:ext cx="23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Verdana" pitchFamily="34" charset="0"/>
                </a:rPr>
                <a:t>0.4</a:t>
              </a:r>
            </a:p>
          </p:txBody>
        </p:sp>
        <p:sp>
          <p:nvSpPr>
            <p:cNvPr id="38972" name="Line 56"/>
            <p:cNvSpPr>
              <a:spLocks noChangeShapeType="1"/>
            </p:cNvSpPr>
            <p:nvPr/>
          </p:nvSpPr>
          <p:spPr bwMode="auto">
            <a:xfrm>
              <a:off x="1144" y="831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73" name="Line 57"/>
            <p:cNvSpPr>
              <a:spLocks noChangeShapeType="1"/>
            </p:cNvSpPr>
            <p:nvPr/>
          </p:nvSpPr>
          <p:spPr bwMode="auto">
            <a:xfrm flipH="1">
              <a:off x="5136" y="831"/>
              <a:ext cx="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74" name="Rectangle 58"/>
            <p:cNvSpPr>
              <a:spLocks noChangeArrowheads="1"/>
            </p:cNvSpPr>
            <p:nvPr/>
          </p:nvSpPr>
          <p:spPr bwMode="auto">
            <a:xfrm>
              <a:off x="790" y="756"/>
              <a:ext cx="32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Verdana" pitchFamily="34" charset="0"/>
                </a:rPr>
                <a:t>0.45</a:t>
              </a:r>
            </a:p>
          </p:txBody>
        </p:sp>
        <p:sp>
          <p:nvSpPr>
            <p:cNvPr id="38975" name="Line 59"/>
            <p:cNvSpPr>
              <a:spLocks noChangeShapeType="1"/>
            </p:cNvSpPr>
            <p:nvPr/>
          </p:nvSpPr>
          <p:spPr bwMode="auto">
            <a:xfrm>
              <a:off x="1144" y="437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76" name="Line 60"/>
            <p:cNvSpPr>
              <a:spLocks noChangeShapeType="1"/>
            </p:cNvSpPr>
            <p:nvPr/>
          </p:nvSpPr>
          <p:spPr bwMode="auto">
            <a:xfrm flipH="1">
              <a:off x="5136" y="437"/>
              <a:ext cx="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77" name="Rectangle 61"/>
            <p:cNvSpPr>
              <a:spLocks noChangeArrowheads="1"/>
            </p:cNvSpPr>
            <p:nvPr/>
          </p:nvSpPr>
          <p:spPr bwMode="auto">
            <a:xfrm>
              <a:off x="858" y="363"/>
              <a:ext cx="23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Verdana" pitchFamily="34" charset="0"/>
                </a:rPr>
                <a:t>0.5</a:t>
              </a:r>
            </a:p>
          </p:txBody>
        </p:sp>
        <p:sp>
          <p:nvSpPr>
            <p:cNvPr id="38978" name="Line 62"/>
            <p:cNvSpPr>
              <a:spLocks noChangeShapeType="1"/>
            </p:cNvSpPr>
            <p:nvPr/>
          </p:nvSpPr>
          <p:spPr bwMode="auto">
            <a:xfrm>
              <a:off x="1144" y="437"/>
              <a:ext cx="40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79" name="Freeform 63"/>
            <p:cNvSpPr>
              <a:spLocks/>
            </p:cNvSpPr>
            <p:nvPr/>
          </p:nvSpPr>
          <p:spPr bwMode="auto">
            <a:xfrm>
              <a:off x="1144" y="437"/>
              <a:ext cx="4033" cy="3186"/>
            </a:xfrm>
            <a:custGeom>
              <a:avLst/>
              <a:gdLst>
                <a:gd name="T0" fmla="*/ 0 w 595"/>
                <a:gd name="T1" fmla="*/ 470 h 470"/>
                <a:gd name="T2" fmla="*/ 595 w 595"/>
                <a:gd name="T3" fmla="*/ 470 h 470"/>
                <a:gd name="T4" fmla="*/ 595 w 595"/>
                <a:gd name="T5" fmla="*/ 0 h 470"/>
                <a:gd name="T6" fmla="*/ 0 60000 65536"/>
                <a:gd name="T7" fmla="*/ 0 60000 65536"/>
                <a:gd name="T8" fmla="*/ 0 60000 65536"/>
                <a:gd name="T9" fmla="*/ 0 w 595"/>
                <a:gd name="T10" fmla="*/ 0 h 470"/>
                <a:gd name="T11" fmla="*/ 595 w 595"/>
                <a:gd name="T12" fmla="*/ 470 h 4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5" h="470">
                  <a:moveTo>
                    <a:pt x="0" y="470"/>
                  </a:moveTo>
                  <a:lnTo>
                    <a:pt x="595" y="470"/>
                  </a:lnTo>
                  <a:lnTo>
                    <a:pt x="595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0" name="Line 64"/>
            <p:cNvSpPr>
              <a:spLocks noChangeShapeType="1"/>
            </p:cNvSpPr>
            <p:nvPr/>
          </p:nvSpPr>
          <p:spPr bwMode="auto">
            <a:xfrm flipV="1">
              <a:off x="1144" y="437"/>
              <a:ext cx="1" cy="318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81" name="Freeform 65"/>
            <p:cNvSpPr>
              <a:spLocks/>
            </p:cNvSpPr>
            <p:nvPr/>
          </p:nvSpPr>
          <p:spPr bwMode="auto">
            <a:xfrm>
              <a:off x="1144" y="526"/>
              <a:ext cx="3803" cy="2372"/>
            </a:xfrm>
            <a:custGeom>
              <a:avLst/>
              <a:gdLst>
                <a:gd name="T0" fmla="*/ 0 w 3803"/>
                <a:gd name="T1" fmla="*/ 0 h 2372"/>
                <a:gd name="T2" fmla="*/ 224 w 3803"/>
                <a:gd name="T3" fmla="*/ 169 h 2372"/>
                <a:gd name="T4" fmla="*/ 447 w 3803"/>
                <a:gd name="T5" fmla="*/ 325 h 2372"/>
                <a:gd name="T6" fmla="*/ 671 w 3803"/>
                <a:gd name="T7" fmla="*/ 488 h 2372"/>
                <a:gd name="T8" fmla="*/ 895 w 3803"/>
                <a:gd name="T9" fmla="*/ 650 h 2372"/>
                <a:gd name="T10" fmla="*/ 1118 w 3803"/>
                <a:gd name="T11" fmla="*/ 806 h 2372"/>
                <a:gd name="T12" fmla="*/ 1342 w 3803"/>
                <a:gd name="T13" fmla="*/ 955 h 2372"/>
                <a:gd name="T14" fmla="*/ 1566 w 3803"/>
                <a:gd name="T15" fmla="*/ 1111 h 2372"/>
                <a:gd name="T16" fmla="*/ 1789 w 3803"/>
                <a:gd name="T17" fmla="*/ 1253 h 2372"/>
                <a:gd name="T18" fmla="*/ 2013 w 3803"/>
                <a:gd name="T19" fmla="*/ 1396 h 2372"/>
                <a:gd name="T20" fmla="*/ 2237 w 3803"/>
                <a:gd name="T21" fmla="*/ 1538 h 2372"/>
                <a:gd name="T22" fmla="*/ 2461 w 3803"/>
                <a:gd name="T23" fmla="*/ 1674 h 2372"/>
                <a:gd name="T24" fmla="*/ 2684 w 3803"/>
                <a:gd name="T25" fmla="*/ 1802 h 2372"/>
                <a:gd name="T26" fmla="*/ 2908 w 3803"/>
                <a:gd name="T27" fmla="*/ 1924 h 2372"/>
                <a:gd name="T28" fmla="*/ 3132 w 3803"/>
                <a:gd name="T29" fmla="*/ 2046 h 2372"/>
                <a:gd name="T30" fmla="*/ 3355 w 3803"/>
                <a:gd name="T31" fmla="*/ 2155 h 2372"/>
                <a:gd name="T32" fmla="*/ 3579 w 3803"/>
                <a:gd name="T33" fmla="*/ 2263 h 2372"/>
                <a:gd name="T34" fmla="*/ 3803 w 3803"/>
                <a:gd name="T35" fmla="*/ 2372 h 237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803"/>
                <a:gd name="T55" fmla="*/ 0 h 2372"/>
                <a:gd name="T56" fmla="*/ 3803 w 3803"/>
                <a:gd name="T57" fmla="*/ 2372 h 237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803" h="2372">
                  <a:moveTo>
                    <a:pt x="0" y="0"/>
                  </a:moveTo>
                  <a:lnTo>
                    <a:pt x="224" y="169"/>
                  </a:lnTo>
                  <a:lnTo>
                    <a:pt x="447" y="325"/>
                  </a:lnTo>
                  <a:lnTo>
                    <a:pt x="671" y="488"/>
                  </a:lnTo>
                  <a:lnTo>
                    <a:pt x="895" y="650"/>
                  </a:lnTo>
                  <a:lnTo>
                    <a:pt x="1118" y="806"/>
                  </a:lnTo>
                  <a:lnTo>
                    <a:pt x="1342" y="955"/>
                  </a:lnTo>
                  <a:lnTo>
                    <a:pt x="1566" y="1111"/>
                  </a:lnTo>
                  <a:lnTo>
                    <a:pt x="1789" y="1253"/>
                  </a:lnTo>
                  <a:lnTo>
                    <a:pt x="2013" y="1396"/>
                  </a:lnTo>
                  <a:lnTo>
                    <a:pt x="2237" y="1538"/>
                  </a:lnTo>
                  <a:lnTo>
                    <a:pt x="2461" y="1674"/>
                  </a:lnTo>
                  <a:lnTo>
                    <a:pt x="2684" y="1802"/>
                  </a:lnTo>
                  <a:lnTo>
                    <a:pt x="2908" y="1924"/>
                  </a:lnTo>
                  <a:lnTo>
                    <a:pt x="3132" y="2046"/>
                  </a:lnTo>
                  <a:lnTo>
                    <a:pt x="3355" y="2155"/>
                  </a:lnTo>
                  <a:lnTo>
                    <a:pt x="3579" y="2263"/>
                  </a:lnTo>
                  <a:lnTo>
                    <a:pt x="3803" y="2372"/>
                  </a:lnTo>
                </a:path>
              </a:pathLst>
            </a:cu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2" name="Oval 66"/>
            <p:cNvSpPr>
              <a:spLocks noChangeArrowheads="1"/>
            </p:cNvSpPr>
            <p:nvPr/>
          </p:nvSpPr>
          <p:spPr bwMode="auto">
            <a:xfrm>
              <a:off x="1117" y="498"/>
              <a:ext cx="61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3" name="Oval 67"/>
            <p:cNvSpPr>
              <a:spLocks noChangeArrowheads="1"/>
            </p:cNvSpPr>
            <p:nvPr/>
          </p:nvSpPr>
          <p:spPr bwMode="auto">
            <a:xfrm>
              <a:off x="1340" y="668"/>
              <a:ext cx="61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4" name="Oval 68"/>
            <p:cNvSpPr>
              <a:spLocks noChangeArrowheads="1"/>
            </p:cNvSpPr>
            <p:nvPr/>
          </p:nvSpPr>
          <p:spPr bwMode="auto">
            <a:xfrm>
              <a:off x="1564" y="824"/>
              <a:ext cx="61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5" name="Oval 69"/>
            <p:cNvSpPr>
              <a:spLocks noChangeArrowheads="1"/>
            </p:cNvSpPr>
            <p:nvPr/>
          </p:nvSpPr>
          <p:spPr bwMode="auto">
            <a:xfrm>
              <a:off x="1788" y="986"/>
              <a:ext cx="61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6" name="Oval 70"/>
            <p:cNvSpPr>
              <a:spLocks noChangeArrowheads="1"/>
            </p:cNvSpPr>
            <p:nvPr/>
          </p:nvSpPr>
          <p:spPr bwMode="auto">
            <a:xfrm>
              <a:off x="2012" y="1149"/>
              <a:ext cx="61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7" name="Oval 71"/>
            <p:cNvSpPr>
              <a:spLocks noChangeArrowheads="1"/>
            </p:cNvSpPr>
            <p:nvPr/>
          </p:nvSpPr>
          <p:spPr bwMode="auto">
            <a:xfrm>
              <a:off x="2235" y="1305"/>
              <a:ext cx="61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8" name="Oval 72"/>
            <p:cNvSpPr>
              <a:spLocks noChangeArrowheads="1"/>
            </p:cNvSpPr>
            <p:nvPr/>
          </p:nvSpPr>
          <p:spPr bwMode="auto">
            <a:xfrm>
              <a:off x="2459" y="1454"/>
              <a:ext cx="61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9" name="Oval 73"/>
            <p:cNvSpPr>
              <a:spLocks noChangeArrowheads="1"/>
            </p:cNvSpPr>
            <p:nvPr/>
          </p:nvSpPr>
          <p:spPr bwMode="auto">
            <a:xfrm>
              <a:off x="2683" y="1610"/>
              <a:ext cx="61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90" name="Oval 74"/>
            <p:cNvSpPr>
              <a:spLocks noChangeArrowheads="1"/>
            </p:cNvSpPr>
            <p:nvPr/>
          </p:nvSpPr>
          <p:spPr bwMode="auto">
            <a:xfrm>
              <a:off x="2906" y="1752"/>
              <a:ext cx="61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91" name="Oval 75"/>
            <p:cNvSpPr>
              <a:spLocks noChangeArrowheads="1"/>
            </p:cNvSpPr>
            <p:nvPr/>
          </p:nvSpPr>
          <p:spPr bwMode="auto">
            <a:xfrm>
              <a:off x="3130" y="1895"/>
              <a:ext cx="61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92" name="Oval 76"/>
            <p:cNvSpPr>
              <a:spLocks noChangeArrowheads="1"/>
            </p:cNvSpPr>
            <p:nvPr/>
          </p:nvSpPr>
          <p:spPr bwMode="auto">
            <a:xfrm>
              <a:off x="3354" y="2037"/>
              <a:ext cx="61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93" name="Oval 77"/>
            <p:cNvSpPr>
              <a:spLocks noChangeArrowheads="1"/>
            </p:cNvSpPr>
            <p:nvPr/>
          </p:nvSpPr>
          <p:spPr bwMode="auto">
            <a:xfrm>
              <a:off x="3577" y="2173"/>
              <a:ext cx="61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94" name="Oval 78"/>
            <p:cNvSpPr>
              <a:spLocks noChangeArrowheads="1"/>
            </p:cNvSpPr>
            <p:nvPr/>
          </p:nvSpPr>
          <p:spPr bwMode="auto">
            <a:xfrm>
              <a:off x="3801" y="2301"/>
              <a:ext cx="61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95" name="Oval 79"/>
            <p:cNvSpPr>
              <a:spLocks noChangeArrowheads="1"/>
            </p:cNvSpPr>
            <p:nvPr/>
          </p:nvSpPr>
          <p:spPr bwMode="auto">
            <a:xfrm>
              <a:off x="4025" y="2423"/>
              <a:ext cx="61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96" name="Oval 80"/>
            <p:cNvSpPr>
              <a:spLocks noChangeArrowheads="1"/>
            </p:cNvSpPr>
            <p:nvPr/>
          </p:nvSpPr>
          <p:spPr bwMode="auto">
            <a:xfrm>
              <a:off x="4248" y="2545"/>
              <a:ext cx="61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97" name="Oval 81"/>
            <p:cNvSpPr>
              <a:spLocks noChangeArrowheads="1"/>
            </p:cNvSpPr>
            <p:nvPr/>
          </p:nvSpPr>
          <p:spPr bwMode="auto">
            <a:xfrm>
              <a:off x="4472" y="2654"/>
              <a:ext cx="61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98" name="Oval 82"/>
            <p:cNvSpPr>
              <a:spLocks noChangeArrowheads="1"/>
            </p:cNvSpPr>
            <p:nvPr/>
          </p:nvSpPr>
          <p:spPr bwMode="auto">
            <a:xfrm>
              <a:off x="4696" y="2762"/>
              <a:ext cx="61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99" name="Oval 83"/>
            <p:cNvSpPr>
              <a:spLocks noChangeArrowheads="1"/>
            </p:cNvSpPr>
            <p:nvPr/>
          </p:nvSpPr>
          <p:spPr bwMode="auto">
            <a:xfrm>
              <a:off x="4920" y="2871"/>
              <a:ext cx="61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0" name="Freeform 84"/>
            <p:cNvSpPr>
              <a:spLocks/>
            </p:cNvSpPr>
            <p:nvPr/>
          </p:nvSpPr>
          <p:spPr bwMode="auto">
            <a:xfrm>
              <a:off x="1144" y="844"/>
              <a:ext cx="3803" cy="2637"/>
            </a:xfrm>
            <a:custGeom>
              <a:avLst/>
              <a:gdLst>
                <a:gd name="T0" fmla="*/ 0 w 3803"/>
                <a:gd name="T1" fmla="*/ 380 h 2637"/>
                <a:gd name="T2" fmla="*/ 224 w 3803"/>
                <a:gd name="T3" fmla="*/ 81 h 2637"/>
                <a:gd name="T4" fmla="*/ 447 w 3803"/>
                <a:gd name="T5" fmla="*/ 0 h 2637"/>
                <a:gd name="T6" fmla="*/ 671 w 3803"/>
                <a:gd name="T7" fmla="*/ 380 h 2637"/>
                <a:gd name="T8" fmla="*/ 895 w 3803"/>
                <a:gd name="T9" fmla="*/ 115 h 2637"/>
                <a:gd name="T10" fmla="*/ 1118 w 3803"/>
                <a:gd name="T11" fmla="*/ 583 h 2637"/>
                <a:gd name="T12" fmla="*/ 1342 w 3803"/>
                <a:gd name="T13" fmla="*/ 1078 h 2637"/>
                <a:gd name="T14" fmla="*/ 1566 w 3803"/>
                <a:gd name="T15" fmla="*/ 1064 h 2637"/>
                <a:gd name="T16" fmla="*/ 1789 w 3803"/>
                <a:gd name="T17" fmla="*/ 1383 h 2637"/>
                <a:gd name="T18" fmla="*/ 2013 w 3803"/>
                <a:gd name="T19" fmla="*/ 1322 h 2637"/>
                <a:gd name="T20" fmla="*/ 2237 w 3803"/>
                <a:gd name="T21" fmla="*/ 834 h 2637"/>
                <a:gd name="T22" fmla="*/ 2461 w 3803"/>
                <a:gd name="T23" fmla="*/ 1152 h 2637"/>
                <a:gd name="T24" fmla="*/ 2684 w 3803"/>
                <a:gd name="T25" fmla="*/ 1681 h 2637"/>
                <a:gd name="T26" fmla="*/ 2908 w 3803"/>
                <a:gd name="T27" fmla="*/ 1525 h 2637"/>
                <a:gd name="T28" fmla="*/ 3132 w 3803"/>
                <a:gd name="T29" fmla="*/ 1728 h 2637"/>
                <a:gd name="T30" fmla="*/ 3355 w 3803"/>
                <a:gd name="T31" fmla="*/ 1810 h 2637"/>
                <a:gd name="T32" fmla="*/ 3579 w 3803"/>
                <a:gd name="T33" fmla="*/ 1817 h 2637"/>
                <a:gd name="T34" fmla="*/ 3803 w 3803"/>
                <a:gd name="T35" fmla="*/ 2637 h 263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803"/>
                <a:gd name="T55" fmla="*/ 0 h 2637"/>
                <a:gd name="T56" fmla="*/ 3803 w 3803"/>
                <a:gd name="T57" fmla="*/ 2637 h 2637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803" h="2637">
                  <a:moveTo>
                    <a:pt x="0" y="380"/>
                  </a:moveTo>
                  <a:lnTo>
                    <a:pt x="224" y="81"/>
                  </a:lnTo>
                  <a:lnTo>
                    <a:pt x="447" y="0"/>
                  </a:lnTo>
                  <a:lnTo>
                    <a:pt x="671" y="380"/>
                  </a:lnTo>
                  <a:lnTo>
                    <a:pt x="895" y="115"/>
                  </a:lnTo>
                  <a:lnTo>
                    <a:pt x="1118" y="583"/>
                  </a:lnTo>
                  <a:lnTo>
                    <a:pt x="1342" y="1078"/>
                  </a:lnTo>
                  <a:lnTo>
                    <a:pt x="1566" y="1064"/>
                  </a:lnTo>
                  <a:lnTo>
                    <a:pt x="1789" y="1383"/>
                  </a:lnTo>
                  <a:lnTo>
                    <a:pt x="2013" y="1322"/>
                  </a:lnTo>
                  <a:lnTo>
                    <a:pt x="2237" y="834"/>
                  </a:lnTo>
                  <a:lnTo>
                    <a:pt x="2461" y="1152"/>
                  </a:lnTo>
                  <a:lnTo>
                    <a:pt x="2684" y="1681"/>
                  </a:lnTo>
                  <a:lnTo>
                    <a:pt x="2908" y="1525"/>
                  </a:lnTo>
                  <a:lnTo>
                    <a:pt x="3132" y="1728"/>
                  </a:lnTo>
                  <a:lnTo>
                    <a:pt x="3355" y="1810"/>
                  </a:lnTo>
                  <a:lnTo>
                    <a:pt x="3579" y="1817"/>
                  </a:lnTo>
                  <a:lnTo>
                    <a:pt x="3803" y="2637"/>
                  </a:lnTo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1" name="Freeform 85"/>
            <p:cNvSpPr>
              <a:spLocks/>
            </p:cNvSpPr>
            <p:nvPr/>
          </p:nvSpPr>
          <p:spPr bwMode="auto">
            <a:xfrm>
              <a:off x="1110" y="1203"/>
              <a:ext cx="68" cy="55"/>
            </a:xfrm>
            <a:custGeom>
              <a:avLst/>
              <a:gdLst>
                <a:gd name="T0" fmla="*/ 34 w 68"/>
                <a:gd name="T1" fmla="*/ 55 h 55"/>
                <a:gd name="T2" fmla="*/ 68 w 68"/>
                <a:gd name="T3" fmla="*/ 0 h 55"/>
                <a:gd name="T4" fmla="*/ 0 w 68"/>
                <a:gd name="T5" fmla="*/ 0 h 55"/>
                <a:gd name="T6" fmla="*/ 34 w 68"/>
                <a:gd name="T7" fmla="*/ 55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55"/>
                <a:gd name="T14" fmla="*/ 68 w 6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55">
                  <a:moveTo>
                    <a:pt x="34" y="55"/>
                  </a:moveTo>
                  <a:lnTo>
                    <a:pt x="68" y="0"/>
                  </a:lnTo>
                  <a:lnTo>
                    <a:pt x="0" y="0"/>
                  </a:lnTo>
                  <a:lnTo>
                    <a:pt x="34" y="55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2" name="Freeform 86"/>
            <p:cNvSpPr>
              <a:spLocks/>
            </p:cNvSpPr>
            <p:nvPr/>
          </p:nvSpPr>
          <p:spPr bwMode="auto">
            <a:xfrm>
              <a:off x="1334" y="905"/>
              <a:ext cx="67" cy="54"/>
            </a:xfrm>
            <a:custGeom>
              <a:avLst/>
              <a:gdLst>
                <a:gd name="T0" fmla="*/ 34 w 67"/>
                <a:gd name="T1" fmla="*/ 54 h 54"/>
                <a:gd name="T2" fmla="*/ 67 w 67"/>
                <a:gd name="T3" fmla="*/ 0 h 54"/>
                <a:gd name="T4" fmla="*/ 0 w 67"/>
                <a:gd name="T5" fmla="*/ 0 h 54"/>
                <a:gd name="T6" fmla="*/ 34 w 67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54"/>
                <a:gd name="T14" fmla="*/ 67 w 67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54">
                  <a:moveTo>
                    <a:pt x="34" y="54"/>
                  </a:moveTo>
                  <a:lnTo>
                    <a:pt x="67" y="0"/>
                  </a:lnTo>
                  <a:lnTo>
                    <a:pt x="0" y="0"/>
                  </a:lnTo>
                  <a:lnTo>
                    <a:pt x="34" y="54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3" name="Freeform 87"/>
            <p:cNvSpPr>
              <a:spLocks/>
            </p:cNvSpPr>
            <p:nvPr/>
          </p:nvSpPr>
          <p:spPr bwMode="auto">
            <a:xfrm>
              <a:off x="1557" y="824"/>
              <a:ext cx="68" cy="54"/>
            </a:xfrm>
            <a:custGeom>
              <a:avLst/>
              <a:gdLst>
                <a:gd name="T0" fmla="*/ 34 w 68"/>
                <a:gd name="T1" fmla="*/ 54 h 54"/>
                <a:gd name="T2" fmla="*/ 68 w 68"/>
                <a:gd name="T3" fmla="*/ 0 h 54"/>
                <a:gd name="T4" fmla="*/ 0 w 68"/>
                <a:gd name="T5" fmla="*/ 0 h 54"/>
                <a:gd name="T6" fmla="*/ 34 w 68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54"/>
                <a:gd name="T14" fmla="*/ 68 w 6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54">
                  <a:moveTo>
                    <a:pt x="34" y="54"/>
                  </a:moveTo>
                  <a:lnTo>
                    <a:pt x="68" y="0"/>
                  </a:lnTo>
                  <a:lnTo>
                    <a:pt x="0" y="0"/>
                  </a:lnTo>
                  <a:lnTo>
                    <a:pt x="34" y="54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4" name="Freeform 88"/>
            <p:cNvSpPr>
              <a:spLocks/>
            </p:cNvSpPr>
            <p:nvPr/>
          </p:nvSpPr>
          <p:spPr bwMode="auto">
            <a:xfrm>
              <a:off x="1781" y="1203"/>
              <a:ext cx="68" cy="55"/>
            </a:xfrm>
            <a:custGeom>
              <a:avLst/>
              <a:gdLst>
                <a:gd name="T0" fmla="*/ 34 w 68"/>
                <a:gd name="T1" fmla="*/ 55 h 55"/>
                <a:gd name="T2" fmla="*/ 68 w 68"/>
                <a:gd name="T3" fmla="*/ 0 h 55"/>
                <a:gd name="T4" fmla="*/ 0 w 68"/>
                <a:gd name="T5" fmla="*/ 0 h 55"/>
                <a:gd name="T6" fmla="*/ 34 w 68"/>
                <a:gd name="T7" fmla="*/ 55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55"/>
                <a:gd name="T14" fmla="*/ 68 w 6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55">
                  <a:moveTo>
                    <a:pt x="34" y="55"/>
                  </a:moveTo>
                  <a:lnTo>
                    <a:pt x="68" y="0"/>
                  </a:lnTo>
                  <a:lnTo>
                    <a:pt x="0" y="0"/>
                  </a:lnTo>
                  <a:lnTo>
                    <a:pt x="34" y="55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5" name="Freeform 89"/>
            <p:cNvSpPr>
              <a:spLocks/>
            </p:cNvSpPr>
            <p:nvPr/>
          </p:nvSpPr>
          <p:spPr bwMode="auto">
            <a:xfrm>
              <a:off x="2005" y="939"/>
              <a:ext cx="68" cy="54"/>
            </a:xfrm>
            <a:custGeom>
              <a:avLst/>
              <a:gdLst>
                <a:gd name="T0" fmla="*/ 34 w 68"/>
                <a:gd name="T1" fmla="*/ 54 h 54"/>
                <a:gd name="T2" fmla="*/ 68 w 68"/>
                <a:gd name="T3" fmla="*/ 0 h 54"/>
                <a:gd name="T4" fmla="*/ 0 w 68"/>
                <a:gd name="T5" fmla="*/ 0 h 54"/>
                <a:gd name="T6" fmla="*/ 34 w 68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54"/>
                <a:gd name="T14" fmla="*/ 68 w 6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54">
                  <a:moveTo>
                    <a:pt x="34" y="54"/>
                  </a:moveTo>
                  <a:lnTo>
                    <a:pt x="68" y="0"/>
                  </a:lnTo>
                  <a:lnTo>
                    <a:pt x="0" y="0"/>
                  </a:lnTo>
                  <a:lnTo>
                    <a:pt x="34" y="54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6" name="Freeform 90"/>
            <p:cNvSpPr>
              <a:spLocks/>
            </p:cNvSpPr>
            <p:nvPr/>
          </p:nvSpPr>
          <p:spPr bwMode="auto">
            <a:xfrm>
              <a:off x="2228" y="1407"/>
              <a:ext cx="68" cy="54"/>
            </a:xfrm>
            <a:custGeom>
              <a:avLst/>
              <a:gdLst>
                <a:gd name="T0" fmla="*/ 34 w 68"/>
                <a:gd name="T1" fmla="*/ 54 h 54"/>
                <a:gd name="T2" fmla="*/ 68 w 68"/>
                <a:gd name="T3" fmla="*/ 0 h 54"/>
                <a:gd name="T4" fmla="*/ 0 w 68"/>
                <a:gd name="T5" fmla="*/ 0 h 54"/>
                <a:gd name="T6" fmla="*/ 34 w 68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54"/>
                <a:gd name="T14" fmla="*/ 68 w 6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54">
                  <a:moveTo>
                    <a:pt x="34" y="54"/>
                  </a:moveTo>
                  <a:lnTo>
                    <a:pt x="68" y="0"/>
                  </a:lnTo>
                  <a:lnTo>
                    <a:pt x="0" y="0"/>
                  </a:lnTo>
                  <a:lnTo>
                    <a:pt x="34" y="54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7" name="Freeform 91"/>
            <p:cNvSpPr>
              <a:spLocks/>
            </p:cNvSpPr>
            <p:nvPr/>
          </p:nvSpPr>
          <p:spPr bwMode="auto">
            <a:xfrm>
              <a:off x="2452" y="1901"/>
              <a:ext cx="68" cy="55"/>
            </a:xfrm>
            <a:custGeom>
              <a:avLst/>
              <a:gdLst>
                <a:gd name="T0" fmla="*/ 34 w 68"/>
                <a:gd name="T1" fmla="*/ 55 h 55"/>
                <a:gd name="T2" fmla="*/ 68 w 68"/>
                <a:gd name="T3" fmla="*/ 0 h 55"/>
                <a:gd name="T4" fmla="*/ 0 w 68"/>
                <a:gd name="T5" fmla="*/ 0 h 55"/>
                <a:gd name="T6" fmla="*/ 34 w 68"/>
                <a:gd name="T7" fmla="*/ 55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55"/>
                <a:gd name="T14" fmla="*/ 68 w 6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55">
                  <a:moveTo>
                    <a:pt x="34" y="55"/>
                  </a:moveTo>
                  <a:lnTo>
                    <a:pt x="68" y="0"/>
                  </a:lnTo>
                  <a:lnTo>
                    <a:pt x="0" y="0"/>
                  </a:lnTo>
                  <a:lnTo>
                    <a:pt x="34" y="55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8" name="Freeform 92"/>
            <p:cNvSpPr>
              <a:spLocks/>
            </p:cNvSpPr>
            <p:nvPr/>
          </p:nvSpPr>
          <p:spPr bwMode="auto">
            <a:xfrm>
              <a:off x="2676" y="1888"/>
              <a:ext cx="68" cy="54"/>
            </a:xfrm>
            <a:custGeom>
              <a:avLst/>
              <a:gdLst>
                <a:gd name="T0" fmla="*/ 34 w 68"/>
                <a:gd name="T1" fmla="*/ 54 h 54"/>
                <a:gd name="T2" fmla="*/ 68 w 68"/>
                <a:gd name="T3" fmla="*/ 0 h 54"/>
                <a:gd name="T4" fmla="*/ 0 w 68"/>
                <a:gd name="T5" fmla="*/ 0 h 54"/>
                <a:gd name="T6" fmla="*/ 34 w 68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54"/>
                <a:gd name="T14" fmla="*/ 68 w 6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54">
                  <a:moveTo>
                    <a:pt x="34" y="54"/>
                  </a:moveTo>
                  <a:lnTo>
                    <a:pt x="68" y="0"/>
                  </a:lnTo>
                  <a:lnTo>
                    <a:pt x="0" y="0"/>
                  </a:lnTo>
                  <a:lnTo>
                    <a:pt x="34" y="54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9" name="Freeform 93"/>
            <p:cNvSpPr>
              <a:spLocks/>
            </p:cNvSpPr>
            <p:nvPr/>
          </p:nvSpPr>
          <p:spPr bwMode="auto">
            <a:xfrm>
              <a:off x="2900" y="2206"/>
              <a:ext cx="67" cy="55"/>
            </a:xfrm>
            <a:custGeom>
              <a:avLst/>
              <a:gdLst>
                <a:gd name="T0" fmla="*/ 33 w 67"/>
                <a:gd name="T1" fmla="*/ 55 h 55"/>
                <a:gd name="T2" fmla="*/ 67 w 67"/>
                <a:gd name="T3" fmla="*/ 0 h 55"/>
                <a:gd name="T4" fmla="*/ 0 w 67"/>
                <a:gd name="T5" fmla="*/ 0 h 55"/>
                <a:gd name="T6" fmla="*/ 33 w 67"/>
                <a:gd name="T7" fmla="*/ 55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55"/>
                <a:gd name="T14" fmla="*/ 67 w 67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55">
                  <a:moveTo>
                    <a:pt x="33" y="55"/>
                  </a:moveTo>
                  <a:lnTo>
                    <a:pt x="67" y="0"/>
                  </a:lnTo>
                  <a:lnTo>
                    <a:pt x="0" y="0"/>
                  </a:lnTo>
                  <a:lnTo>
                    <a:pt x="33" y="55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0" name="Freeform 94"/>
            <p:cNvSpPr>
              <a:spLocks/>
            </p:cNvSpPr>
            <p:nvPr/>
          </p:nvSpPr>
          <p:spPr bwMode="auto">
            <a:xfrm>
              <a:off x="3123" y="2145"/>
              <a:ext cx="68" cy="55"/>
            </a:xfrm>
            <a:custGeom>
              <a:avLst/>
              <a:gdLst>
                <a:gd name="T0" fmla="*/ 34 w 68"/>
                <a:gd name="T1" fmla="*/ 55 h 55"/>
                <a:gd name="T2" fmla="*/ 68 w 68"/>
                <a:gd name="T3" fmla="*/ 0 h 55"/>
                <a:gd name="T4" fmla="*/ 0 w 68"/>
                <a:gd name="T5" fmla="*/ 0 h 55"/>
                <a:gd name="T6" fmla="*/ 34 w 68"/>
                <a:gd name="T7" fmla="*/ 55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55"/>
                <a:gd name="T14" fmla="*/ 68 w 6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55">
                  <a:moveTo>
                    <a:pt x="34" y="55"/>
                  </a:moveTo>
                  <a:lnTo>
                    <a:pt x="68" y="0"/>
                  </a:lnTo>
                  <a:lnTo>
                    <a:pt x="0" y="0"/>
                  </a:lnTo>
                  <a:lnTo>
                    <a:pt x="34" y="55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1" name="Freeform 95"/>
            <p:cNvSpPr>
              <a:spLocks/>
            </p:cNvSpPr>
            <p:nvPr/>
          </p:nvSpPr>
          <p:spPr bwMode="auto">
            <a:xfrm>
              <a:off x="3347" y="1657"/>
              <a:ext cx="68" cy="55"/>
            </a:xfrm>
            <a:custGeom>
              <a:avLst/>
              <a:gdLst>
                <a:gd name="T0" fmla="*/ 34 w 68"/>
                <a:gd name="T1" fmla="*/ 55 h 55"/>
                <a:gd name="T2" fmla="*/ 68 w 68"/>
                <a:gd name="T3" fmla="*/ 0 h 55"/>
                <a:gd name="T4" fmla="*/ 0 w 68"/>
                <a:gd name="T5" fmla="*/ 0 h 55"/>
                <a:gd name="T6" fmla="*/ 34 w 68"/>
                <a:gd name="T7" fmla="*/ 55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55"/>
                <a:gd name="T14" fmla="*/ 68 w 6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55">
                  <a:moveTo>
                    <a:pt x="34" y="55"/>
                  </a:moveTo>
                  <a:lnTo>
                    <a:pt x="68" y="0"/>
                  </a:lnTo>
                  <a:lnTo>
                    <a:pt x="0" y="0"/>
                  </a:lnTo>
                  <a:lnTo>
                    <a:pt x="34" y="55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2" name="Freeform 96"/>
            <p:cNvSpPr>
              <a:spLocks/>
            </p:cNvSpPr>
            <p:nvPr/>
          </p:nvSpPr>
          <p:spPr bwMode="auto">
            <a:xfrm>
              <a:off x="3571" y="1976"/>
              <a:ext cx="67" cy="54"/>
            </a:xfrm>
            <a:custGeom>
              <a:avLst/>
              <a:gdLst>
                <a:gd name="T0" fmla="*/ 34 w 67"/>
                <a:gd name="T1" fmla="*/ 54 h 54"/>
                <a:gd name="T2" fmla="*/ 67 w 67"/>
                <a:gd name="T3" fmla="*/ 0 h 54"/>
                <a:gd name="T4" fmla="*/ 0 w 67"/>
                <a:gd name="T5" fmla="*/ 0 h 54"/>
                <a:gd name="T6" fmla="*/ 34 w 67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54"/>
                <a:gd name="T14" fmla="*/ 67 w 67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54">
                  <a:moveTo>
                    <a:pt x="34" y="54"/>
                  </a:moveTo>
                  <a:lnTo>
                    <a:pt x="67" y="0"/>
                  </a:lnTo>
                  <a:lnTo>
                    <a:pt x="0" y="0"/>
                  </a:lnTo>
                  <a:lnTo>
                    <a:pt x="34" y="54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3" name="Freeform 97"/>
            <p:cNvSpPr>
              <a:spLocks/>
            </p:cNvSpPr>
            <p:nvPr/>
          </p:nvSpPr>
          <p:spPr bwMode="auto">
            <a:xfrm>
              <a:off x="3794" y="2505"/>
              <a:ext cx="68" cy="54"/>
            </a:xfrm>
            <a:custGeom>
              <a:avLst/>
              <a:gdLst>
                <a:gd name="T0" fmla="*/ 34 w 68"/>
                <a:gd name="T1" fmla="*/ 54 h 54"/>
                <a:gd name="T2" fmla="*/ 68 w 68"/>
                <a:gd name="T3" fmla="*/ 0 h 54"/>
                <a:gd name="T4" fmla="*/ 0 w 68"/>
                <a:gd name="T5" fmla="*/ 0 h 54"/>
                <a:gd name="T6" fmla="*/ 34 w 68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54"/>
                <a:gd name="T14" fmla="*/ 68 w 6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54">
                  <a:moveTo>
                    <a:pt x="34" y="54"/>
                  </a:moveTo>
                  <a:lnTo>
                    <a:pt x="68" y="0"/>
                  </a:lnTo>
                  <a:lnTo>
                    <a:pt x="0" y="0"/>
                  </a:lnTo>
                  <a:lnTo>
                    <a:pt x="34" y="54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4" name="Freeform 98"/>
            <p:cNvSpPr>
              <a:spLocks/>
            </p:cNvSpPr>
            <p:nvPr/>
          </p:nvSpPr>
          <p:spPr bwMode="auto">
            <a:xfrm>
              <a:off x="4018" y="2349"/>
              <a:ext cx="68" cy="54"/>
            </a:xfrm>
            <a:custGeom>
              <a:avLst/>
              <a:gdLst>
                <a:gd name="T0" fmla="*/ 34 w 68"/>
                <a:gd name="T1" fmla="*/ 54 h 54"/>
                <a:gd name="T2" fmla="*/ 68 w 68"/>
                <a:gd name="T3" fmla="*/ 0 h 54"/>
                <a:gd name="T4" fmla="*/ 0 w 68"/>
                <a:gd name="T5" fmla="*/ 0 h 54"/>
                <a:gd name="T6" fmla="*/ 34 w 68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54"/>
                <a:gd name="T14" fmla="*/ 68 w 6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54">
                  <a:moveTo>
                    <a:pt x="34" y="54"/>
                  </a:moveTo>
                  <a:lnTo>
                    <a:pt x="68" y="0"/>
                  </a:lnTo>
                  <a:lnTo>
                    <a:pt x="0" y="0"/>
                  </a:lnTo>
                  <a:lnTo>
                    <a:pt x="34" y="54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5" name="Freeform 99"/>
            <p:cNvSpPr>
              <a:spLocks/>
            </p:cNvSpPr>
            <p:nvPr/>
          </p:nvSpPr>
          <p:spPr bwMode="auto">
            <a:xfrm>
              <a:off x="4242" y="2552"/>
              <a:ext cx="67" cy="54"/>
            </a:xfrm>
            <a:custGeom>
              <a:avLst/>
              <a:gdLst>
                <a:gd name="T0" fmla="*/ 34 w 67"/>
                <a:gd name="T1" fmla="*/ 54 h 54"/>
                <a:gd name="T2" fmla="*/ 67 w 67"/>
                <a:gd name="T3" fmla="*/ 0 h 54"/>
                <a:gd name="T4" fmla="*/ 0 w 67"/>
                <a:gd name="T5" fmla="*/ 0 h 54"/>
                <a:gd name="T6" fmla="*/ 34 w 67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54"/>
                <a:gd name="T14" fmla="*/ 67 w 67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54">
                  <a:moveTo>
                    <a:pt x="34" y="54"/>
                  </a:moveTo>
                  <a:lnTo>
                    <a:pt x="67" y="0"/>
                  </a:lnTo>
                  <a:lnTo>
                    <a:pt x="0" y="0"/>
                  </a:lnTo>
                  <a:lnTo>
                    <a:pt x="34" y="54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6" name="Freeform 100"/>
            <p:cNvSpPr>
              <a:spLocks/>
            </p:cNvSpPr>
            <p:nvPr/>
          </p:nvSpPr>
          <p:spPr bwMode="auto">
            <a:xfrm>
              <a:off x="4465" y="2633"/>
              <a:ext cx="68" cy="55"/>
            </a:xfrm>
            <a:custGeom>
              <a:avLst/>
              <a:gdLst>
                <a:gd name="T0" fmla="*/ 34 w 68"/>
                <a:gd name="T1" fmla="*/ 55 h 55"/>
                <a:gd name="T2" fmla="*/ 68 w 68"/>
                <a:gd name="T3" fmla="*/ 0 h 55"/>
                <a:gd name="T4" fmla="*/ 0 w 68"/>
                <a:gd name="T5" fmla="*/ 0 h 55"/>
                <a:gd name="T6" fmla="*/ 34 w 68"/>
                <a:gd name="T7" fmla="*/ 55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55"/>
                <a:gd name="T14" fmla="*/ 68 w 6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55">
                  <a:moveTo>
                    <a:pt x="34" y="55"/>
                  </a:moveTo>
                  <a:lnTo>
                    <a:pt x="68" y="0"/>
                  </a:lnTo>
                  <a:lnTo>
                    <a:pt x="0" y="0"/>
                  </a:lnTo>
                  <a:lnTo>
                    <a:pt x="34" y="55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7" name="Freeform 101"/>
            <p:cNvSpPr>
              <a:spLocks/>
            </p:cNvSpPr>
            <p:nvPr/>
          </p:nvSpPr>
          <p:spPr bwMode="auto">
            <a:xfrm>
              <a:off x="4689" y="2640"/>
              <a:ext cx="68" cy="54"/>
            </a:xfrm>
            <a:custGeom>
              <a:avLst/>
              <a:gdLst>
                <a:gd name="T0" fmla="*/ 34 w 68"/>
                <a:gd name="T1" fmla="*/ 54 h 54"/>
                <a:gd name="T2" fmla="*/ 68 w 68"/>
                <a:gd name="T3" fmla="*/ 0 h 54"/>
                <a:gd name="T4" fmla="*/ 0 w 68"/>
                <a:gd name="T5" fmla="*/ 0 h 54"/>
                <a:gd name="T6" fmla="*/ 34 w 68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54"/>
                <a:gd name="T14" fmla="*/ 68 w 6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54">
                  <a:moveTo>
                    <a:pt x="34" y="54"/>
                  </a:moveTo>
                  <a:lnTo>
                    <a:pt x="68" y="0"/>
                  </a:lnTo>
                  <a:lnTo>
                    <a:pt x="0" y="0"/>
                  </a:lnTo>
                  <a:lnTo>
                    <a:pt x="34" y="54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8" name="Freeform 102"/>
            <p:cNvSpPr>
              <a:spLocks/>
            </p:cNvSpPr>
            <p:nvPr/>
          </p:nvSpPr>
          <p:spPr bwMode="auto">
            <a:xfrm>
              <a:off x="4913" y="3460"/>
              <a:ext cx="68" cy="55"/>
            </a:xfrm>
            <a:custGeom>
              <a:avLst/>
              <a:gdLst>
                <a:gd name="T0" fmla="*/ 34 w 68"/>
                <a:gd name="T1" fmla="*/ 55 h 55"/>
                <a:gd name="T2" fmla="*/ 68 w 68"/>
                <a:gd name="T3" fmla="*/ 0 h 55"/>
                <a:gd name="T4" fmla="*/ 0 w 68"/>
                <a:gd name="T5" fmla="*/ 0 h 55"/>
                <a:gd name="T6" fmla="*/ 34 w 68"/>
                <a:gd name="T7" fmla="*/ 55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55"/>
                <a:gd name="T14" fmla="*/ 68 w 6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55">
                  <a:moveTo>
                    <a:pt x="34" y="55"/>
                  </a:moveTo>
                  <a:lnTo>
                    <a:pt x="68" y="0"/>
                  </a:lnTo>
                  <a:lnTo>
                    <a:pt x="0" y="0"/>
                  </a:lnTo>
                  <a:lnTo>
                    <a:pt x="34" y="55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9" name="Rectangle 103"/>
            <p:cNvSpPr>
              <a:spLocks noChangeArrowheads="1"/>
            </p:cNvSpPr>
            <p:nvPr/>
          </p:nvSpPr>
          <p:spPr bwMode="auto">
            <a:xfrm rot="-5400000">
              <a:off x="-137" y="1951"/>
              <a:ext cx="1293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>
                  <a:latin typeface="Verdana" pitchFamily="34" charset="0"/>
                </a:rPr>
                <a:t>Birth</a:t>
              </a:r>
              <a:r>
                <a:rPr lang="en-US" altLang="zh-CN" sz="2000">
                  <a:solidFill>
                    <a:srgbClr val="000000"/>
                  </a:solidFill>
                  <a:latin typeface="Verdana" pitchFamily="34" charset="0"/>
                </a:rPr>
                <a:t> </a:t>
              </a:r>
              <a:r>
                <a:rPr lang="en-US" altLang="zh-CN" sz="2000">
                  <a:latin typeface="Verdana" pitchFamily="34" charset="0"/>
                </a:rPr>
                <a:t>probability</a:t>
              </a:r>
            </a:p>
          </p:txBody>
        </p:sp>
        <p:sp>
          <p:nvSpPr>
            <p:cNvPr id="39020" name="Rectangle 104"/>
            <p:cNvSpPr>
              <a:spLocks noChangeArrowheads="1"/>
            </p:cNvSpPr>
            <p:nvPr/>
          </p:nvSpPr>
          <p:spPr bwMode="auto">
            <a:xfrm>
              <a:off x="4038" y="485"/>
              <a:ext cx="1092" cy="31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1" name="Rectangle 105"/>
            <p:cNvSpPr>
              <a:spLocks noChangeArrowheads="1"/>
            </p:cNvSpPr>
            <p:nvPr/>
          </p:nvSpPr>
          <p:spPr bwMode="auto">
            <a:xfrm>
              <a:off x="4038" y="485"/>
              <a:ext cx="1092" cy="318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2" name="Line 106"/>
            <p:cNvSpPr>
              <a:spLocks noChangeShapeType="1"/>
            </p:cNvSpPr>
            <p:nvPr/>
          </p:nvSpPr>
          <p:spPr bwMode="auto">
            <a:xfrm>
              <a:off x="4038" y="485"/>
              <a:ext cx="109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23" name="Freeform 107"/>
            <p:cNvSpPr>
              <a:spLocks/>
            </p:cNvSpPr>
            <p:nvPr/>
          </p:nvSpPr>
          <p:spPr bwMode="auto">
            <a:xfrm>
              <a:off x="4038" y="485"/>
              <a:ext cx="1092" cy="318"/>
            </a:xfrm>
            <a:custGeom>
              <a:avLst/>
              <a:gdLst>
                <a:gd name="T0" fmla="*/ 0 w 161"/>
                <a:gd name="T1" fmla="*/ 47 h 47"/>
                <a:gd name="T2" fmla="*/ 161 w 161"/>
                <a:gd name="T3" fmla="*/ 47 h 47"/>
                <a:gd name="T4" fmla="*/ 161 w 161"/>
                <a:gd name="T5" fmla="*/ 0 h 47"/>
                <a:gd name="T6" fmla="*/ 0 60000 65536"/>
                <a:gd name="T7" fmla="*/ 0 60000 65536"/>
                <a:gd name="T8" fmla="*/ 0 60000 65536"/>
                <a:gd name="T9" fmla="*/ 0 w 161"/>
                <a:gd name="T10" fmla="*/ 0 h 47"/>
                <a:gd name="T11" fmla="*/ 161 w 161"/>
                <a:gd name="T12" fmla="*/ 47 h 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1" h="47">
                  <a:moveTo>
                    <a:pt x="0" y="47"/>
                  </a:moveTo>
                  <a:lnTo>
                    <a:pt x="161" y="47"/>
                  </a:lnTo>
                  <a:lnTo>
                    <a:pt x="161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4" name="Line 108"/>
            <p:cNvSpPr>
              <a:spLocks noChangeShapeType="1"/>
            </p:cNvSpPr>
            <p:nvPr/>
          </p:nvSpPr>
          <p:spPr bwMode="auto">
            <a:xfrm flipV="1">
              <a:off x="4038" y="485"/>
              <a:ext cx="1" cy="3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25" name="Line 109"/>
            <p:cNvSpPr>
              <a:spLocks noChangeShapeType="1"/>
            </p:cNvSpPr>
            <p:nvPr/>
          </p:nvSpPr>
          <p:spPr bwMode="auto">
            <a:xfrm>
              <a:off x="4038" y="803"/>
              <a:ext cx="109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26" name="Freeform 110"/>
            <p:cNvSpPr>
              <a:spLocks/>
            </p:cNvSpPr>
            <p:nvPr/>
          </p:nvSpPr>
          <p:spPr bwMode="auto">
            <a:xfrm>
              <a:off x="4038" y="485"/>
              <a:ext cx="1092" cy="318"/>
            </a:xfrm>
            <a:custGeom>
              <a:avLst/>
              <a:gdLst>
                <a:gd name="T0" fmla="*/ 0 w 161"/>
                <a:gd name="T1" fmla="*/ 47 h 47"/>
                <a:gd name="T2" fmla="*/ 0 w 161"/>
                <a:gd name="T3" fmla="*/ 0 h 47"/>
                <a:gd name="T4" fmla="*/ 161 w 161"/>
                <a:gd name="T5" fmla="*/ 0 h 47"/>
                <a:gd name="T6" fmla="*/ 0 60000 65536"/>
                <a:gd name="T7" fmla="*/ 0 60000 65536"/>
                <a:gd name="T8" fmla="*/ 0 60000 65536"/>
                <a:gd name="T9" fmla="*/ 0 w 161"/>
                <a:gd name="T10" fmla="*/ 0 h 47"/>
                <a:gd name="T11" fmla="*/ 161 w 161"/>
                <a:gd name="T12" fmla="*/ 47 h 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1" h="47">
                  <a:moveTo>
                    <a:pt x="0" y="47"/>
                  </a:moveTo>
                  <a:lnTo>
                    <a:pt x="0" y="0"/>
                  </a:lnTo>
                  <a:lnTo>
                    <a:pt x="161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7" name="Freeform 111"/>
            <p:cNvSpPr>
              <a:spLocks/>
            </p:cNvSpPr>
            <p:nvPr/>
          </p:nvSpPr>
          <p:spPr bwMode="auto">
            <a:xfrm>
              <a:off x="4038" y="485"/>
              <a:ext cx="1092" cy="318"/>
            </a:xfrm>
            <a:custGeom>
              <a:avLst/>
              <a:gdLst>
                <a:gd name="T0" fmla="*/ 0 w 161"/>
                <a:gd name="T1" fmla="*/ 47 h 47"/>
                <a:gd name="T2" fmla="*/ 161 w 161"/>
                <a:gd name="T3" fmla="*/ 47 h 47"/>
                <a:gd name="T4" fmla="*/ 161 w 161"/>
                <a:gd name="T5" fmla="*/ 0 h 47"/>
                <a:gd name="T6" fmla="*/ 0 60000 65536"/>
                <a:gd name="T7" fmla="*/ 0 60000 65536"/>
                <a:gd name="T8" fmla="*/ 0 60000 65536"/>
                <a:gd name="T9" fmla="*/ 0 w 161"/>
                <a:gd name="T10" fmla="*/ 0 h 47"/>
                <a:gd name="T11" fmla="*/ 161 w 161"/>
                <a:gd name="T12" fmla="*/ 47 h 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1" h="47">
                  <a:moveTo>
                    <a:pt x="0" y="47"/>
                  </a:moveTo>
                  <a:lnTo>
                    <a:pt x="161" y="47"/>
                  </a:lnTo>
                  <a:lnTo>
                    <a:pt x="161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8" name="Line 112"/>
            <p:cNvSpPr>
              <a:spLocks noChangeShapeType="1"/>
            </p:cNvSpPr>
            <p:nvPr/>
          </p:nvSpPr>
          <p:spPr bwMode="auto">
            <a:xfrm flipV="1">
              <a:off x="4038" y="485"/>
              <a:ext cx="1" cy="3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29" name="Rectangle 113"/>
            <p:cNvSpPr>
              <a:spLocks noChangeArrowheads="1"/>
            </p:cNvSpPr>
            <p:nvPr/>
          </p:nvSpPr>
          <p:spPr bwMode="auto">
            <a:xfrm>
              <a:off x="4398" y="498"/>
              <a:ext cx="630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  <a:latin typeface="Verdana" pitchFamily="34" charset="0"/>
                </a:rPr>
                <a:t>time trend</a:t>
              </a:r>
              <a:endParaRPr lang="en-US" altLang="zh-CN">
                <a:latin typeface="Verdana" pitchFamily="34" charset="0"/>
              </a:endParaRPr>
            </a:p>
          </p:txBody>
        </p:sp>
        <p:sp>
          <p:nvSpPr>
            <p:cNvPr id="39030" name="Rectangle 114"/>
            <p:cNvSpPr>
              <a:spLocks noChangeArrowheads="1"/>
            </p:cNvSpPr>
            <p:nvPr/>
          </p:nvSpPr>
          <p:spPr bwMode="auto">
            <a:xfrm>
              <a:off x="4398" y="641"/>
              <a:ext cx="667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  <a:latin typeface="Verdana" pitchFamily="34" charset="0"/>
                </a:rPr>
                <a:t>best model</a:t>
              </a:r>
              <a:endParaRPr lang="en-US" altLang="zh-CN">
                <a:latin typeface="Verdana" pitchFamily="34" charset="0"/>
              </a:endParaRPr>
            </a:p>
          </p:txBody>
        </p:sp>
        <p:sp>
          <p:nvSpPr>
            <p:cNvPr id="39031" name="Line 115"/>
            <p:cNvSpPr>
              <a:spLocks noChangeShapeType="1"/>
            </p:cNvSpPr>
            <p:nvPr/>
          </p:nvSpPr>
          <p:spPr bwMode="auto">
            <a:xfrm>
              <a:off x="4106" y="573"/>
              <a:ext cx="217" cy="1"/>
            </a:xfrm>
            <a:prstGeom prst="lin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32" name="Oval 116"/>
            <p:cNvSpPr>
              <a:spLocks noChangeArrowheads="1"/>
            </p:cNvSpPr>
            <p:nvPr/>
          </p:nvSpPr>
          <p:spPr bwMode="auto">
            <a:xfrm>
              <a:off x="4187" y="546"/>
              <a:ext cx="61" cy="6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33" name="Line 117"/>
            <p:cNvSpPr>
              <a:spLocks noChangeShapeType="1"/>
            </p:cNvSpPr>
            <p:nvPr/>
          </p:nvSpPr>
          <p:spPr bwMode="auto">
            <a:xfrm>
              <a:off x="4106" y="715"/>
              <a:ext cx="217" cy="1"/>
            </a:xfrm>
            <a:prstGeom prst="line">
              <a:avLst/>
            </a:pr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34" name="Freeform 118"/>
            <p:cNvSpPr>
              <a:spLocks/>
            </p:cNvSpPr>
            <p:nvPr/>
          </p:nvSpPr>
          <p:spPr bwMode="auto">
            <a:xfrm>
              <a:off x="4181" y="695"/>
              <a:ext cx="67" cy="54"/>
            </a:xfrm>
            <a:custGeom>
              <a:avLst/>
              <a:gdLst>
                <a:gd name="T0" fmla="*/ 34 w 67"/>
                <a:gd name="T1" fmla="*/ 54 h 54"/>
                <a:gd name="T2" fmla="*/ 67 w 67"/>
                <a:gd name="T3" fmla="*/ 0 h 54"/>
                <a:gd name="T4" fmla="*/ 0 w 67"/>
                <a:gd name="T5" fmla="*/ 0 h 54"/>
                <a:gd name="T6" fmla="*/ 34 w 67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54"/>
                <a:gd name="T14" fmla="*/ 67 w 67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54">
                  <a:moveTo>
                    <a:pt x="34" y="54"/>
                  </a:moveTo>
                  <a:lnTo>
                    <a:pt x="67" y="0"/>
                  </a:lnTo>
                  <a:lnTo>
                    <a:pt x="0" y="0"/>
                  </a:lnTo>
                  <a:lnTo>
                    <a:pt x="34" y="54"/>
                  </a:lnTo>
                  <a:close/>
                </a:path>
              </a:pathLst>
            </a:custGeom>
            <a:noFill/>
            <a:ln w="22225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35" name="Text Box 119"/>
            <p:cNvSpPr txBox="1">
              <a:spLocks noChangeArrowheads="1"/>
            </p:cNvSpPr>
            <p:nvPr/>
          </p:nvSpPr>
          <p:spPr bwMode="auto">
            <a:xfrm>
              <a:off x="2893" y="3923"/>
              <a:ext cx="47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latin typeface="Verdana" pitchFamily="34" charset="0"/>
                </a:rPr>
                <a:t>Year</a:t>
              </a:r>
            </a:p>
          </p:txBody>
        </p:sp>
      </p:grpSp>
      <p:pic>
        <p:nvPicPr>
          <p:cNvPr id="38918" name="Picture 120" descr="Right-Whale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4381500"/>
            <a:ext cx="1447800" cy="108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日期占位符 1"/>
          <p:cNvSpPr>
            <a:spLocks noGrp="1"/>
          </p:cNvSpPr>
          <p:nvPr>
            <p:ph type="dt" sz="quarter" idx="10"/>
          </p:nvPr>
        </p:nvSpPr>
        <p:spPr/>
        <p:txBody>
          <a:bodyPr rtlCol="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rPr>
              <a:t>June 2006</a:t>
            </a:r>
          </a:p>
        </p:txBody>
      </p:sp>
      <p:sp>
        <p:nvSpPr>
          <p:cNvPr id="102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rPr>
              <a:t>Hal Caswell -- Markov Anniversary Meeting</a:t>
            </a:r>
          </a:p>
        </p:txBody>
      </p:sp>
      <p:sp>
        <p:nvSpPr>
          <p:cNvPr id="10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70F50-B7EE-42AA-8673-D67B6520EAE3}" type="slidenum">
              <a:rPr lang="en-US" altLang="zh-CN"/>
              <a:pPr/>
              <a:t>36</a:t>
            </a:fld>
            <a:endParaRPr lang="en-US" altLang="zh-CN"/>
          </a:p>
        </p:txBody>
      </p:sp>
      <p:grpSp>
        <p:nvGrpSpPr>
          <p:cNvPr id="39941" name="Group 122"/>
          <p:cNvGrpSpPr>
            <a:grpSpLocks/>
          </p:cNvGrpSpPr>
          <p:nvPr/>
        </p:nvGrpSpPr>
        <p:grpSpPr bwMode="auto">
          <a:xfrm>
            <a:off x="549275" y="381000"/>
            <a:ext cx="7970838" cy="6273800"/>
            <a:chOff x="346" y="240"/>
            <a:chExt cx="5021" cy="3952"/>
          </a:xfrm>
        </p:grpSpPr>
        <p:sp>
          <p:nvSpPr>
            <p:cNvPr id="39944" name="Rectangle 4"/>
            <p:cNvSpPr>
              <a:spLocks noChangeArrowheads="1"/>
            </p:cNvSpPr>
            <p:nvPr/>
          </p:nvSpPr>
          <p:spPr bwMode="auto">
            <a:xfrm>
              <a:off x="754" y="330"/>
              <a:ext cx="4455" cy="3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5" name="Rectangle 5"/>
            <p:cNvSpPr>
              <a:spLocks noChangeArrowheads="1"/>
            </p:cNvSpPr>
            <p:nvPr/>
          </p:nvSpPr>
          <p:spPr bwMode="auto">
            <a:xfrm>
              <a:off x="754" y="330"/>
              <a:ext cx="4455" cy="3504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6" name="Line 6"/>
            <p:cNvSpPr>
              <a:spLocks noChangeShapeType="1"/>
            </p:cNvSpPr>
            <p:nvPr/>
          </p:nvSpPr>
          <p:spPr bwMode="auto">
            <a:xfrm>
              <a:off x="754" y="330"/>
              <a:ext cx="44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47" name="Freeform 7"/>
            <p:cNvSpPr>
              <a:spLocks/>
            </p:cNvSpPr>
            <p:nvPr/>
          </p:nvSpPr>
          <p:spPr bwMode="auto">
            <a:xfrm>
              <a:off x="754" y="330"/>
              <a:ext cx="4455" cy="3504"/>
            </a:xfrm>
            <a:custGeom>
              <a:avLst/>
              <a:gdLst>
                <a:gd name="T0" fmla="*/ 0 w 744"/>
                <a:gd name="T1" fmla="*/ 586 h 586"/>
                <a:gd name="T2" fmla="*/ 744 w 744"/>
                <a:gd name="T3" fmla="*/ 586 h 586"/>
                <a:gd name="T4" fmla="*/ 744 w 744"/>
                <a:gd name="T5" fmla="*/ 0 h 586"/>
                <a:gd name="T6" fmla="*/ 0 60000 65536"/>
                <a:gd name="T7" fmla="*/ 0 60000 65536"/>
                <a:gd name="T8" fmla="*/ 0 60000 65536"/>
                <a:gd name="T9" fmla="*/ 0 w 744"/>
                <a:gd name="T10" fmla="*/ 0 h 586"/>
                <a:gd name="T11" fmla="*/ 744 w 744"/>
                <a:gd name="T12" fmla="*/ 586 h 5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44" h="586">
                  <a:moveTo>
                    <a:pt x="0" y="586"/>
                  </a:moveTo>
                  <a:lnTo>
                    <a:pt x="744" y="586"/>
                  </a:lnTo>
                  <a:lnTo>
                    <a:pt x="74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8" name="Line 8"/>
            <p:cNvSpPr>
              <a:spLocks noChangeShapeType="1"/>
            </p:cNvSpPr>
            <p:nvPr/>
          </p:nvSpPr>
          <p:spPr bwMode="auto">
            <a:xfrm flipV="1">
              <a:off x="754" y="330"/>
              <a:ext cx="1" cy="350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49" name="Line 9"/>
            <p:cNvSpPr>
              <a:spLocks noChangeShapeType="1"/>
            </p:cNvSpPr>
            <p:nvPr/>
          </p:nvSpPr>
          <p:spPr bwMode="auto">
            <a:xfrm>
              <a:off x="754" y="3834"/>
              <a:ext cx="44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50" name="Line 10"/>
            <p:cNvSpPr>
              <a:spLocks noChangeShapeType="1"/>
            </p:cNvSpPr>
            <p:nvPr/>
          </p:nvSpPr>
          <p:spPr bwMode="auto">
            <a:xfrm flipV="1">
              <a:off x="754" y="330"/>
              <a:ext cx="1" cy="350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51" name="Line 11"/>
            <p:cNvSpPr>
              <a:spLocks noChangeShapeType="1"/>
            </p:cNvSpPr>
            <p:nvPr/>
          </p:nvSpPr>
          <p:spPr bwMode="auto">
            <a:xfrm flipV="1">
              <a:off x="754" y="3786"/>
              <a:ext cx="1" cy="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52" name="Line 12"/>
            <p:cNvSpPr>
              <a:spLocks noChangeShapeType="1"/>
            </p:cNvSpPr>
            <p:nvPr/>
          </p:nvSpPr>
          <p:spPr bwMode="auto">
            <a:xfrm>
              <a:off x="754" y="330"/>
              <a:ext cx="1" cy="4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53" name="Rectangle 13"/>
            <p:cNvSpPr>
              <a:spLocks noChangeArrowheads="1"/>
            </p:cNvSpPr>
            <p:nvPr/>
          </p:nvSpPr>
          <p:spPr bwMode="auto">
            <a:xfrm>
              <a:off x="592" y="3858"/>
              <a:ext cx="32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>
                  <a:latin typeface="Helvetica" pitchFamily="34" charset="0"/>
                </a:rPr>
                <a:t>1980</a:t>
              </a:r>
              <a:endParaRPr lang="en-US" altLang="zh-CN"/>
            </a:p>
          </p:txBody>
        </p:sp>
        <p:sp>
          <p:nvSpPr>
            <p:cNvPr id="39954" name="Line 14"/>
            <p:cNvSpPr>
              <a:spLocks noChangeShapeType="1"/>
            </p:cNvSpPr>
            <p:nvPr/>
          </p:nvSpPr>
          <p:spPr bwMode="auto">
            <a:xfrm flipV="1">
              <a:off x="1245" y="3786"/>
              <a:ext cx="1" cy="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55" name="Line 15"/>
            <p:cNvSpPr>
              <a:spLocks noChangeShapeType="1"/>
            </p:cNvSpPr>
            <p:nvPr/>
          </p:nvSpPr>
          <p:spPr bwMode="auto">
            <a:xfrm>
              <a:off x="1245" y="330"/>
              <a:ext cx="1" cy="4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56" name="Rectangle 16"/>
            <p:cNvSpPr>
              <a:spLocks noChangeArrowheads="1"/>
            </p:cNvSpPr>
            <p:nvPr/>
          </p:nvSpPr>
          <p:spPr bwMode="auto">
            <a:xfrm>
              <a:off x="1083" y="3858"/>
              <a:ext cx="32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>
                  <a:latin typeface="Helvetica" pitchFamily="34" charset="0"/>
                </a:rPr>
                <a:t>1982</a:t>
              </a:r>
              <a:endParaRPr lang="en-US" altLang="zh-CN"/>
            </a:p>
          </p:txBody>
        </p:sp>
        <p:sp>
          <p:nvSpPr>
            <p:cNvPr id="39957" name="Line 17"/>
            <p:cNvSpPr>
              <a:spLocks noChangeShapeType="1"/>
            </p:cNvSpPr>
            <p:nvPr/>
          </p:nvSpPr>
          <p:spPr bwMode="auto">
            <a:xfrm flipV="1">
              <a:off x="1742" y="3786"/>
              <a:ext cx="1" cy="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58" name="Line 18"/>
            <p:cNvSpPr>
              <a:spLocks noChangeShapeType="1"/>
            </p:cNvSpPr>
            <p:nvPr/>
          </p:nvSpPr>
          <p:spPr bwMode="auto">
            <a:xfrm>
              <a:off x="1742" y="330"/>
              <a:ext cx="1" cy="4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59" name="Rectangle 19"/>
            <p:cNvSpPr>
              <a:spLocks noChangeArrowheads="1"/>
            </p:cNvSpPr>
            <p:nvPr/>
          </p:nvSpPr>
          <p:spPr bwMode="auto">
            <a:xfrm>
              <a:off x="1580" y="3858"/>
              <a:ext cx="32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>
                  <a:latin typeface="Helvetica" pitchFamily="34" charset="0"/>
                </a:rPr>
                <a:t>1984</a:t>
              </a:r>
              <a:endParaRPr lang="en-US" altLang="zh-CN"/>
            </a:p>
          </p:txBody>
        </p:sp>
        <p:sp>
          <p:nvSpPr>
            <p:cNvPr id="39960" name="Line 20"/>
            <p:cNvSpPr>
              <a:spLocks noChangeShapeType="1"/>
            </p:cNvSpPr>
            <p:nvPr/>
          </p:nvSpPr>
          <p:spPr bwMode="auto">
            <a:xfrm flipV="1">
              <a:off x="2233" y="3786"/>
              <a:ext cx="1" cy="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61" name="Line 21"/>
            <p:cNvSpPr>
              <a:spLocks noChangeShapeType="1"/>
            </p:cNvSpPr>
            <p:nvPr/>
          </p:nvSpPr>
          <p:spPr bwMode="auto">
            <a:xfrm>
              <a:off x="2233" y="330"/>
              <a:ext cx="1" cy="4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62" name="Rectangle 22"/>
            <p:cNvSpPr>
              <a:spLocks noChangeArrowheads="1"/>
            </p:cNvSpPr>
            <p:nvPr/>
          </p:nvSpPr>
          <p:spPr bwMode="auto">
            <a:xfrm>
              <a:off x="2077" y="3858"/>
              <a:ext cx="32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>
                  <a:latin typeface="Helvetica" pitchFamily="34" charset="0"/>
                </a:rPr>
                <a:t>1986</a:t>
              </a:r>
              <a:endParaRPr lang="en-US" altLang="zh-CN"/>
            </a:p>
          </p:txBody>
        </p:sp>
        <p:sp>
          <p:nvSpPr>
            <p:cNvPr id="39963" name="Line 23"/>
            <p:cNvSpPr>
              <a:spLocks noChangeShapeType="1"/>
            </p:cNvSpPr>
            <p:nvPr/>
          </p:nvSpPr>
          <p:spPr bwMode="auto">
            <a:xfrm flipV="1">
              <a:off x="2730" y="3786"/>
              <a:ext cx="1" cy="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64" name="Line 24"/>
            <p:cNvSpPr>
              <a:spLocks noChangeShapeType="1"/>
            </p:cNvSpPr>
            <p:nvPr/>
          </p:nvSpPr>
          <p:spPr bwMode="auto">
            <a:xfrm>
              <a:off x="2730" y="330"/>
              <a:ext cx="1" cy="4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65" name="Rectangle 25"/>
            <p:cNvSpPr>
              <a:spLocks noChangeArrowheads="1"/>
            </p:cNvSpPr>
            <p:nvPr/>
          </p:nvSpPr>
          <p:spPr bwMode="auto">
            <a:xfrm>
              <a:off x="2568" y="3858"/>
              <a:ext cx="32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>
                  <a:latin typeface="Helvetica" pitchFamily="34" charset="0"/>
                </a:rPr>
                <a:t>1988</a:t>
              </a:r>
              <a:endParaRPr lang="en-US" altLang="zh-CN"/>
            </a:p>
          </p:txBody>
        </p:sp>
        <p:sp>
          <p:nvSpPr>
            <p:cNvPr id="39966" name="Line 26"/>
            <p:cNvSpPr>
              <a:spLocks noChangeShapeType="1"/>
            </p:cNvSpPr>
            <p:nvPr/>
          </p:nvSpPr>
          <p:spPr bwMode="auto">
            <a:xfrm flipV="1">
              <a:off x="3227" y="3786"/>
              <a:ext cx="1" cy="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67" name="Line 27"/>
            <p:cNvSpPr>
              <a:spLocks noChangeShapeType="1"/>
            </p:cNvSpPr>
            <p:nvPr/>
          </p:nvSpPr>
          <p:spPr bwMode="auto">
            <a:xfrm>
              <a:off x="3227" y="330"/>
              <a:ext cx="1" cy="4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68" name="Rectangle 28"/>
            <p:cNvSpPr>
              <a:spLocks noChangeArrowheads="1"/>
            </p:cNvSpPr>
            <p:nvPr/>
          </p:nvSpPr>
          <p:spPr bwMode="auto">
            <a:xfrm>
              <a:off x="3065" y="3858"/>
              <a:ext cx="32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>
                  <a:latin typeface="Helvetica" pitchFamily="34" charset="0"/>
                </a:rPr>
                <a:t>1990</a:t>
              </a:r>
              <a:endParaRPr lang="en-US" altLang="zh-CN"/>
            </a:p>
          </p:txBody>
        </p:sp>
        <p:sp>
          <p:nvSpPr>
            <p:cNvPr id="39969" name="Line 29"/>
            <p:cNvSpPr>
              <a:spLocks noChangeShapeType="1"/>
            </p:cNvSpPr>
            <p:nvPr/>
          </p:nvSpPr>
          <p:spPr bwMode="auto">
            <a:xfrm flipV="1">
              <a:off x="3724" y="3786"/>
              <a:ext cx="1" cy="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70" name="Line 30"/>
            <p:cNvSpPr>
              <a:spLocks noChangeShapeType="1"/>
            </p:cNvSpPr>
            <p:nvPr/>
          </p:nvSpPr>
          <p:spPr bwMode="auto">
            <a:xfrm>
              <a:off x="3724" y="330"/>
              <a:ext cx="1" cy="4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71" name="Rectangle 31"/>
            <p:cNvSpPr>
              <a:spLocks noChangeArrowheads="1"/>
            </p:cNvSpPr>
            <p:nvPr/>
          </p:nvSpPr>
          <p:spPr bwMode="auto">
            <a:xfrm>
              <a:off x="3562" y="3858"/>
              <a:ext cx="32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>
                  <a:latin typeface="Helvetica" pitchFamily="34" charset="0"/>
                </a:rPr>
                <a:t>1992</a:t>
              </a:r>
              <a:endParaRPr lang="en-US" altLang="zh-CN"/>
            </a:p>
          </p:txBody>
        </p:sp>
        <p:sp>
          <p:nvSpPr>
            <p:cNvPr id="39972" name="Line 32"/>
            <p:cNvSpPr>
              <a:spLocks noChangeShapeType="1"/>
            </p:cNvSpPr>
            <p:nvPr/>
          </p:nvSpPr>
          <p:spPr bwMode="auto">
            <a:xfrm flipV="1">
              <a:off x="4215" y="3786"/>
              <a:ext cx="1" cy="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73" name="Line 33"/>
            <p:cNvSpPr>
              <a:spLocks noChangeShapeType="1"/>
            </p:cNvSpPr>
            <p:nvPr/>
          </p:nvSpPr>
          <p:spPr bwMode="auto">
            <a:xfrm>
              <a:off x="4215" y="330"/>
              <a:ext cx="1" cy="4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74" name="Rectangle 34"/>
            <p:cNvSpPr>
              <a:spLocks noChangeArrowheads="1"/>
            </p:cNvSpPr>
            <p:nvPr/>
          </p:nvSpPr>
          <p:spPr bwMode="auto">
            <a:xfrm>
              <a:off x="4059" y="3858"/>
              <a:ext cx="32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>
                  <a:latin typeface="Helvetica" pitchFamily="34" charset="0"/>
                </a:rPr>
                <a:t>1994</a:t>
              </a:r>
              <a:endParaRPr lang="en-US" altLang="zh-CN"/>
            </a:p>
          </p:txBody>
        </p:sp>
        <p:sp>
          <p:nvSpPr>
            <p:cNvPr id="39975" name="Line 35"/>
            <p:cNvSpPr>
              <a:spLocks noChangeShapeType="1"/>
            </p:cNvSpPr>
            <p:nvPr/>
          </p:nvSpPr>
          <p:spPr bwMode="auto">
            <a:xfrm flipV="1">
              <a:off x="4712" y="3786"/>
              <a:ext cx="1" cy="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76" name="Line 36"/>
            <p:cNvSpPr>
              <a:spLocks noChangeShapeType="1"/>
            </p:cNvSpPr>
            <p:nvPr/>
          </p:nvSpPr>
          <p:spPr bwMode="auto">
            <a:xfrm>
              <a:off x="4712" y="330"/>
              <a:ext cx="1" cy="4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77" name="Rectangle 37"/>
            <p:cNvSpPr>
              <a:spLocks noChangeArrowheads="1"/>
            </p:cNvSpPr>
            <p:nvPr/>
          </p:nvSpPr>
          <p:spPr bwMode="auto">
            <a:xfrm>
              <a:off x="4550" y="3858"/>
              <a:ext cx="32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>
                  <a:latin typeface="Helvetica" pitchFamily="34" charset="0"/>
                </a:rPr>
                <a:t>1996</a:t>
              </a:r>
              <a:endParaRPr lang="en-US" altLang="zh-CN"/>
            </a:p>
          </p:txBody>
        </p:sp>
        <p:sp>
          <p:nvSpPr>
            <p:cNvPr id="39978" name="Line 38"/>
            <p:cNvSpPr>
              <a:spLocks noChangeShapeType="1"/>
            </p:cNvSpPr>
            <p:nvPr/>
          </p:nvSpPr>
          <p:spPr bwMode="auto">
            <a:xfrm flipV="1">
              <a:off x="5209" y="3786"/>
              <a:ext cx="1" cy="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79" name="Line 39"/>
            <p:cNvSpPr>
              <a:spLocks noChangeShapeType="1"/>
            </p:cNvSpPr>
            <p:nvPr/>
          </p:nvSpPr>
          <p:spPr bwMode="auto">
            <a:xfrm>
              <a:off x="5209" y="330"/>
              <a:ext cx="1" cy="4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80" name="Rectangle 40"/>
            <p:cNvSpPr>
              <a:spLocks noChangeArrowheads="1"/>
            </p:cNvSpPr>
            <p:nvPr/>
          </p:nvSpPr>
          <p:spPr bwMode="auto">
            <a:xfrm>
              <a:off x="5047" y="3858"/>
              <a:ext cx="32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>
                  <a:latin typeface="Helvetica" pitchFamily="34" charset="0"/>
                </a:rPr>
                <a:t>1998</a:t>
              </a:r>
              <a:endParaRPr lang="en-US" altLang="zh-CN"/>
            </a:p>
          </p:txBody>
        </p:sp>
        <p:sp>
          <p:nvSpPr>
            <p:cNvPr id="39981" name="Line 41"/>
            <p:cNvSpPr>
              <a:spLocks noChangeShapeType="1"/>
            </p:cNvSpPr>
            <p:nvPr/>
          </p:nvSpPr>
          <p:spPr bwMode="auto">
            <a:xfrm>
              <a:off x="754" y="3834"/>
              <a:ext cx="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82" name="Line 42"/>
            <p:cNvSpPr>
              <a:spLocks noChangeShapeType="1"/>
            </p:cNvSpPr>
            <p:nvPr/>
          </p:nvSpPr>
          <p:spPr bwMode="auto">
            <a:xfrm flipH="1">
              <a:off x="5161" y="3834"/>
              <a:ext cx="4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83" name="Rectangle 43"/>
            <p:cNvSpPr>
              <a:spLocks noChangeArrowheads="1"/>
            </p:cNvSpPr>
            <p:nvPr/>
          </p:nvSpPr>
          <p:spPr bwMode="auto">
            <a:xfrm>
              <a:off x="562" y="3750"/>
              <a:ext cx="16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>
                  <a:latin typeface="Helvetica" pitchFamily="34" charset="0"/>
                </a:rPr>
                <a:t>10</a:t>
              </a:r>
              <a:endParaRPr lang="en-US" altLang="zh-CN"/>
            </a:p>
          </p:txBody>
        </p:sp>
        <p:sp>
          <p:nvSpPr>
            <p:cNvPr id="39984" name="Line 44"/>
            <p:cNvSpPr>
              <a:spLocks noChangeShapeType="1"/>
            </p:cNvSpPr>
            <p:nvPr/>
          </p:nvSpPr>
          <p:spPr bwMode="auto">
            <a:xfrm>
              <a:off x="754" y="3248"/>
              <a:ext cx="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85" name="Line 45"/>
            <p:cNvSpPr>
              <a:spLocks noChangeShapeType="1"/>
            </p:cNvSpPr>
            <p:nvPr/>
          </p:nvSpPr>
          <p:spPr bwMode="auto">
            <a:xfrm flipH="1">
              <a:off x="5161" y="3248"/>
              <a:ext cx="4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86" name="Rectangle 46"/>
            <p:cNvSpPr>
              <a:spLocks noChangeArrowheads="1"/>
            </p:cNvSpPr>
            <p:nvPr/>
          </p:nvSpPr>
          <p:spPr bwMode="auto">
            <a:xfrm>
              <a:off x="562" y="3164"/>
              <a:ext cx="16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>
                  <a:latin typeface="Helvetica" pitchFamily="34" charset="0"/>
                </a:rPr>
                <a:t>20</a:t>
              </a:r>
              <a:endParaRPr lang="en-US" altLang="zh-CN"/>
            </a:p>
          </p:txBody>
        </p:sp>
        <p:sp>
          <p:nvSpPr>
            <p:cNvPr id="39987" name="Line 47"/>
            <p:cNvSpPr>
              <a:spLocks noChangeShapeType="1"/>
            </p:cNvSpPr>
            <p:nvPr/>
          </p:nvSpPr>
          <p:spPr bwMode="auto">
            <a:xfrm>
              <a:off x="754" y="2668"/>
              <a:ext cx="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88" name="Line 48"/>
            <p:cNvSpPr>
              <a:spLocks noChangeShapeType="1"/>
            </p:cNvSpPr>
            <p:nvPr/>
          </p:nvSpPr>
          <p:spPr bwMode="auto">
            <a:xfrm flipH="1">
              <a:off x="5161" y="2668"/>
              <a:ext cx="4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89" name="Rectangle 49"/>
            <p:cNvSpPr>
              <a:spLocks noChangeArrowheads="1"/>
            </p:cNvSpPr>
            <p:nvPr/>
          </p:nvSpPr>
          <p:spPr bwMode="auto">
            <a:xfrm>
              <a:off x="562" y="2578"/>
              <a:ext cx="16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>
                  <a:latin typeface="Helvetica" pitchFamily="34" charset="0"/>
                </a:rPr>
                <a:t>30</a:t>
              </a:r>
              <a:endParaRPr lang="en-US" altLang="zh-CN"/>
            </a:p>
          </p:txBody>
        </p:sp>
        <p:sp>
          <p:nvSpPr>
            <p:cNvPr id="39990" name="Line 50"/>
            <p:cNvSpPr>
              <a:spLocks noChangeShapeType="1"/>
            </p:cNvSpPr>
            <p:nvPr/>
          </p:nvSpPr>
          <p:spPr bwMode="auto">
            <a:xfrm>
              <a:off x="754" y="2082"/>
              <a:ext cx="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91" name="Line 51"/>
            <p:cNvSpPr>
              <a:spLocks noChangeShapeType="1"/>
            </p:cNvSpPr>
            <p:nvPr/>
          </p:nvSpPr>
          <p:spPr bwMode="auto">
            <a:xfrm flipH="1">
              <a:off x="5161" y="2082"/>
              <a:ext cx="4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92" name="Rectangle 52"/>
            <p:cNvSpPr>
              <a:spLocks noChangeArrowheads="1"/>
            </p:cNvSpPr>
            <p:nvPr/>
          </p:nvSpPr>
          <p:spPr bwMode="auto">
            <a:xfrm>
              <a:off x="562" y="1992"/>
              <a:ext cx="16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>
                  <a:latin typeface="Helvetica" pitchFamily="34" charset="0"/>
                </a:rPr>
                <a:t>40</a:t>
              </a:r>
              <a:endParaRPr lang="en-US" altLang="zh-CN"/>
            </a:p>
          </p:txBody>
        </p:sp>
        <p:sp>
          <p:nvSpPr>
            <p:cNvPr id="39993" name="Line 53"/>
            <p:cNvSpPr>
              <a:spLocks noChangeShapeType="1"/>
            </p:cNvSpPr>
            <p:nvPr/>
          </p:nvSpPr>
          <p:spPr bwMode="auto">
            <a:xfrm>
              <a:off x="754" y="1496"/>
              <a:ext cx="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94" name="Line 54"/>
            <p:cNvSpPr>
              <a:spLocks noChangeShapeType="1"/>
            </p:cNvSpPr>
            <p:nvPr/>
          </p:nvSpPr>
          <p:spPr bwMode="auto">
            <a:xfrm flipH="1">
              <a:off x="5161" y="1496"/>
              <a:ext cx="4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95" name="Rectangle 55"/>
            <p:cNvSpPr>
              <a:spLocks noChangeArrowheads="1"/>
            </p:cNvSpPr>
            <p:nvPr/>
          </p:nvSpPr>
          <p:spPr bwMode="auto">
            <a:xfrm>
              <a:off x="562" y="1412"/>
              <a:ext cx="16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>
                  <a:latin typeface="Helvetica" pitchFamily="34" charset="0"/>
                </a:rPr>
                <a:t>50</a:t>
              </a:r>
              <a:endParaRPr lang="en-US" altLang="zh-CN"/>
            </a:p>
          </p:txBody>
        </p:sp>
        <p:sp>
          <p:nvSpPr>
            <p:cNvPr id="39996" name="Line 56"/>
            <p:cNvSpPr>
              <a:spLocks noChangeShapeType="1"/>
            </p:cNvSpPr>
            <p:nvPr/>
          </p:nvSpPr>
          <p:spPr bwMode="auto">
            <a:xfrm>
              <a:off x="754" y="910"/>
              <a:ext cx="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97" name="Line 57"/>
            <p:cNvSpPr>
              <a:spLocks noChangeShapeType="1"/>
            </p:cNvSpPr>
            <p:nvPr/>
          </p:nvSpPr>
          <p:spPr bwMode="auto">
            <a:xfrm flipH="1">
              <a:off x="5161" y="910"/>
              <a:ext cx="4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98" name="Rectangle 58"/>
            <p:cNvSpPr>
              <a:spLocks noChangeArrowheads="1"/>
            </p:cNvSpPr>
            <p:nvPr/>
          </p:nvSpPr>
          <p:spPr bwMode="auto">
            <a:xfrm>
              <a:off x="562" y="826"/>
              <a:ext cx="16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>
                  <a:latin typeface="Helvetica" pitchFamily="34" charset="0"/>
                </a:rPr>
                <a:t>60</a:t>
              </a:r>
              <a:endParaRPr lang="en-US" altLang="zh-CN"/>
            </a:p>
          </p:txBody>
        </p:sp>
        <p:sp>
          <p:nvSpPr>
            <p:cNvPr id="39999" name="Line 59"/>
            <p:cNvSpPr>
              <a:spLocks noChangeShapeType="1"/>
            </p:cNvSpPr>
            <p:nvPr/>
          </p:nvSpPr>
          <p:spPr bwMode="auto">
            <a:xfrm>
              <a:off x="754" y="330"/>
              <a:ext cx="4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00" name="Line 60"/>
            <p:cNvSpPr>
              <a:spLocks noChangeShapeType="1"/>
            </p:cNvSpPr>
            <p:nvPr/>
          </p:nvSpPr>
          <p:spPr bwMode="auto">
            <a:xfrm flipH="1">
              <a:off x="5161" y="330"/>
              <a:ext cx="4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01" name="Rectangle 61"/>
            <p:cNvSpPr>
              <a:spLocks noChangeArrowheads="1"/>
            </p:cNvSpPr>
            <p:nvPr/>
          </p:nvSpPr>
          <p:spPr bwMode="auto">
            <a:xfrm>
              <a:off x="562" y="240"/>
              <a:ext cx="16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>
                  <a:latin typeface="Helvetica" pitchFamily="34" charset="0"/>
                </a:rPr>
                <a:t>70</a:t>
              </a:r>
              <a:endParaRPr lang="en-US" altLang="zh-CN"/>
            </a:p>
          </p:txBody>
        </p:sp>
        <p:sp>
          <p:nvSpPr>
            <p:cNvPr id="40002" name="Line 62"/>
            <p:cNvSpPr>
              <a:spLocks noChangeShapeType="1"/>
            </p:cNvSpPr>
            <p:nvPr/>
          </p:nvSpPr>
          <p:spPr bwMode="auto">
            <a:xfrm>
              <a:off x="754" y="330"/>
              <a:ext cx="4455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03" name="Freeform 63"/>
            <p:cNvSpPr>
              <a:spLocks/>
            </p:cNvSpPr>
            <p:nvPr/>
          </p:nvSpPr>
          <p:spPr bwMode="auto">
            <a:xfrm>
              <a:off x="754" y="330"/>
              <a:ext cx="4455" cy="3504"/>
            </a:xfrm>
            <a:custGeom>
              <a:avLst/>
              <a:gdLst>
                <a:gd name="T0" fmla="*/ 0 w 744"/>
                <a:gd name="T1" fmla="*/ 586 h 586"/>
                <a:gd name="T2" fmla="*/ 744 w 744"/>
                <a:gd name="T3" fmla="*/ 586 h 586"/>
                <a:gd name="T4" fmla="*/ 744 w 744"/>
                <a:gd name="T5" fmla="*/ 0 h 586"/>
                <a:gd name="T6" fmla="*/ 0 60000 65536"/>
                <a:gd name="T7" fmla="*/ 0 60000 65536"/>
                <a:gd name="T8" fmla="*/ 0 60000 65536"/>
                <a:gd name="T9" fmla="*/ 0 w 744"/>
                <a:gd name="T10" fmla="*/ 0 h 586"/>
                <a:gd name="T11" fmla="*/ 744 w 744"/>
                <a:gd name="T12" fmla="*/ 586 h 5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44" h="586">
                  <a:moveTo>
                    <a:pt x="0" y="586"/>
                  </a:moveTo>
                  <a:lnTo>
                    <a:pt x="744" y="586"/>
                  </a:lnTo>
                  <a:lnTo>
                    <a:pt x="744" y="0"/>
                  </a:lnTo>
                </a:path>
              </a:pathLst>
            </a:custGeom>
            <a:noFill/>
            <a:ln w="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04" name="Line 64"/>
            <p:cNvSpPr>
              <a:spLocks noChangeShapeType="1"/>
            </p:cNvSpPr>
            <p:nvPr/>
          </p:nvSpPr>
          <p:spPr bwMode="auto">
            <a:xfrm flipV="1">
              <a:off x="754" y="330"/>
              <a:ext cx="1" cy="3504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9377" name="Freeform 65"/>
            <p:cNvSpPr>
              <a:spLocks/>
            </p:cNvSpPr>
            <p:nvPr/>
          </p:nvSpPr>
          <p:spPr bwMode="auto">
            <a:xfrm>
              <a:off x="754" y="426"/>
              <a:ext cx="4210" cy="3007"/>
            </a:xfrm>
            <a:custGeom>
              <a:avLst/>
              <a:gdLst/>
              <a:ahLst/>
              <a:cxnLst>
                <a:cxn ang="0">
                  <a:pos x="0" y="705"/>
                </a:cxn>
                <a:cxn ang="0">
                  <a:pos x="245" y="0"/>
                </a:cxn>
                <a:cxn ang="0">
                  <a:pos x="491" y="1201"/>
                </a:cxn>
                <a:cxn ang="0">
                  <a:pos x="736" y="1787"/>
                </a:cxn>
                <a:cxn ang="0">
                  <a:pos x="988" y="1548"/>
                </a:cxn>
                <a:cxn ang="0">
                  <a:pos x="1233" y="2373"/>
                </a:cxn>
                <a:cxn ang="0">
                  <a:pos x="1479" y="1871"/>
                </a:cxn>
                <a:cxn ang="0">
                  <a:pos x="1730" y="1273"/>
                </a:cxn>
                <a:cxn ang="0">
                  <a:pos x="1976" y="1686"/>
                </a:cxn>
                <a:cxn ang="0">
                  <a:pos x="2227" y="1429"/>
                </a:cxn>
                <a:cxn ang="0">
                  <a:pos x="2473" y="2122"/>
                </a:cxn>
                <a:cxn ang="0">
                  <a:pos x="2718" y="3007"/>
                </a:cxn>
                <a:cxn ang="0">
                  <a:pos x="2970" y="2792"/>
                </a:cxn>
                <a:cxn ang="0">
                  <a:pos x="3215" y="2331"/>
                </a:cxn>
                <a:cxn ang="0">
                  <a:pos x="3461" y="2792"/>
                </a:cxn>
                <a:cxn ang="0">
                  <a:pos x="3712" y="2732"/>
                </a:cxn>
                <a:cxn ang="0">
                  <a:pos x="3958" y="2840"/>
                </a:cxn>
                <a:cxn ang="0">
                  <a:pos x="4210" y="2708"/>
                </a:cxn>
              </a:cxnLst>
              <a:rect l="0" t="0" r="r" b="b"/>
              <a:pathLst>
                <a:path w="4210" h="3007">
                  <a:moveTo>
                    <a:pt x="0" y="705"/>
                  </a:moveTo>
                  <a:lnTo>
                    <a:pt x="245" y="0"/>
                  </a:lnTo>
                  <a:lnTo>
                    <a:pt x="491" y="1201"/>
                  </a:lnTo>
                  <a:lnTo>
                    <a:pt x="736" y="1787"/>
                  </a:lnTo>
                  <a:lnTo>
                    <a:pt x="988" y="1548"/>
                  </a:lnTo>
                  <a:lnTo>
                    <a:pt x="1233" y="2373"/>
                  </a:lnTo>
                  <a:lnTo>
                    <a:pt x="1479" y="1871"/>
                  </a:lnTo>
                  <a:lnTo>
                    <a:pt x="1730" y="1273"/>
                  </a:lnTo>
                  <a:lnTo>
                    <a:pt x="1976" y="1686"/>
                  </a:lnTo>
                  <a:lnTo>
                    <a:pt x="2227" y="1429"/>
                  </a:lnTo>
                  <a:lnTo>
                    <a:pt x="2473" y="2122"/>
                  </a:lnTo>
                  <a:lnTo>
                    <a:pt x="2718" y="3007"/>
                  </a:lnTo>
                  <a:lnTo>
                    <a:pt x="2970" y="2792"/>
                  </a:lnTo>
                  <a:lnTo>
                    <a:pt x="3215" y="2331"/>
                  </a:lnTo>
                  <a:lnTo>
                    <a:pt x="3461" y="2792"/>
                  </a:lnTo>
                  <a:lnTo>
                    <a:pt x="3712" y="2732"/>
                  </a:lnTo>
                  <a:lnTo>
                    <a:pt x="3958" y="2840"/>
                  </a:lnTo>
                  <a:lnTo>
                    <a:pt x="4210" y="2708"/>
                  </a:lnTo>
                </a:path>
              </a:pathLst>
            </a:custGeom>
            <a:ln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40006" name="Oval 66"/>
            <p:cNvSpPr>
              <a:spLocks noChangeArrowheads="1"/>
            </p:cNvSpPr>
            <p:nvPr/>
          </p:nvSpPr>
          <p:spPr bwMode="auto">
            <a:xfrm>
              <a:off x="730" y="1107"/>
              <a:ext cx="54" cy="54"/>
            </a:xfrm>
            <a:prstGeom prst="ellips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07" name="Oval 67"/>
            <p:cNvSpPr>
              <a:spLocks noChangeArrowheads="1"/>
            </p:cNvSpPr>
            <p:nvPr/>
          </p:nvSpPr>
          <p:spPr bwMode="auto">
            <a:xfrm>
              <a:off x="969" y="402"/>
              <a:ext cx="60" cy="53"/>
            </a:xfrm>
            <a:prstGeom prst="ellips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08" name="Oval 68"/>
            <p:cNvSpPr>
              <a:spLocks noChangeArrowheads="1"/>
            </p:cNvSpPr>
            <p:nvPr/>
          </p:nvSpPr>
          <p:spPr bwMode="auto">
            <a:xfrm>
              <a:off x="1221" y="1603"/>
              <a:ext cx="54" cy="54"/>
            </a:xfrm>
            <a:prstGeom prst="ellips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09" name="Oval 69"/>
            <p:cNvSpPr>
              <a:spLocks noChangeArrowheads="1"/>
            </p:cNvSpPr>
            <p:nvPr/>
          </p:nvSpPr>
          <p:spPr bwMode="auto">
            <a:xfrm>
              <a:off x="1466" y="2189"/>
              <a:ext cx="54" cy="54"/>
            </a:xfrm>
            <a:prstGeom prst="ellips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0" name="Oval 70"/>
            <p:cNvSpPr>
              <a:spLocks noChangeArrowheads="1"/>
            </p:cNvSpPr>
            <p:nvPr/>
          </p:nvSpPr>
          <p:spPr bwMode="auto">
            <a:xfrm>
              <a:off x="1718" y="1950"/>
              <a:ext cx="54" cy="54"/>
            </a:xfrm>
            <a:prstGeom prst="ellips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1" name="Oval 71"/>
            <p:cNvSpPr>
              <a:spLocks noChangeArrowheads="1"/>
            </p:cNvSpPr>
            <p:nvPr/>
          </p:nvSpPr>
          <p:spPr bwMode="auto">
            <a:xfrm>
              <a:off x="1963" y="2769"/>
              <a:ext cx="54" cy="60"/>
            </a:xfrm>
            <a:prstGeom prst="ellips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2" name="Oval 72"/>
            <p:cNvSpPr>
              <a:spLocks noChangeArrowheads="1"/>
            </p:cNvSpPr>
            <p:nvPr/>
          </p:nvSpPr>
          <p:spPr bwMode="auto">
            <a:xfrm>
              <a:off x="2209" y="2273"/>
              <a:ext cx="60" cy="54"/>
            </a:xfrm>
            <a:prstGeom prst="ellips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3" name="Oval 73"/>
            <p:cNvSpPr>
              <a:spLocks noChangeArrowheads="1"/>
            </p:cNvSpPr>
            <p:nvPr/>
          </p:nvSpPr>
          <p:spPr bwMode="auto">
            <a:xfrm>
              <a:off x="2460" y="1675"/>
              <a:ext cx="54" cy="60"/>
            </a:xfrm>
            <a:prstGeom prst="ellips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4" name="Oval 74"/>
            <p:cNvSpPr>
              <a:spLocks noChangeArrowheads="1"/>
            </p:cNvSpPr>
            <p:nvPr/>
          </p:nvSpPr>
          <p:spPr bwMode="auto">
            <a:xfrm>
              <a:off x="2706" y="2088"/>
              <a:ext cx="54" cy="54"/>
            </a:xfrm>
            <a:prstGeom prst="ellips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5" name="Oval 75"/>
            <p:cNvSpPr>
              <a:spLocks noChangeArrowheads="1"/>
            </p:cNvSpPr>
            <p:nvPr/>
          </p:nvSpPr>
          <p:spPr bwMode="auto">
            <a:xfrm>
              <a:off x="2951" y="1831"/>
              <a:ext cx="60" cy="53"/>
            </a:xfrm>
            <a:prstGeom prst="ellips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6" name="Oval 76"/>
            <p:cNvSpPr>
              <a:spLocks noChangeArrowheads="1"/>
            </p:cNvSpPr>
            <p:nvPr/>
          </p:nvSpPr>
          <p:spPr bwMode="auto">
            <a:xfrm>
              <a:off x="3203" y="2524"/>
              <a:ext cx="54" cy="54"/>
            </a:xfrm>
            <a:prstGeom prst="ellips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7" name="Oval 77"/>
            <p:cNvSpPr>
              <a:spLocks noChangeArrowheads="1"/>
            </p:cNvSpPr>
            <p:nvPr/>
          </p:nvSpPr>
          <p:spPr bwMode="auto">
            <a:xfrm>
              <a:off x="3448" y="3409"/>
              <a:ext cx="54" cy="54"/>
            </a:xfrm>
            <a:prstGeom prst="ellips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8" name="Oval 78"/>
            <p:cNvSpPr>
              <a:spLocks noChangeArrowheads="1"/>
            </p:cNvSpPr>
            <p:nvPr/>
          </p:nvSpPr>
          <p:spPr bwMode="auto">
            <a:xfrm>
              <a:off x="3700" y="3194"/>
              <a:ext cx="54" cy="54"/>
            </a:xfrm>
            <a:prstGeom prst="ellips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9" name="Oval 79"/>
            <p:cNvSpPr>
              <a:spLocks noChangeArrowheads="1"/>
            </p:cNvSpPr>
            <p:nvPr/>
          </p:nvSpPr>
          <p:spPr bwMode="auto">
            <a:xfrm>
              <a:off x="3945" y="2734"/>
              <a:ext cx="54" cy="53"/>
            </a:xfrm>
            <a:prstGeom prst="ellips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20" name="Oval 80"/>
            <p:cNvSpPr>
              <a:spLocks noChangeArrowheads="1"/>
            </p:cNvSpPr>
            <p:nvPr/>
          </p:nvSpPr>
          <p:spPr bwMode="auto">
            <a:xfrm>
              <a:off x="4191" y="3194"/>
              <a:ext cx="60" cy="54"/>
            </a:xfrm>
            <a:prstGeom prst="ellips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21" name="Oval 81"/>
            <p:cNvSpPr>
              <a:spLocks noChangeArrowheads="1"/>
            </p:cNvSpPr>
            <p:nvPr/>
          </p:nvSpPr>
          <p:spPr bwMode="auto">
            <a:xfrm>
              <a:off x="4443" y="3128"/>
              <a:ext cx="53" cy="60"/>
            </a:xfrm>
            <a:prstGeom prst="ellips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22" name="Oval 82"/>
            <p:cNvSpPr>
              <a:spLocks noChangeArrowheads="1"/>
            </p:cNvSpPr>
            <p:nvPr/>
          </p:nvSpPr>
          <p:spPr bwMode="auto">
            <a:xfrm>
              <a:off x="4688" y="3242"/>
              <a:ext cx="54" cy="54"/>
            </a:xfrm>
            <a:prstGeom prst="ellips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23" name="Oval 83"/>
            <p:cNvSpPr>
              <a:spLocks noChangeArrowheads="1"/>
            </p:cNvSpPr>
            <p:nvPr/>
          </p:nvSpPr>
          <p:spPr bwMode="auto">
            <a:xfrm>
              <a:off x="4934" y="3110"/>
              <a:ext cx="59" cy="60"/>
            </a:xfrm>
            <a:prstGeom prst="ellips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24" name="Freeform 102"/>
            <p:cNvSpPr>
              <a:spLocks/>
            </p:cNvSpPr>
            <p:nvPr/>
          </p:nvSpPr>
          <p:spPr bwMode="auto">
            <a:xfrm>
              <a:off x="4928" y="3104"/>
              <a:ext cx="65" cy="54"/>
            </a:xfrm>
            <a:custGeom>
              <a:avLst/>
              <a:gdLst>
                <a:gd name="T0" fmla="*/ 0 w 65"/>
                <a:gd name="T1" fmla="*/ 54 h 54"/>
                <a:gd name="T2" fmla="*/ 65 w 65"/>
                <a:gd name="T3" fmla="*/ 54 h 54"/>
                <a:gd name="T4" fmla="*/ 36 w 65"/>
                <a:gd name="T5" fmla="*/ 0 h 54"/>
                <a:gd name="T6" fmla="*/ 0 w 65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5"/>
                <a:gd name="T13" fmla="*/ 0 h 54"/>
                <a:gd name="T14" fmla="*/ 65 w 65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5" h="54">
                  <a:moveTo>
                    <a:pt x="0" y="54"/>
                  </a:moveTo>
                  <a:lnTo>
                    <a:pt x="65" y="54"/>
                  </a:lnTo>
                  <a:lnTo>
                    <a:pt x="36" y="0"/>
                  </a:lnTo>
                  <a:lnTo>
                    <a:pt x="0" y="54"/>
                  </a:lnTo>
                  <a:close/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25" name="Rectangle 103"/>
            <p:cNvSpPr>
              <a:spLocks noChangeArrowheads="1"/>
            </p:cNvSpPr>
            <p:nvPr/>
          </p:nvSpPr>
          <p:spPr bwMode="auto">
            <a:xfrm>
              <a:off x="2820" y="4019"/>
              <a:ext cx="31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>
                  <a:latin typeface="Helvetica" pitchFamily="34" charset="0"/>
                </a:rPr>
                <a:t>Year</a:t>
              </a:r>
              <a:endParaRPr lang="en-US" altLang="zh-CN"/>
            </a:p>
          </p:txBody>
        </p:sp>
        <p:sp>
          <p:nvSpPr>
            <p:cNvPr id="40026" name="Rectangle 104"/>
            <p:cNvSpPr>
              <a:spLocks noChangeArrowheads="1"/>
            </p:cNvSpPr>
            <p:nvPr/>
          </p:nvSpPr>
          <p:spPr bwMode="auto">
            <a:xfrm rot="-5400000">
              <a:off x="-107" y="1999"/>
              <a:ext cx="10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>
                  <a:latin typeface="Helvetica" pitchFamily="34" charset="0"/>
                </a:rPr>
                <a:t>Life expectancy</a:t>
              </a:r>
              <a:endParaRPr lang="en-US" altLang="zh-CN"/>
            </a:p>
          </p:txBody>
        </p:sp>
        <p:sp>
          <p:nvSpPr>
            <p:cNvPr id="40027" name="Rectangle 105"/>
            <p:cNvSpPr>
              <a:spLocks noChangeArrowheads="1"/>
            </p:cNvSpPr>
            <p:nvPr/>
          </p:nvSpPr>
          <p:spPr bwMode="auto">
            <a:xfrm>
              <a:off x="736" y="3762"/>
              <a:ext cx="4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>
                  <a:latin typeface="Helvetica" pitchFamily="34" charset="0"/>
                </a:rPr>
                <a:t> </a:t>
              </a:r>
              <a:endParaRPr lang="en-US" altLang="zh-CN"/>
            </a:p>
          </p:txBody>
        </p:sp>
        <p:sp>
          <p:nvSpPr>
            <p:cNvPr id="40028" name="Rectangle 106"/>
            <p:cNvSpPr>
              <a:spLocks noChangeArrowheads="1"/>
            </p:cNvSpPr>
            <p:nvPr/>
          </p:nvSpPr>
          <p:spPr bwMode="auto">
            <a:xfrm>
              <a:off x="5197" y="246"/>
              <a:ext cx="4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>
                  <a:latin typeface="Helvetica" pitchFamily="34" charset="0"/>
                </a:rPr>
                <a:t> </a:t>
              </a:r>
              <a:endParaRPr lang="en-US" altLang="zh-CN"/>
            </a:p>
          </p:txBody>
        </p:sp>
        <p:sp>
          <p:nvSpPr>
            <p:cNvPr id="40029" name="Rectangle 107"/>
            <p:cNvSpPr>
              <a:spLocks noChangeArrowheads="1"/>
            </p:cNvSpPr>
            <p:nvPr/>
          </p:nvSpPr>
          <p:spPr bwMode="auto">
            <a:xfrm>
              <a:off x="4287" y="384"/>
              <a:ext cx="880" cy="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30" name="Rectangle 108"/>
            <p:cNvSpPr>
              <a:spLocks noChangeArrowheads="1"/>
            </p:cNvSpPr>
            <p:nvPr/>
          </p:nvSpPr>
          <p:spPr bwMode="auto">
            <a:xfrm>
              <a:off x="4287" y="384"/>
              <a:ext cx="880" cy="400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31" name="Line 109"/>
            <p:cNvSpPr>
              <a:spLocks noChangeShapeType="1"/>
            </p:cNvSpPr>
            <p:nvPr/>
          </p:nvSpPr>
          <p:spPr bwMode="auto">
            <a:xfrm>
              <a:off x="4287" y="384"/>
              <a:ext cx="88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32" name="Freeform 110"/>
            <p:cNvSpPr>
              <a:spLocks/>
            </p:cNvSpPr>
            <p:nvPr/>
          </p:nvSpPr>
          <p:spPr bwMode="auto">
            <a:xfrm>
              <a:off x="4287" y="384"/>
              <a:ext cx="880" cy="400"/>
            </a:xfrm>
            <a:custGeom>
              <a:avLst/>
              <a:gdLst>
                <a:gd name="T0" fmla="*/ 0 w 147"/>
                <a:gd name="T1" fmla="*/ 67 h 67"/>
                <a:gd name="T2" fmla="*/ 147 w 147"/>
                <a:gd name="T3" fmla="*/ 67 h 67"/>
                <a:gd name="T4" fmla="*/ 147 w 147"/>
                <a:gd name="T5" fmla="*/ 0 h 67"/>
                <a:gd name="T6" fmla="*/ 0 60000 65536"/>
                <a:gd name="T7" fmla="*/ 0 60000 65536"/>
                <a:gd name="T8" fmla="*/ 0 60000 65536"/>
                <a:gd name="T9" fmla="*/ 0 w 147"/>
                <a:gd name="T10" fmla="*/ 0 h 67"/>
                <a:gd name="T11" fmla="*/ 147 w 147"/>
                <a:gd name="T12" fmla="*/ 67 h 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7" h="67">
                  <a:moveTo>
                    <a:pt x="0" y="67"/>
                  </a:moveTo>
                  <a:lnTo>
                    <a:pt x="147" y="67"/>
                  </a:lnTo>
                  <a:lnTo>
                    <a:pt x="147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33" name="Line 111"/>
            <p:cNvSpPr>
              <a:spLocks noChangeShapeType="1"/>
            </p:cNvSpPr>
            <p:nvPr/>
          </p:nvSpPr>
          <p:spPr bwMode="auto">
            <a:xfrm flipV="1">
              <a:off x="4287" y="384"/>
              <a:ext cx="1" cy="40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34" name="Line 112"/>
            <p:cNvSpPr>
              <a:spLocks noChangeShapeType="1"/>
            </p:cNvSpPr>
            <p:nvPr/>
          </p:nvSpPr>
          <p:spPr bwMode="auto">
            <a:xfrm>
              <a:off x="4287" y="784"/>
              <a:ext cx="88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35" name="Freeform 113"/>
            <p:cNvSpPr>
              <a:spLocks/>
            </p:cNvSpPr>
            <p:nvPr/>
          </p:nvSpPr>
          <p:spPr bwMode="auto">
            <a:xfrm>
              <a:off x="4287" y="384"/>
              <a:ext cx="880" cy="400"/>
            </a:xfrm>
            <a:custGeom>
              <a:avLst/>
              <a:gdLst>
                <a:gd name="T0" fmla="*/ 0 w 147"/>
                <a:gd name="T1" fmla="*/ 67 h 67"/>
                <a:gd name="T2" fmla="*/ 0 w 147"/>
                <a:gd name="T3" fmla="*/ 0 h 67"/>
                <a:gd name="T4" fmla="*/ 147 w 147"/>
                <a:gd name="T5" fmla="*/ 0 h 67"/>
                <a:gd name="T6" fmla="*/ 0 60000 65536"/>
                <a:gd name="T7" fmla="*/ 0 60000 65536"/>
                <a:gd name="T8" fmla="*/ 0 60000 65536"/>
                <a:gd name="T9" fmla="*/ 0 w 147"/>
                <a:gd name="T10" fmla="*/ 0 h 67"/>
                <a:gd name="T11" fmla="*/ 147 w 147"/>
                <a:gd name="T12" fmla="*/ 67 h 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7" h="67">
                  <a:moveTo>
                    <a:pt x="0" y="67"/>
                  </a:moveTo>
                  <a:lnTo>
                    <a:pt x="0" y="0"/>
                  </a:lnTo>
                  <a:lnTo>
                    <a:pt x="147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36" name="Freeform 114"/>
            <p:cNvSpPr>
              <a:spLocks/>
            </p:cNvSpPr>
            <p:nvPr/>
          </p:nvSpPr>
          <p:spPr bwMode="auto">
            <a:xfrm>
              <a:off x="4287" y="384"/>
              <a:ext cx="880" cy="400"/>
            </a:xfrm>
            <a:custGeom>
              <a:avLst/>
              <a:gdLst>
                <a:gd name="T0" fmla="*/ 0 w 147"/>
                <a:gd name="T1" fmla="*/ 67 h 67"/>
                <a:gd name="T2" fmla="*/ 147 w 147"/>
                <a:gd name="T3" fmla="*/ 67 h 67"/>
                <a:gd name="T4" fmla="*/ 147 w 147"/>
                <a:gd name="T5" fmla="*/ 0 h 67"/>
                <a:gd name="T6" fmla="*/ 0 60000 65536"/>
                <a:gd name="T7" fmla="*/ 0 60000 65536"/>
                <a:gd name="T8" fmla="*/ 0 60000 65536"/>
                <a:gd name="T9" fmla="*/ 0 w 147"/>
                <a:gd name="T10" fmla="*/ 0 h 67"/>
                <a:gd name="T11" fmla="*/ 147 w 147"/>
                <a:gd name="T12" fmla="*/ 67 h 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7" h="67">
                  <a:moveTo>
                    <a:pt x="0" y="67"/>
                  </a:moveTo>
                  <a:lnTo>
                    <a:pt x="147" y="67"/>
                  </a:lnTo>
                  <a:lnTo>
                    <a:pt x="147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37" name="Line 115"/>
            <p:cNvSpPr>
              <a:spLocks noChangeShapeType="1"/>
            </p:cNvSpPr>
            <p:nvPr/>
          </p:nvSpPr>
          <p:spPr bwMode="auto">
            <a:xfrm flipV="1">
              <a:off x="4287" y="384"/>
              <a:ext cx="1" cy="40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38" name="Rectangle 116"/>
            <p:cNvSpPr>
              <a:spLocks noChangeArrowheads="1"/>
            </p:cNvSpPr>
            <p:nvPr/>
          </p:nvSpPr>
          <p:spPr bwMode="auto">
            <a:xfrm>
              <a:off x="4676" y="414"/>
              <a:ext cx="44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>
                  <a:latin typeface="Helvetica" pitchFamily="34" charset="0"/>
                </a:rPr>
                <a:t>period</a:t>
              </a:r>
              <a:endParaRPr lang="en-US" altLang="zh-CN"/>
            </a:p>
          </p:txBody>
        </p:sp>
        <p:sp>
          <p:nvSpPr>
            <p:cNvPr id="269429" name="Line 117"/>
            <p:cNvSpPr>
              <a:spLocks noChangeShapeType="1"/>
            </p:cNvSpPr>
            <p:nvPr/>
          </p:nvSpPr>
          <p:spPr bwMode="auto">
            <a:xfrm>
              <a:off x="4341" y="491"/>
              <a:ext cx="305" cy="1"/>
            </a:xfrm>
            <a:prstGeom prst="line">
              <a:avLst/>
            </a:prstGeom>
            <a:ln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0040" name="Oval 118"/>
            <p:cNvSpPr>
              <a:spLocks noChangeArrowheads="1"/>
            </p:cNvSpPr>
            <p:nvPr/>
          </p:nvSpPr>
          <p:spPr bwMode="auto">
            <a:xfrm>
              <a:off x="4466" y="467"/>
              <a:ext cx="54" cy="54"/>
            </a:xfrm>
            <a:prstGeom prst="ellips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39942" name="Picture 123" descr="Right-Whale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4724400"/>
            <a:ext cx="1447800" cy="108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" name="矩形 103"/>
          <p:cNvSpPr>
            <a:spLocks noChangeArrowheads="1"/>
          </p:cNvSpPr>
          <p:nvPr/>
        </p:nvSpPr>
        <p:spPr bwMode="auto">
          <a:xfrm>
            <a:off x="1785938" y="1857375"/>
            <a:ext cx="678656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FF0000"/>
                </a:solidFill>
              </a:rPr>
              <a:t>Things don’t look good for the right whale!</a:t>
            </a:r>
            <a:r>
              <a:rPr lang="en-US" altLang="zh-CN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Summary</a:t>
            </a:r>
            <a:endParaRPr lang="zh-CN" altLang="en-US" smtClean="0"/>
          </a:p>
        </p:txBody>
      </p:sp>
      <p:sp>
        <p:nvSpPr>
          <p:cNvPr id="40963" name="内容占位符 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2050"/>
          </a:xfrm>
        </p:spPr>
        <p:txBody>
          <a:bodyPr/>
          <a:lstStyle/>
          <a:p>
            <a:pPr eaLnBrk="1" hangingPunct="1"/>
            <a:r>
              <a:rPr lang="en-US" altLang="zh-CN" smtClean="0"/>
              <a:t>Markov Chains: state transition model</a:t>
            </a:r>
          </a:p>
          <a:p>
            <a:pPr eaLnBrk="1" hangingPunct="1"/>
            <a:r>
              <a:rPr lang="en-US" altLang="zh-CN" smtClean="0"/>
              <a:t>Some applications</a:t>
            </a:r>
          </a:p>
          <a:p>
            <a:pPr lvl="1" eaLnBrk="1" hangingPunct="1"/>
            <a:r>
              <a:rPr lang="en-US" altLang="zh-CN" smtClean="0"/>
              <a:t>Natural Language Modeling</a:t>
            </a:r>
          </a:p>
          <a:p>
            <a:pPr lvl="1" eaLnBrk="1" hangingPunct="1"/>
            <a:r>
              <a:rPr lang="en-US" altLang="zh-CN" smtClean="0"/>
              <a:t>Weather forecasting</a:t>
            </a:r>
          </a:p>
          <a:p>
            <a:pPr lvl="1" eaLnBrk="1" hangingPunct="1"/>
            <a:r>
              <a:rPr lang="en-US" altLang="zh-CN" smtClean="0"/>
              <a:t>Enrollment assessment</a:t>
            </a:r>
          </a:p>
          <a:p>
            <a:pPr lvl="1" eaLnBrk="1" hangingPunct="1"/>
            <a:r>
              <a:rPr lang="en-US" altLang="zh-CN" smtClean="0"/>
              <a:t>Sequence generation</a:t>
            </a:r>
          </a:p>
          <a:p>
            <a:pPr lvl="1" eaLnBrk="1" hangingPunct="1"/>
            <a:r>
              <a:rPr lang="en-US" altLang="zh-CN" smtClean="0"/>
              <a:t>Rank the web page</a:t>
            </a:r>
          </a:p>
          <a:p>
            <a:pPr lvl="1" eaLnBrk="1" hangingPunct="1"/>
            <a:r>
              <a:rPr lang="en-US" altLang="zh-CN" smtClean="0"/>
              <a:t>Life cycle analysis</a:t>
            </a:r>
            <a:endParaRPr lang="zh-CN" altLang="en-US" smtClean="0"/>
          </a:p>
          <a:p>
            <a:pPr lvl="1" eaLnBrk="1" hangingPunct="1"/>
            <a:r>
              <a:rPr lang="en-US" altLang="zh-CN" smtClean="0"/>
              <a:t>etc (Hopefully you will find more </a:t>
            </a:r>
            <a:r>
              <a:rPr lang="en-US" altLang="zh-CN" smtClean="0">
                <a:sym typeface="Wingdings" pitchFamily="2" charset="2"/>
              </a:rPr>
              <a:t> )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Thank you</a:t>
            </a:r>
            <a:endParaRPr lang="zh-CN" altLang="en-US" smtClean="0"/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mtClean="0">
                <a:solidFill>
                  <a:srgbClr val="898989"/>
                </a:solidFill>
              </a:rPr>
              <a:t>Q&amp;A</a:t>
            </a:r>
            <a:endParaRPr lang="zh-CN" altLang="en-US" smtClean="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Reference</a:t>
            </a:r>
            <a:endParaRPr lang="zh-CN" altLang="en-US" smtClean="0"/>
          </a:p>
        </p:txBody>
      </p:sp>
      <p:sp>
        <p:nvSpPr>
          <p:cNvPr id="43011" name="矩形 2"/>
          <p:cNvSpPr>
            <a:spLocks noChangeArrowheads="1"/>
          </p:cNvSpPr>
          <p:nvPr/>
        </p:nvSpPr>
        <p:spPr bwMode="auto">
          <a:xfrm>
            <a:off x="214313" y="1714500"/>
            <a:ext cx="8929687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i="1">
                <a:solidFill>
                  <a:schemeClr val="tx2"/>
                </a:solidFill>
                <a:latin typeface="Calibri" pitchFamily="34" charset="0"/>
              </a:rPr>
              <a:t>[1] http://adammikeal.org/courses/compute/presentations/Markov_model.ppt</a:t>
            </a:r>
          </a:p>
          <a:p>
            <a:r>
              <a:rPr lang="en-US" altLang="zh-CN" i="1">
                <a:solidFill>
                  <a:schemeClr val="tx2"/>
                </a:solidFill>
                <a:latin typeface="Calibri" pitchFamily="34" charset="0"/>
              </a:rPr>
              <a:t>[2] http://uaps.ucf.edu/doc/AIR2006MarkovChain051806.ppt</a:t>
            </a:r>
          </a:p>
          <a:p>
            <a:r>
              <a:rPr lang="en-US" altLang="zh-CN" i="1">
                <a:solidFill>
                  <a:schemeClr val="tx2"/>
                </a:solidFill>
                <a:latin typeface="Calibri" pitchFamily="34" charset="0"/>
              </a:rPr>
              <a:t>[3]http://germain.umemat.maine.edu/faculty/khalil/courses/MAT500/JGraber/genes2007.ppt</a:t>
            </a:r>
          </a:p>
          <a:p>
            <a:r>
              <a:rPr lang="en-US" altLang="zh-CN" i="1">
                <a:solidFill>
                  <a:schemeClr val="tx2"/>
                </a:solidFill>
                <a:latin typeface="Calibri" pitchFamily="34" charset="0"/>
              </a:rPr>
              <a:t>[4] http://www.csc2.ncsu.edu/conferences/nsmc/MAM2006/caswell.ppt</a:t>
            </a:r>
            <a:endParaRPr lang="zh-CN" altLang="en-US" i="1">
              <a:solidFill>
                <a:schemeClr val="tx2"/>
              </a:solidFill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1186</Words>
  <Application>Microsoft Office PowerPoint</Application>
  <PresentationFormat>On-screen Show (4:3)</PresentationFormat>
  <Paragraphs>473</Paragraphs>
  <Slides>39</Slides>
  <Notes>32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39</vt:i4>
      </vt:variant>
    </vt:vector>
  </HeadingPairs>
  <TitlesOfParts>
    <vt:vector size="51" baseType="lpstr">
      <vt:lpstr>Arial</vt:lpstr>
      <vt:lpstr>宋体</vt:lpstr>
      <vt:lpstr>Calibri</vt:lpstr>
      <vt:lpstr>新細明體</vt:lpstr>
      <vt:lpstr>Wingdings</vt:lpstr>
      <vt:lpstr>Times New Roman</vt:lpstr>
      <vt:lpstr>Helvetica</vt:lpstr>
      <vt:lpstr>Verdana</vt:lpstr>
      <vt:lpstr>Office 主题</vt:lpstr>
      <vt:lpstr>Microsoft Word Picture</vt:lpstr>
      <vt:lpstr>Microsoft 公式 3.0</vt:lpstr>
      <vt:lpstr>Equation</vt:lpstr>
      <vt:lpstr>Tutorial: Markov Chains</vt:lpstr>
      <vt:lpstr>Outline</vt:lpstr>
      <vt:lpstr>History</vt:lpstr>
      <vt:lpstr>A Markov Chain</vt:lpstr>
      <vt:lpstr>Transition Probability Table</vt:lpstr>
      <vt:lpstr>Example 1:  Weather Forecasting[1]</vt:lpstr>
      <vt:lpstr>Weather Forecasting</vt:lpstr>
      <vt:lpstr>Weather Forecasting</vt:lpstr>
      <vt:lpstr>Weather Forecasting</vt:lpstr>
      <vt:lpstr>Weather Forecasting</vt:lpstr>
      <vt:lpstr>Weather Forecasting</vt:lpstr>
      <vt:lpstr>Weather Forecasting</vt:lpstr>
      <vt:lpstr>Weather Forecasting</vt:lpstr>
      <vt:lpstr>Example 2:  Enrollment Assessment [1]</vt:lpstr>
      <vt:lpstr>Undergraduate Enrollment Model</vt:lpstr>
      <vt:lpstr>State Transition Probabilities</vt:lpstr>
      <vt:lpstr>Enrollment Assessment</vt:lpstr>
      <vt:lpstr>Example 3:  Sequence Generation[3] </vt:lpstr>
      <vt:lpstr>Sequence Generation</vt:lpstr>
      <vt:lpstr>Markov Chains as Models of Sequence Generation</vt:lpstr>
      <vt:lpstr>A Fifth Order Markov Chain </vt:lpstr>
      <vt:lpstr>Example 4:  Rank the web page</vt:lpstr>
      <vt:lpstr>PageRank</vt:lpstr>
      <vt:lpstr>PageRank</vt:lpstr>
      <vt:lpstr>PageRank: Markov Chain</vt:lpstr>
      <vt:lpstr>PageRank: Markov Chain</vt:lpstr>
      <vt:lpstr>Example 5:  Life Cycle Analysis[4]</vt:lpstr>
      <vt:lpstr>How to model life cycles of Whales?</vt:lpstr>
      <vt:lpstr>Life cycle analysis</vt:lpstr>
      <vt:lpstr>Application: The North Atlantic right whale  (Eubalaena glacialis)</vt:lpstr>
      <vt:lpstr>Slide 31</vt:lpstr>
      <vt:lpstr>Slide 32</vt:lpstr>
      <vt:lpstr>Slide 33</vt:lpstr>
      <vt:lpstr>Slide 34</vt:lpstr>
      <vt:lpstr>Slide 35</vt:lpstr>
      <vt:lpstr>Slide 36</vt:lpstr>
      <vt:lpstr>Summary</vt:lpstr>
      <vt:lpstr>Thank you</vt:lpstr>
      <vt:lpstr>Reference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 Forecasting</dc:title>
  <dc:creator>steve</dc:creator>
  <cp:lastModifiedBy>Bronx Science</cp:lastModifiedBy>
  <cp:revision>22</cp:revision>
  <dcterms:created xsi:type="dcterms:W3CDTF">2008-02-28T17:31:14Z</dcterms:created>
  <dcterms:modified xsi:type="dcterms:W3CDTF">2018-01-02T14:01:10Z</dcterms:modified>
</cp:coreProperties>
</file>